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857250" y="1680567"/>
            <a:ext cx="7429500" cy="553641"/>
          </a:xfrm>
          <a:prstGeom prst="rect">
            <a:avLst/>
          </a:prstGeom>
          <a:noFill/>
          <a:ln/>
        </p:spPr>
        <p:txBody>
          <a:bodyPr wrap="none" lIns="0" tIns="0" rIns="0" bIns="0" rtlCol="0" anchor="t">
            <a:spAutoFit/>
          </a:bodyPr>
          <a:lstStyle/>
          <a:p>
            <a:pPr algn="l" indent="0" marL="0">
              <a:lnSpc>
                <a:spcPts val="4300"/>
              </a:lnSpc>
              <a:buNone/>
            </a:pPr>
            <a:r>
              <a:rPr lang="en-US" sz="3294" b="1" dirty="0">
                <a:solidFill>
                  <a:srgbClr val="1A2B3C"/>
                </a:solidFill>
                <a:latin typeface="Inter" pitchFamily="34" charset="0"/>
                <a:ea typeface="Inter" pitchFamily="34" charset="-122"/>
                <a:cs typeface="Inter" pitchFamily="34" charset="-120"/>
              </a:rPr>
              <a:t>DiaTwin</a:t>
            </a:r>
            <a:endParaRPr lang="en-US" sz="3294" dirty="0"/>
          </a:p>
        </p:txBody>
      </p:sp>
      <p:sp>
        <p:nvSpPr>
          <p:cNvPr id="4" name="Text 1"/>
          <p:cNvSpPr/>
          <p:nvPr/>
        </p:nvSpPr>
        <p:spPr>
          <a:xfrm>
            <a:off x="857250" y="2870002"/>
            <a:ext cx="7429500" cy="276820"/>
          </a:xfrm>
          <a:prstGeom prst="rect">
            <a:avLst/>
          </a:prstGeom>
          <a:noFill/>
          <a:ln/>
        </p:spPr>
        <p:txBody>
          <a:bodyPr wrap="none" lIns="0" tIns="0" rIns="0" bIns="0" rtlCol="0" anchor="t">
            <a:spAutoFit/>
          </a:bodyPr>
          <a:lstStyle/>
          <a:p>
            <a:pPr algn="l" indent="0" marL="0">
              <a:lnSpc>
                <a:spcPts val="2200"/>
              </a:lnSpc>
              <a:buNone/>
            </a:pPr>
            <a:r>
              <a:rPr lang="en-US" sz="1704" dirty="0">
                <a:solidFill>
                  <a:srgbClr val="4A5568"/>
                </a:solidFill>
                <a:latin typeface="Inter" pitchFamily="34" charset="0"/>
                <a:ea typeface="Inter" pitchFamily="34" charset="-122"/>
                <a:cs typeface="Inter" pitchFamily="34" charset="-120"/>
              </a:rPr>
              <a:t>Simplifying Life with Type 1 Diabetes</a:t>
            </a:r>
            <a:endParaRPr lang="en-US" sz="1704" dirty="0"/>
          </a:p>
        </p:txBody>
      </p:sp>
      <p:sp>
        <p:nvSpPr>
          <p:cNvPr id="5" name="Text 2"/>
          <p:cNvSpPr/>
          <p:nvPr/>
        </p:nvSpPr>
        <p:spPr>
          <a:xfrm>
            <a:off x="857250" y="3289697"/>
            <a:ext cx="7429500" cy="1030486"/>
          </a:xfrm>
          <a:prstGeom prst="rect">
            <a:avLst/>
          </a:prstGeom>
          <a:noFill/>
          <a:ln/>
        </p:spPr>
        <p:txBody>
          <a:bodyPr wrap="square" lIns="0" tIns="0" rIns="0" bIns="1020572" rtlCol="0" anchor="t">
            <a:spAutoFit/>
          </a:bodyPr>
          <a:lstStyle/>
          <a:p>
            <a:pPr algn="l" indent="0" marL="0">
              <a:lnSpc>
                <a:spcPts val="1400"/>
              </a:lnSpc>
              <a:buNone/>
            </a:pPr>
            <a:r>
              <a:rPr lang="en-US" sz="1050" dirty="0">
                <a:solidFill>
                  <a:srgbClr val="4A5568"/>
                </a:solidFill>
                <a:latin typeface="Inter" pitchFamily="34" charset="0"/>
                <a:ea typeface="Inter" pitchFamily="34" charset="-122"/>
                <a:cs typeface="Inter" pitchFamily="34" charset="-120"/>
              </a:rPr>
              <a:t>Personalized insulin dosing support for the digital age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857250" y="857250"/>
            <a:ext cx="7429500" cy="276820"/>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2B3C"/>
                </a:solidFill>
                <a:latin typeface="Inter" pitchFamily="34" charset="0"/>
                <a:ea typeface="Inter" pitchFamily="34" charset="-122"/>
                <a:cs typeface="Inter" pitchFamily="34" charset="-120"/>
              </a:rPr>
              <a:t>The Daily Struggle of Type 1 Diabetes</a:t>
            </a:r>
            <a:endParaRPr lang="en-US" sz="1602" dirty="0"/>
          </a:p>
        </p:txBody>
      </p:sp>
      <p:sp>
        <p:nvSpPr>
          <p:cNvPr id="4" name="Text 1"/>
          <p:cNvSpPr/>
          <p:nvPr/>
        </p:nvSpPr>
        <p:spPr>
          <a:xfrm>
            <a:off x="857250" y="1941314"/>
            <a:ext cx="4274334" cy="11430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Managing Type 1 Diabetes is an exhausting, 24/7 responsibility that offers no breaks for the patient. Every meal and activity requires a complex mental calculation to determine the exact amount of insulin needed, a process that is both stressful and prone to error.</a:t>
            </a:r>
            <a:endParaRPr lang="en-US" sz="1050" dirty="0"/>
          </a:p>
        </p:txBody>
      </p:sp>
      <p:sp>
        <p:nvSpPr>
          <p:cNvPr id="5" name="Text 2"/>
          <p:cNvSpPr/>
          <p:nvPr/>
        </p:nvSpPr>
        <p:spPr>
          <a:xfrm>
            <a:off x="857250" y="3084314"/>
            <a:ext cx="4274334" cy="1085850"/>
          </a:xfrm>
          <a:prstGeom prst="rect">
            <a:avLst/>
          </a:prstGeom>
          <a:noFill/>
          <a:ln/>
        </p:spPr>
        <p:txBody>
          <a:bodyPr wrap="square" lIns="0" tIns="204089"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A single miscalculation can lead to dangerously low blood sugar levels in the short term or devastating long-term organ damage. DiaTwin's mission is to replace this constant anxiety with clinical confidence.</a:t>
            </a:r>
            <a:endParaRPr lang="en-US" sz="1050" dirty="0"/>
          </a:p>
        </p:txBody>
      </p:sp>
      <p:sp>
        <p:nvSpPr>
          <p:cNvPr id="6" name="Text 3"/>
          <p:cNvSpPr/>
          <p:nvPr/>
        </p:nvSpPr>
        <p:spPr>
          <a:xfrm>
            <a:off x="5274459" y="2091333"/>
            <a:ext cx="3012291" cy="553641"/>
          </a:xfrm>
          <a:prstGeom prst="rect">
            <a:avLst/>
          </a:prstGeom>
          <a:noFill/>
          <a:ln/>
        </p:spPr>
        <p:txBody>
          <a:bodyPr wrap="none" lIns="0" tIns="0" rIns="0" bIns="0" rtlCol="0" anchor="t">
            <a:spAutoFit/>
          </a:bodyPr>
          <a:lstStyle/>
          <a:p>
            <a:pPr algn="l" indent="0" marL="0">
              <a:lnSpc>
                <a:spcPts val="4300"/>
              </a:lnSpc>
              <a:buNone/>
            </a:pPr>
            <a:r>
              <a:rPr lang="en-US" sz="3294" b="1" dirty="0">
                <a:solidFill>
                  <a:srgbClr val="0073E6"/>
                </a:solidFill>
                <a:latin typeface="Inter" pitchFamily="34" charset="0"/>
                <a:ea typeface="Inter" pitchFamily="34" charset="-122"/>
                <a:cs typeface="Inter" pitchFamily="34" charset="-120"/>
              </a:rPr>
              <a:t>24/7</a:t>
            </a:r>
            <a:endParaRPr lang="en-US" sz="3294" dirty="0"/>
          </a:p>
        </p:txBody>
      </p:sp>
      <p:sp>
        <p:nvSpPr>
          <p:cNvPr id="7" name="Text 4"/>
          <p:cNvSpPr/>
          <p:nvPr/>
        </p:nvSpPr>
        <p:spPr>
          <a:xfrm>
            <a:off x="5274459" y="2702123"/>
            <a:ext cx="3012291" cy="13751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4A5568"/>
                </a:solidFill>
                <a:latin typeface="Inter" pitchFamily="34" charset="0"/>
                <a:ea typeface="Inter" pitchFamily="34" charset="-122"/>
                <a:cs typeface="Inter" pitchFamily="34" charset="-120"/>
              </a:rPr>
              <a:t>MANAGEMENT RESPONSIBILITY</a:t>
            </a:r>
            <a:endParaRPr lang="en-US" sz="784" dirty="0"/>
          </a:p>
        </p:txBody>
      </p:sp>
      <p:sp>
        <p:nvSpPr>
          <p:cNvPr id="8" name="Text 5"/>
          <p:cNvSpPr/>
          <p:nvPr/>
        </p:nvSpPr>
        <p:spPr>
          <a:xfrm>
            <a:off x="5274459" y="3182541"/>
            <a:ext cx="3012291" cy="553641"/>
          </a:xfrm>
          <a:prstGeom prst="rect">
            <a:avLst/>
          </a:prstGeom>
          <a:noFill/>
          <a:ln/>
        </p:spPr>
        <p:txBody>
          <a:bodyPr wrap="none" lIns="0" tIns="0" rIns="0" bIns="0" rtlCol="0" anchor="t">
            <a:spAutoFit/>
          </a:bodyPr>
          <a:lstStyle/>
          <a:p>
            <a:pPr algn="l" indent="0" marL="0">
              <a:lnSpc>
                <a:spcPts val="4300"/>
              </a:lnSpc>
              <a:buNone/>
            </a:pPr>
            <a:r>
              <a:rPr lang="en-US" sz="3294" b="1" dirty="0">
                <a:solidFill>
                  <a:srgbClr val="0073E6"/>
                </a:solidFill>
                <a:latin typeface="Inter" pitchFamily="34" charset="0"/>
                <a:ea typeface="Inter" pitchFamily="34" charset="-122"/>
                <a:cs typeface="Inter" pitchFamily="34" charset="-120"/>
              </a:rPr>
              <a:t>365</a:t>
            </a:r>
            <a:endParaRPr lang="en-US" sz="3294" dirty="0"/>
          </a:p>
        </p:txBody>
      </p:sp>
      <p:sp>
        <p:nvSpPr>
          <p:cNvPr id="9" name="Text 6"/>
          <p:cNvSpPr/>
          <p:nvPr/>
        </p:nvSpPr>
        <p:spPr>
          <a:xfrm>
            <a:off x="5274459" y="3793331"/>
            <a:ext cx="3012291" cy="13751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4A5568"/>
                </a:solidFill>
                <a:latin typeface="Inter" pitchFamily="34" charset="0"/>
                <a:ea typeface="Inter" pitchFamily="34" charset="-122"/>
                <a:cs typeface="Inter" pitchFamily="34" charset="-120"/>
              </a:rPr>
              <a:t>DAYS PER YEAR</a:t>
            </a:r>
            <a:endParaRPr lang="en-US" sz="78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857250" y="857250"/>
            <a:ext cx="7429500" cy="276820"/>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2B3C"/>
                </a:solidFill>
                <a:latin typeface="Inter" pitchFamily="34" charset="0"/>
                <a:ea typeface="Inter" pitchFamily="34" charset="-122"/>
                <a:cs typeface="Inter" pitchFamily="34" charset="-120"/>
              </a:rPr>
              <a:t>Your Digital Health Companion</a:t>
            </a:r>
            <a:endParaRPr lang="en-US" sz="1602" dirty="0"/>
          </a:p>
        </p:txBody>
      </p:sp>
      <p:sp>
        <p:nvSpPr>
          <p:cNvPr id="4" name="Text 1"/>
          <p:cNvSpPr/>
          <p:nvPr/>
        </p:nvSpPr>
        <p:spPr>
          <a:xfrm>
            <a:off x="857250" y="1941314"/>
            <a:ext cx="4274334" cy="11430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DiaTwin serves as a seamless bridge between raw medical data and the realities of daily life. By connecting directly to the FreeStyle Libre CGM sensor, the app automatically synchronizes glucose readings in the background without requiring any manual entry from the user.</a:t>
            </a:r>
            <a:endParaRPr lang="en-US" sz="1050" dirty="0"/>
          </a:p>
        </p:txBody>
      </p:sp>
      <p:sp>
        <p:nvSpPr>
          <p:cNvPr id="5" name="Text 2"/>
          <p:cNvSpPr/>
          <p:nvPr/>
        </p:nvSpPr>
        <p:spPr>
          <a:xfrm>
            <a:off x="857250" y="3312914"/>
            <a:ext cx="4274334" cy="228600"/>
          </a:xfrm>
          <a:prstGeom prst="rect">
            <a:avLst/>
          </a:prstGeom>
          <a:noFill/>
          <a:ln/>
        </p:spPr>
        <p:txBody>
          <a:bodyPr wrap="none" lIns="0" tIns="0" rIns="0" bIns="0" rtlCol="0" anchor="t">
            <a:spAutoFit/>
          </a:bodyPr>
          <a:lstStyle/>
          <a:p>
            <a:pPr algn="l" indent="0" marL="0">
              <a:lnSpc>
                <a:spcPts val="1800"/>
              </a:lnSpc>
              <a:buNone/>
            </a:pPr>
            <a:r>
              <a:rPr lang="en-US" sz="987" b="1" dirty="0">
                <a:solidFill>
                  <a:srgbClr val="1A2B3C"/>
                </a:solidFill>
                <a:latin typeface="Inter" pitchFamily="34" charset="0"/>
                <a:ea typeface="Inter" pitchFamily="34" charset="-122"/>
                <a:cs typeface="Inter" pitchFamily="34" charset="-120"/>
              </a:rPr>
              <a:t>Real-time Integration</a:t>
            </a:r>
            <a:endParaRPr lang="en-US" sz="987" dirty="0"/>
          </a:p>
        </p:txBody>
      </p:sp>
      <p:sp>
        <p:nvSpPr>
          <p:cNvPr id="6" name="Text 3"/>
          <p:cNvSpPr/>
          <p:nvPr/>
        </p:nvSpPr>
        <p:spPr>
          <a:xfrm>
            <a:off x="857250" y="3598664"/>
            <a:ext cx="4274334" cy="4572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Continuous data flow ensures therapy decisions are always based on the most current physiological state.</a:t>
            </a:r>
            <a:endParaRPr lang="en-US" sz="1050" dirty="0"/>
          </a:p>
        </p:txBody>
      </p:sp>
      <p:sp>
        <p:nvSpPr>
          <p:cNvPr id="7" name="Text 4"/>
          <p:cNvSpPr/>
          <p:nvPr/>
        </p:nvSpPr>
        <p:spPr>
          <a:xfrm>
            <a:off x="857250" y="4284464"/>
            <a:ext cx="4274334" cy="228600"/>
          </a:xfrm>
          <a:prstGeom prst="rect">
            <a:avLst/>
          </a:prstGeom>
          <a:noFill/>
          <a:ln/>
        </p:spPr>
        <p:txBody>
          <a:bodyPr wrap="none" lIns="0" tIns="0" rIns="0" bIns="0" rtlCol="0" anchor="t">
            <a:spAutoFit/>
          </a:bodyPr>
          <a:lstStyle/>
          <a:p>
            <a:pPr algn="l" indent="0" marL="0">
              <a:lnSpc>
                <a:spcPts val="1800"/>
              </a:lnSpc>
              <a:buNone/>
            </a:pPr>
            <a:r>
              <a:rPr lang="en-US" sz="987" b="1" dirty="0">
                <a:solidFill>
                  <a:srgbClr val="1A2B3C"/>
                </a:solidFill>
                <a:latin typeface="Inter" pitchFamily="34" charset="0"/>
                <a:ea typeface="Inter" pitchFamily="34" charset="-122"/>
                <a:cs typeface="Inter" pitchFamily="34" charset="-120"/>
              </a:rPr>
              <a:t>Automated Insights</a:t>
            </a:r>
            <a:endParaRPr lang="en-US" sz="987" dirty="0"/>
          </a:p>
        </p:txBody>
      </p:sp>
      <p:sp>
        <p:nvSpPr>
          <p:cNvPr id="8" name="Text 5"/>
          <p:cNvSpPr/>
          <p:nvPr/>
        </p:nvSpPr>
        <p:spPr>
          <a:xfrm>
            <a:off x="857250" y="4570214"/>
            <a:ext cx="4274334" cy="4572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Raw sensor data is transformed into actionable guidance, reducing the cognitive load on the patient.</a:t>
            </a:r>
            <a:endParaRPr lang="en-US" sz="1050" dirty="0"/>
          </a:p>
        </p:txBody>
      </p:sp>
      <p:sp>
        <p:nvSpPr>
          <p:cNvPr id="9" name="Shape 6"/>
          <p:cNvSpPr/>
          <p:nvPr/>
        </p:nvSpPr>
        <p:spPr>
          <a:xfrm>
            <a:off x="6066216" y="2055614"/>
            <a:ext cx="1428750" cy="2857500"/>
          </a:xfrm>
          <a:prstGeom prst="rect">
            <a:avLst/>
          </a:prstGeom>
          <a:solidFill>
            <a:srgbClr val="F7FAFC"/>
          </a:solidFill>
          <a:ln w="9144">
            <a:solidFill>
              <a:srgbClr val="E2E8F0"/>
            </a:solidFill>
            <a:prstDash val="solid"/>
          </a:ln>
        </p:spPr>
      </p:sp>
      <p:sp>
        <p:nvSpPr>
          <p:cNvPr id="10" name="Text 7"/>
          <p:cNvSpPr/>
          <p:nvPr/>
        </p:nvSpPr>
        <p:spPr>
          <a:xfrm>
            <a:off x="6508235" y="2988766"/>
            <a:ext cx="544711"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2B3C"/>
                </a:solidFill>
                <a:latin typeface="Inter" pitchFamily="34" charset="0"/>
                <a:ea typeface="Inter" pitchFamily="34" charset="-122"/>
                <a:cs typeface="Inter" pitchFamily="34" charset="-120"/>
              </a:rPr>
              <a:t>LIBRE CGM</a:t>
            </a:r>
            <a:endParaRPr lang="en-US" sz="683" dirty="0"/>
          </a:p>
        </p:txBody>
      </p:sp>
      <p:sp>
        <p:nvSpPr>
          <p:cNvPr id="11" name="Text 8"/>
          <p:cNvSpPr/>
          <p:nvPr/>
        </p:nvSpPr>
        <p:spPr>
          <a:xfrm>
            <a:off x="6418045" y="3110210"/>
            <a:ext cx="725091" cy="162520"/>
          </a:xfrm>
          <a:prstGeom prst="rect">
            <a:avLst/>
          </a:prstGeom>
          <a:noFill/>
          <a:ln/>
        </p:spPr>
        <p:txBody>
          <a:bodyPr wrap="square" lIns="0" tIns="68072" rIns="0" bIns="0" rtlCol="0" anchor="t">
            <a:spAutoFit/>
          </a:bodyPr>
          <a:lstStyle/>
          <a:p>
            <a:pPr algn="l" indent="0" marL="0">
              <a:lnSpc>
                <a:spcPts val="800"/>
              </a:lnSpc>
              <a:buNone/>
            </a:pPr>
            <a:r>
              <a:rPr lang="en-US" sz="621" dirty="0">
                <a:solidFill>
                  <a:srgbClr val="4A5568"/>
                </a:solidFill>
                <a:latin typeface="Inter" pitchFamily="34" charset="0"/>
                <a:ea typeface="Inter" pitchFamily="34" charset="-122"/>
                <a:cs typeface="Inter" pitchFamily="34" charset="-120"/>
              </a:rPr>
              <a:t>Synced 7 min ago</a:t>
            </a:r>
            <a:endParaRPr lang="en-US" sz="621" dirty="0"/>
          </a:p>
        </p:txBody>
      </p:sp>
      <p:sp>
        <p:nvSpPr>
          <p:cNvPr id="12" name="Text 9"/>
          <p:cNvSpPr/>
          <p:nvPr/>
        </p:nvSpPr>
        <p:spPr>
          <a:xfrm>
            <a:off x="6484125" y="3272730"/>
            <a:ext cx="592931" cy="585788"/>
          </a:xfrm>
          <a:prstGeom prst="rect">
            <a:avLst/>
          </a:prstGeom>
          <a:noFill/>
          <a:ln/>
        </p:spPr>
        <p:txBody>
          <a:bodyPr wrap="none" lIns="0" tIns="204089" rIns="0" bIns="0" rtlCol="0" anchor="t">
            <a:spAutoFit/>
          </a:bodyPr>
          <a:lstStyle/>
          <a:p>
            <a:pPr algn="l" indent="0" marL="0">
              <a:lnSpc>
                <a:spcPts val="3200"/>
              </a:lnSpc>
              <a:buNone/>
            </a:pPr>
            <a:r>
              <a:rPr lang="en-US" sz="2436" b="1" dirty="0">
                <a:solidFill>
                  <a:srgbClr val="0073E6"/>
                </a:solidFill>
                <a:latin typeface="Inter" pitchFamily="34" charset="0"/>
                <a:ea typeface="Inter" pitchFamily="34" charset="-122"/>
                <a:cs typeface="Inter" pitchFamily="34" charset="-120"/>
              </a:rPr>
              <a:t>184</a:t>
            </a:r>
            <a:endParaRPr lang="en-US" sz="2436" dirty="0"/>
          </a:p>
        </p:txBody>
      </p:sp>
      <p:sp>
        <p:nvSpPr>
          <p:cNvPr id="13" name="Text 10"/>
          <p:cNvSpPr/>
          <p:nvPr/>
        </p:nvSpPr>
        <p:spPr>
          <a:xfrm>
            <a:off x="6629679" y="3858518"/>
            <a:ext cx="301823"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4A5568"/>
                </a:solidFill>
                <a:latin typeface="Inter" pitchFamily="34" charset="0"/>
                <a:ea typeface="Inter" pitchFamily="34" charset="-122"/>
                <a:cs typeface="Inter" pitchFamily="34" charset="-120"/>
              </a:rPr>
              <a:t>mg/dL</a:t>
            </a:r>
            <a:endParaRPr lang="en-US" sz="72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857250" y="857250"/>
            <a:ext cx="7429500" cy="276820"/>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2B3C"/>
                </a:solidFill>
                <a:latin typeface="Inter" pitchFamily="34" charset="0"/>
                <a:ea typeface="Inter" pitchFamily="34" charset="-122"/>
                <a:cs typeface="Inter" pitchFamily="34" charset="-120"/>
              </a:rPr>
              <a:t>Seeing the Future of Your Glucose</a:t>
            </a:r>
            <a:endParaRPr lang="en-US" sz="1602" dirty="0"/>
          </a:p>
        </p:txBody>
      </p:sp>
      <p:sp>
        <p:nvSpPr>
          <p:cNvPr id="4" name="Text 1"/>
          <p:cNvSpPr/>
          <p:nvPr/>
        </p:nvSpPr>
        <p:spPr>
          <a:xfrm>
            <a:off x="857250" y="1941314"/>
            <a:ext cx="3012263" cy="9144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While most conventional diabetes applications only report current glucose levels, DiaTwin empowers users by showing them where their blood sugar is heading.</a:t>
            </a:r>
            <a:endParaRPr lang="en-US" sz="1050" dirty="0"/>
          </a:p>
        </p:txBody>
      </p:sp>
      <p:sp>
        <p:nvSpPr>
          <p:cNvPr id="5" name="Text 2"/>
          <p:cNvSpPr/>
          <p:nvPr/>
        </p:nvSpPr>
        <p:spPr>
          <a:xfrm>
            <a:off x="857250" y="2970014"/>
            <a:ext cx="3012263" cy="228600"/>
          </a:xfrm>
          <a:prstGeom prst="rect">
            <a:avLst/>
          </a:prstGeom>
          <a:noFill/>
          <a:ln/>
        </p:spPr>
        <p:txBody>
          <a:bodyPr wrap="none" lIns="0" tIns="0" rIns="0" bIns="0" rtlCol="0" anchor="t">
            <a:spAutoFit/>
          </a:bodyPr>
          <a:lstStyle/>
          <a:p>
            <a:pPr algn="l" indent="0" marL="0">
              <a:lnSpc>
                <a:spcPts val="1800"/>
              </a:lnSpc>
              <a:buNone/>
            </a:pPr>
            <a:r>
              <a:rPr lang="en-US" sz="987" b="1" dirty="0">
                <a:solidFill>
                  <a:srgbClr val="1A2B3C"/>
                </a:solidFill>
                <a:latin typeface="Inter" pitchFamily="34" charset="0"/>
                <a:ea typeface="Inter" pitchFamily="34" charset="-122"/>
                <a:cs typeface="Inter" pitchFamily="34" charset="-120"/>
              </a:rPr>
              <a:t>4-Hour Projection</a:t>
            </a:r>
            <a:endParaRPr lang="en-US" sz="987" dirty="0"/>
          </a:p>
        </p:txBody>
      </p:sp>
      <p:sp>
        <p:nvSpPr>
          <p:cNvPr id="6" name="Text 3"/>
          <p:cNvSpPr/>
          <p:nvPr/>
        </p:nvSpPr>
        <p:spPr>
          <a:xfrm>
            <a:off x="857250" y="3255764"/>
            <a:ext cx="3012263" cy="6858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Our advanced "Digital Twin" technology provides a precise forecast of glucose trends, allowing for proactive planning.</a:t>
            </a:r>
            <a:endParaRPr lang="en-US" sz="1050" dirty="0"/>
          </a:p>
        </p:txBody>
      </p:sp>
      <p:sp>
        <p:nvSpPr>
          <p:cNvPr id="7" name="Text 4"/>
          <p:cNvSpPr/>
          <p:nvPr/>
        </p:nvSpPr>
        <p:spPr>
          <a:xfrm>
            <a:off x="857250" y="4055864"/>
            <a:ext cx="3012263" cy="228600"/>
          </a:xfrm>
          <a:prstGeom prst="rect">
            <a:avLst/>
          </a:prstGeom>
          <a:noFill/>
          <a:ln/>
        </p:spPr>
        <p:txBody>
          <a:bodyPr wrap="none" lIns="0" tIns="0" rIns="0" bIns="0" rtlCol="0" anchor="t">
            <a:spAutoFit/>
          </a:bodyPr>
          <a:lstStyle/>
          <a:p>
            <a:pPr algn="l" indent="0" marL="0">
              <a:lnSpc>
                <a:spcPts val="1800"/>
              </a:lnSpc>
              <a:buNone/>
            </a:pPr>
            <a:r>
              <a:rPr lang="en-US" sz="987" b="1" dirty="0">
                <a:solidFill>
                  <a:srgbClr val="1A2B3C"/>
                </a:solidFill>
                <a:latin typeface="Inter" pitchFamily="34" charset="0"/>
                <a:ea typeface="Inter" pitchFamily="34" charset="-122"/>
                <a:cs typeface="Inter" pitchFamily="34" charset="-120"/>
              </a:rPr>
              <a:t>Physiological Baseline</a:t>
            </a:r>
            <a:endParaRPr lang="en-US" sz="987" dirty="0"/>
          </a:p>
        </p:txBody>
      </p:sp>
      <p:sp>
        <p:nvSpPr>
          <p:cNvPr id="8" name="Text 5"/>
          <p:cNvSpPr/>
          <p:nvPr/>
        </p:nvSpPr>
        <p:spPr>
          <a:xfrm>
            <a:off x="857250" y="4341614"/>
            <a:ext cx="3012263" cy="6858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The app learns your unique metabolic rhythm to anticipate changes before they occur.</a:t>
            </a:r>
            <a:endParaRPr lang="en-US" sz="1050" dirty="0"/>
          </a:p>
        </p:txBody>
      </p:sp>
      <p:pic>
        <p:nvPicPr>
          <p:cNvPr id="9" name="Image 1" descr="preencoded.png">    </p:cNvPr>
          <p:cNvPicPr>
            <a:picLocks noChangeAspect="1"/>
          </p:cNvPicPr>
          <p:nvPr/>
        </p:nvPicPr>
        <p:blipFill>
          <a:blip r:embed="rId2"/>
          <a:stretch>
            <a:fillRect/>
          </a:stretch>
        </p:blipFill>
        <p:spPr>
          <a:xfrm>
            <a:off x="4012388" y="2084189"/>
            <a:ext cx="4273748" cy="2500313"/>
          </a:xfrm>
          <a:prstGeom prst="rect">
            <a:avLst/>
          </a:prstGeom>
        </p:spPr>
      </p:pic>
      <p:sp>
        <p:nvSpPr>
          <p:cNvPr id="10" name="Text 6"/>
          <p:cNvSpPr/>
          <p:nvPr/>
        </p:nvSpPr>
        <p:spPr>
          <a:xfrm>
            <a:off x="4012388" y="4584502"/>
            <a:ext cx="4274362" cy="219670"/>
          </a:xfrm>
          <a:prstGeom prst="rect">
            <a:avLst/>
          </a:prstGeom>
          <a:noFill/>
          <a:ln/>
        </p:spPr>
        <p:txBody>
          <a:bodyPr wrap="square" lIns="0" tIns="136017" rIns="0" bIns="0" rtlCol="0" anchor="t">
            <a:spAutoFit/>
          </a:bodyPr>
          <a:lstStyle/>
          <a:p>
            <a:pPr algn="r" indent="0" marL="0">
              <a:lnSpc>
                <a:spcPts val="800"/>
              </a:lnSpc>
              <a:buNone/>
            </a:pPr>
            <a:r>
              <a:rPr lang="en-US" sz="621" dirty="0">
                <a:solidFill>
                  <a:srgbClr val="A0AEC0"/>
                </a:solidFill>
                <a:latin typeface="Inter" pitchFamily="34" charset="0"/>
                <a:ea typeface="Inter" pitchFamily="34" charset="-122"/>
                <a:cs typeface="Inter" pitchFamily="34" charset="-120"/>
              </a:rPr>
              <a:t>Source: DiaTwin Pharmacodynamic Engine Simulation</a:t>
            </a:r>
            <a:endParaRPr lang="en-US" sz="62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857250" y="857250"/>
            <a:ext cx="7429500" cy="276820"/>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2B3C"/>
                </a:solidFill>
                <a:latin typeface="Inter" pitchFamily="34" charset="0"/>
                <a:ea typeface="Inter" pitchFamily="34" charset="-122"/>
                <a:cs typeface="Inter" pitchFamily="34" charset="-120"/>
              </a:rPr>
              <a:t>Smart Safety through Predictive Analysis</a:t>
            </a:r>
            <a:endParaRPr lang="en-US" sz="1602" dirty="0"/>
          </a:p>
        </p:txBody>
      </p:sp>
      <p:sp>
        <p:nvSpPr>
          <p:cNvPr id="4" name="Text 1"/>
          <p:cNvSpPr/>
          <p:nvPr/>
        </p:nvSpPr>
        <p:spPr>
          <a:xfrm>
            <a:off x="857250" y="1941314"/>
            <a:ext cx="4274334" cy="9144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Safety is at the core of the DiaTwin experience, powered by a sophisticated engine that detects potential health risks before they manifest. The app continuously analyzes the balance between insulin activity and meal absorption.</a:t>
            </a:r>
            <a:endParaRPr lang="en-US" sz="1050" dirty="0"/>
          </a:p>
        </p:txBody>
      </p:sp>
      <p:sp>
        <p:nvSpPr>
          <p:cNvPr id="5" name="Text 2"/>
          <p:cNvSpPr/>
          <p:nvPr/>
        </p:nvSpPr>
        <p:spPr>
          <a:xfrm>
            <a:off x="857250" y="3084314"/>
            <a:ext cx="4274334" cy="228600"/>
          </a:xfrm>
          <a:prstGeom prst="rect">
            <a:avLst/>
          </a:prstGeom>
          <a:noFill/>
          <a:ln/>
        </p:spPr>
        <p:txBody>
          <a:bodyPr wrap="none" lIns="0" tIns="0" rIns="0" bIns="0" rtlCol="0" anchor="t">
            <a:spAutoFit/>
          </a:bodyPr>
          <a:lstStyle/>
          <a:p>
            <a:pPr algn="l" indent="0" marL="0">
              <a:lnSpc>
                <a:spcPts val="1800"/>
              </a:lnSpc>
              <a:buNone/>
            </a:pPr>
            <a:r>
              <a:rPr lang="en-US" sz="987" b="1" dirty="0">
                <a:solidFill>
                  <a:srgbClr val="1A2B3C"/>
                </a:solidFill>
                <a:latin typeface="Inter" pitchFamily="34" charset="0"/>
                <a:ea typeface="Inter" pitchFamily="34" charset="-122"/>
                <a:cs typeface="Inter" pitchFamily="34" charset="-120"/>
              </a:rPr>
              <a:t>Proactive Alerts</a:t>
            </a:r>
            <a:endParaRPr lang="en-US" sz="987" dirty="0"/>
          </a:p>
        </p:txBody>
      </p:sp>
      <p:sp>
        <p:nvSpPr>
          <p:cNvPr id="6" name="Text 3"/>
          <p:cNvSpPr/>
          <p:nvPr/>
        </p:nvSpPr>
        <p:spPr>
          <a:xfrm>
            <a:off x="857250" y="3370064"/>
            <a:ext cx="4274334" cy="6858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DiaTwin provides real-time notifications if it detects a "Falling Risk"—a situation where insulin is outpacing the body's intake of carbohydrates.</a:t>
            </a:r>
            <a:endParaRPr lang="en-US" sz="1050" dirty="0"/>
          </a:p>
        </p:txBody>
      </p:sp>
      <p:sp>
        <p:nvSpPr>
          <p:cNvPr id="7" name="Text 4"/>
          <p:cNvSpPr/>
          <p:nvPr/>
        </p:nvSpPr>
        <p:spPr>
          <a:xfrm>
            <a:off x="857250" y="4284464"/>
            <a:ext cx="4274334" cy="228600"/>
          </a:xfrm>
          <a:prstGeom prst="rect">
            <a:avLst/>
          </a:prstGeom>
          <a:noFill/>
          <a:ln/>
        </p:spPr>
        <p:txBody>
          <a:bodyPr wrap="none" lIns="0" tIns="0" rIns="0" bIns="0" rtlCol="0" anchor="t">
            <a:spAutoFit/>
          </a:bodyPr>
          <a:lstStyle/>
          <a:p>
            <a:pPr algn="l" indent="0" marL="0">
              <a:lnSpc>
                <a:spcPts val="1800"/>
              </a:lnSpc>
              <a:buNone/>
            </a:pPr>
            <a:r>
              <a:rPr lang="en-US" sz="987" b="1" dirty="0">
                <a:solidFill>
                  <a:srgbClr val="1A2B3C"/>
                </a:solidFill>
                <a:latin typeface="Inter" pitchFamily="34" charset="0"/>
                <a:ea typeface="Inter" pitchFamily="34" charset="-122"/>
                <a:cs typeface="Inter" pitchFamily="34" charset="-120"/>
              </a:rPr>
              <a:t>Genuine Safety Net</a:t>
            </a:r>
            <a:endParaRPr lang="en-US" sz="987" dirty="0"/>
          </a:p>
        </p:txBody>
      </p:sp>
      <p:sp>
        <p:nvSpPr>
          <p:cNvPr id="8" name="Text 5"/>
          <p:cNvSpPr/>
          <p:nvPr/>
        </p:nvSpPr>
        <p:spPr>
          <a:xfrm>
            <a:off x="857250" y="4570214"/>
            <a:ext cx="4274334" cy="4572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This predictive capability moves beyond simple data tracking, helping patients prevent emergencies before they even start.</a:t>
            </a:r>
            <a:endParaRPr lang="en-US" sz="1050" dirty="0"/>
          </a:p>
        </p:txBody>
      </p:sp>
      <p:sp>
        <p:nvSpPr>
          <p:cNvPr id="9" name="Shape 6"/>
          <p:cNvSpPr/>
          <p:nvPr/>
        </p:nvSpPr>
        <p:spPr>
          <a:xfrm>
            <a:off x="5637591" y="2055614"/>
            <a:ext cx="2286000" cy="2857500"/>
          </a:xfrm>
          <a:prstGeom prst="rect">
            <a:avLst/>
          </a:prstGeom>
          <a:solidFill>
            <a:srgbClr val="FFF5F5"/>
          </a:solidFill>
          <a:ln w="9144">
            <a:solidFill>
              <a:srgbClr val="FEB2B2"/>
            </a:solidFill>
            <a:prstDash val="solid"/>
          </a:ln>
        </p:spPr>
      </p:sp>
      <p:sp>
        <p:nvSpPr>
          <p:cNvPr id="10" name="Text 7"/>
          <p:cNvSpPr/>
          <p:nvPr/>
        </p:nvSpPr>
        <p:spPr>
          <a:xfrm>
            <a:off x="6566278" y="2341364"/>
            <a:ext cx="428625" cy="416123"/>
          </a:xfrm>
          <a:prstGeom prst="rect">
            <a:avLst/>
          </a:prstGeom>
          <a:noFill/>
          <a:ln/>
        </p:spPr>
        <p:txBody>
          <a:bodyPr wrap="none" lIns="0" tIns="0" rIns="0" bIns="0" rtlCol="0" anchor="t">
            <a:spAutoFit/>
          </a:bodyPr>
          <a:lstStyle/>
          <a:p>
            <a:pPr algn="l" indent="0" marL="0">
              <a:lnSpc>
                <a:spcPts val="3200"/>
              </a:lnSpc>
              <a:buNone/>
            </a:pPr>
            <a:r>
              <a:rPr lang="en-US" sz="2592" dirty="0">
                <a:solidFill>
                  <a:srgbClr val="E53E3E"/>
                </a:solidFill>
                <a:latin typeface="Inter" pitchFamily="34" charset="0"/>
                <a:ea typeface="Inter" pitchFamily="34" charset="-122"/>
                <a:cs typeface="Inter" pitchFamily="34" charset="-120"/>
              </a:rPr>
              <a:t>⚠️</a:t>
            </a:r>
            <a:endParaRPr lang="en-US" sz="2592" dirty="0"/>
          </a:p>
        </p:txBody>
      </p:sp>
      <p:sp>
        <p:nvSpPr>
          <p:cNvPr id="11" name="Text 8"/>
          <p:cNvSpPr/>
          <p:nvPr/>
        </p:nvSpPr>
        <p:spPr>
          <a:xfrm>
            <a:off x="5848331" y="2928938"/>
            <a:ext cx="1864519" cy="155377"/>
          </a:xfrm>
          <a:prstGeom prst="rect">
            <a:avLst/>
          </a:prstGeom>
          <a:noFill/>
          <a:ln/>
        </p:spPr>
        <p:txBody>
          <a:bodyPr wrap="none" lIns="170053" tIns="0" rIns="170053" bIns="0" rtlCol="0" anchor="t">
            <a:spAutoFit/>
          </a:bodyPr>
          <a:lstStyle/>
          <a:p>
            <a:pPr algn="ctr" indent="0" marL="0">
              <a:lnSpc>
                <a:spcPts val="1200"/>
              </a:lnSpc>
              <a:buNone/>
            </a:pPr>
            <a:r>
              <a:rPr lang="en-US" sz="885" b="1" dirty="0">
                <a:solidFill>
                  <a:srgbClr val="C53030"/>
                </a:solidFill>
                <a:latin typeface="Inter" pitchFamily="34" charset="0"/>
                <a:ea typeface="Inter" pitchFamily="34" charset="-122"/>
                <a:cs typeface="Inter" pitchFamily="34" charset="-120"/>
              </a:rPr>
              <a:t>FALLING RISK DETECTED</a:t>
            </a:r>
            <a:endParaRPr lang="en-US" sz="885" dirty="0"/>
          </a:p>
        </p:txBody>
      </p:sp>
      <p:sp>
        <p:nvSpPr>
          <p:cNvPr id="12" name="Text 9"/>
          <p:cNvSpPr/>
          <p:nvPr/>
        </p:nvSpPr>
        <p:spPr>
          <a:xfrm>
            <a:off x="5637591" y="3198614"/>
            <a:ext cx="2286000" cy="420002"/>
          </a:xfrm>
          <a:prstGeom prst="rect">
            <a:avLst/>
          </a:prstGeom>
          <a:noFill/>
          <a:ln/>
        </p:spPr>
        <p:txBody>
          <a:bodyPr wrap="square" lIns="255143" tIns="0" rIns="255143" bIns="0" rtlCol="0" anchor="t">
            <a:spAutoFit/>
          </a:bodyPr>
          <a:lstStyle/>
          <a:p>
            <a:pPr algn="ctr" indent="0" marL="0">
              <a:lnSpc>
                <a:spcPts val="1100"/>
              </a:lnSpc>
              <a:buNone/>
            </a:pPr>
            <a:r>
              <a:rPr lang="en-US" sz="727" dirty="0">
                <a:solidFill>
                  <a:srgbClr val="742A2A"/>
                </a:solidFill>
                <a:latin typeface="Inter" pitchFamily="34" charset="0"/>
                <a:ea typeface="Inter" pitchFamily="34" charset="-122"/>
                <a:cs typeface="Inter" pitchFamily="34" charset="-120"/>
              </a:rPr>
              <a:t>Insulin is outpacing meal absorption. Consider taking fast-acting carbohydrates.</a:t>
            </a:r>
            <a:endParaRPr lang="en-US" sz="727" dirty="0"/>
          </a:p>
        </p:txBody>
      </p:sp>
      <p:sp>
        <p:nvSpPr>
          <p:cNvPr id="13" name="Text 10"/>
          <p:cNvSpPr/>
          <p:nvPr/>
        </p:nvSpPr>
        <p:spPr>
          <a:xfrm>
            <a:off x="5923341" y="4061529"/>
            <a:ext cx="984052" cy="105370"/>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53E3E"/>
                </a:solidFill>
                <a:latin typeface="Inter" pitchFamily="34" charset="0"/>
                <a:ea typeface="Inter" pitchFamily="34" charset="-122"/>
                <a:cs typeface="Inter" pitchFamily="34" charset="-120"/>
              </a:rPr>
              <a:t>GLUCOSE PROJECTION</a:t>
            </a:r>
            <a:endParaRPr lang="en-US" sz="58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857250" y="857250"/>
            <a:ext cx="7429500" cy="276820"/>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2B3C"/>
                </a:solidFill>
                <a:latin typeface="Inter" pitchFamily="34" charset="0"/>
                <a:ea typeface="Inter" pitchFamily="34" charset="-122"/>
                <a:cs typeface="Inter" pitchFamily="34" charset="-120"/>
              </a:rPr>
              <a:t>Visualizing Your Body’s Metabolic Balance</a:t>
            </a:r>
            <a:endParaRPr lang="en-US" sz="1602" dirty="0"/>
          </a:p>
        </p:txBody>
      </p:sp>
      <p:sp>
        <p:nvSpPr>
          <p:cNvPr id="4" name="Text 1"/>
          <p:cNvSpPr/>
          <p:nvPr/>
        </p:nvSpPr>
        <p:spPr>
          <a:xfrm>
            <a:off x="857250" y="1941314"/>
            <a:ext cx="3012263" cy="9144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DiaTwin offers total transparency into the complex interactions between nutrition and medication through its intuitive effects visualization.</a:t>
            </a:r>
            <a:endParaRPr lang="en-US" sz="1050" dirty="0"/>
          </a:p>
        </p:txBody>
      </p:sp>
      <p:sp>
        <p:nvSpPr>
          <p:cNvPr id="5" name="Text 2"/>
          <p:cNvSpPr/>
          <p:nvPr/>
        </p:nvSpPr>
        <p:spPr>
          <a:xfrm>
            <a:off x="857250" y="2855714"/>
            <a:ext cx="3012263" cy="1314450"/>
          </a:xfrm>
          <a:prstGeom prst="rect">
            <a:avLst/>
          </a:prstGeom>
          <a:noFill/>
          <a:ln/>
        </p:spPr>
        <p:txBody>
          <a:bodyPr wrap="square" lIns="0" tIns="204089"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By representing "Insulin on Board" and "Carbohydrates on Board" as overlapping curves, the app allows both patients and clinicians to see the net effect of every action in real-time.</a:t>
            </a:r>
            <a:endParaRPr lang="en-US" sz="1050" dirty="0"/>
          </a:p>
        </p:txBody>
      </p:sp>
      <p:sp>
        <p:nvSpPr>
          <p:cNvPr id="6" name="Text 3"/>
          <p:cNvSpPr/>
          <p:nvPr/>
        </p:nvSpPr>
        <p:spPr>
          <a:xfrm>
            <a:off x="1000125" y="4284464"/>
            <a:ext cx="903684"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4A5568"/>
                </a:solidFill>
                <a:latin typeface="Inter" pitchFamily="34" charset="0"/>
                <a:ea typeface="Inter" pitchFamily="34" charset="-122"/>
                <a:cs typeface="Inter" pitchFamily="34" charset="-120"/>
              </a:rPr>
              <a:t>Insulin Effect (IOB)</a:t>
            </a:r>
            <a:endParaRPr lang="en-US" sz="683" dirty="0"/>
          </a:p>
        </p:txBody>
      </p:sp>
      <p:sp>
        <p:nvSpPr>
          <p:cNvPr id="7" name="Text 4"/>
          <p:cNvSpPr/>
          <p:nvPr/>
        </p:nvSpPr>
        <p:spPr>
          <a:xfrm>
            <a:off x="1000125" y="4558773"/>
            <a:ext cx="1560909"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4A5568"/>
                </a:solidFill>
                <a:latin typeface="Inter" pitchFamily="34" charset="0"/>
                <a:ea typeface="Inter" pitchFamily="34" charset="-122"/>
                <a:cs typeface="Inter" pitchFamily="34" charset="-120"/>
              </a:rPr>
              <a:t>Carbohydrate Absorption (MOB)</a:t>
            </a:r>
            <a:endParaRPr lang="en-US" sz="683" dirty="0"/>
          </a:p>
        </p:txBody>
      </p:sp>
      <p:pic>
        <p:nvPicPr>
          <p:cNvPr id="8" name="Image 1" descr="preencoded.png">    </p:cNvPr>
          <p:cNvPicPr>
            <a:picLocks noChangeAspect="1"/>
          </p:cNvPicPr>
          <p:nvPr/>
        </p:nvPicPr>
        <p:blipFill>
          <a:blip r:embed="rId2"/>
          <a:stretch>
            <a:fillRect/>
          </a:stretch>
        </p:blipFill>
        <p:spPr>
          <a:xfrm>
            <a:off x="4012388" y="2084189"/>
            <a:ext cx="4273748" cy="25003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857250" y="857250"/>
            <a:ext cx="7429500" cy="276820"/>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2B3C"/>
                </a:solidFill>
                <a:latin typeface="Inter" pitchFamily="34" charset="0"/>
                <a:ea typeface="Inter" pitchFamily="34" charset="-122"/>
                <a:cs typeface="Inter" pitchFamily="34" charset="-120"/>
              </a:rPr>
              <a:t>Effortless and Accurate Meal Logging</a:t>
            </a:r>
            <a:endParaRPr lang="en-US" sz="1602" dirty="0"/>
          </a:p>
        </p:txBody>
      </p:sp>
      <p:sp>
        <p:nvSpPr>
          <p:cNvPr id="4" name="Text 1"/>
          <p:cNvSpPr/>
          <p:nvPr/>
        </p:nvSpPr>
        <p:spPr>
          <a:xfrm>
            <a:off x="857250" y="1941314"/>
            <a:ext cx="3643313" cy="9144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We believe that logging nutrition should be as simple and intuitive as the act of eating itself. DiaTwin allows users to record their meals in seconds using a verified food database and flexible portion options.</a:t>
            </a:r>
            <a:endParaRPr lang="en-US" sz="1050" dirty="0"/>
          </a:p>
        </p:txBody>
      </p:sp>
      <p:sp>
        <p:nvSpPr>
          <p:cNvPr id="5" name="Text 2"/>
          <p:cNvSpPr/>
          <p:nvPr/>
        </p:nvSpPr>
        <p:spPr>
          <a:xfrm>
            <a:off x="857250" y="3084314"/>
            <a:ext cx="3643313" cy="228600"/>
          </a:xfrm>
          <a:prstGeom prst="rect">
            <a:avLst/>
          </a:prstGeom>
          <a:noFill/>
          <a:ln/>
        </p:spPr>
        <p:txBody>
          <a:bodyPr wrap="none" lIns="0" tIns="0" rIns="0" bIns="0" rtlCol="0" anchor="t">
            <a:spAutoFit/>
          </a:bodyPr>
          <a:lstStyle/>
          <a:p>
            <a:pPr algn="l" indent="0" marL="0">
              <a:lnSpc>
                <a:spcPts val="1800"/>
              </a:lnSpc>
              <a:buNone/>
            </a:pPr>
            <a:r>
              <a:rPr lang="en-US" sz="987" b="1" dirty="0">
                <a:solidFill>
                  <a:srgbClr val="1A2B3C"/>
                </a:solidFill>
                <a:latin typeface="Inter" pitchFamily="34" charset="0"/>
                <a:ea typeface="Inter" pitchFamily="34" charset="-122"/>
                <a:cs typeface="Inter" pitchFamily="34" charset="-120"/>
              </a:rPr>
              <a:t>Intuitive Portions</a:t>
            </a:r>
            <a:endParaRPr lang="en-US" sz="987" dirty="0"/>
          </a:p>
        </p:txBody>
      </p:sp>
      <p:sp>
        <p:nvSpPr>
          <p:cNvPr id="6" name="Text 3"/>
          <p:cNvSpPr/>
          <p:nvPr/>
        </p:nvSpPr>
        <p:spPr>
          <a:xfrm>
            <a:off x="857250" y="3370064"/>
            <a:ext cx="3643313" cy="4572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Use real-world measurements like "palm-sized" or "full plate" to estimate intake without a scale.</a:t>
            </a:r>
            <a:endParaRPr lang="en-US" sz="1050" dirty="0"/>
          </a:p>
        </p:txBody>
      </p:sp>
      <p:sp>
        <p:nvSpPr>
          <p:cNvPr id="7" name="Text 4"/>
          <p:cNvSpPr/>
          <p:nvPr/>
        </p:nvSpPr>
        <p:spPr>
          <a:xfrm>
            <a:off x="857250" y="4055864"/>
            <a:ext cx="3643313" cy="228600"/>
          </a:xfrm>
          <a:prstGeom prst="rect">
            <a:avLst/>
          </a:prstGeom>
          <a:noFill/>
          <a:ln/>
        </p:spPr>
        <p:txBody>
          <a:bodyPr wrap="none" lIns="0" tIns="0" rIns="0" bIns="0" rtlCol="0" anchor="t">
            <a:spAutoFit/>
          </a:bodyPr>
          <a:lstStyle/>
          <a:p>
            <a:pPr algn="l" indent="0" marL="0">
              <a:lnSpc>
                <a:spcPts val="1800"/>
              </a:lnSpc>
              <a:buNone/>
            </a:pPr>
            <a:r>
              <a:rPr lang="en-US" sz="987" b="1" dirty="0">
                <a:solidFill>
                  <a:srgbClr val="1A2B3C"/>
                </a:solidFill>
                <a:latin typeface="Inter" pitchFamily="34" charset="0"/>
                <a:ea typeface="Inter" pitchFamily="34" charset="-122"/>
                <a:cs typeface="Inter" pitchFamily="34" charset="-120"/>
              </a:rPr>
              <a:t>Instant Macro Calculation</a:t>
            </a:r>
            <a:endParaRPr lang="en-US" sz="987" dirty="0"/>
          </a:p>
        </p:txBody>
      </p:sp>
      <p:sp>
        <p:nvSpPr>
          <p:cNvPr id="8" name="Text 5"/>
          <p:cNvSpPr/>
          <p:nvPr/>
        </p:nvSpPr>
        <p:spPr>
          <a:xfrm>
            <a:off x="857250" y="4341614"/>
            <a:ext cx="3643313" cy="6858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The application automatically calculates carbohydrates, proteins, and fats, ensuring dosing is based on accurate data.</a:t>
            </a:r>
            <a:endParaRPr lang="en-US" sz="1050" dirty="0"/>
          </a:p>
        </p:txBody>
      </p:sp>
      <p:sp>
        <p:nvSpPr>
          <p:cNvPr id="9" name="Shape 6"/>
          <p:cNvSpPr/>
          <p:nvPr/>
        </p:nvSpPr>
        <p:spPr>
          <a:xfrm>
            <a:off x="4643438" y="1941314"/>
            <a:ext cx="1750219" cy="2286000"/>
          </a:xfrm>
          <a:prstGeom prst="rect">
            <a:avLst/>
          </a:prstGeom>
          <a:solidFill>
            <a:srgbClr val="F7FAFC"/>
          </a:solidFill>
          <a:ln w="9144">
            <a:solidFill>
              <a:srgbClr val="E2E8F0"/>
            </a:solidFill>
            <a:prstDash val="solid"/>
          </a:ln>
        </p:spPr>
      </p:sp>
      <p:sp>
        <p:nvSpPr>
          <p:cNvPr id="10" name="Text 7"/>
          <p:cNvSpPr/>
          <p:nvPr/>
        </p:nvSpPr>
        <p:spPr>
          <a:xfrm>
            <a:off x="4757738" y="2055614"/>
            <a:ext cx="1521619" cy="185738"/>
          </a:xfrm>
          <a:prstGeom prst="rect">
            <a:avLst/>
          </a:prstGeom>
          <a:noFill/>
          <a:ln/>
        </p:spPr>
        <p:txBody>
          <a:bodyPr wrap="square" lIns="0" tIns="0" rIns="0" bIns="68072" rtlCol="0" anchor="t">
            <a:spAutoFit/>
          </a:bodyPr>
          <a:lstStyle/>
          <a:p>
            <a:pPr algn="l" indent="0" marL="0">
              <a:lnSpc>
                <a:spcPts val="900"/>
              </a:lnSpc>
              <a:buNone/>
            </a:pPr>
            <a:r>
              <a:rPr lang="en-US" sz="683" b="1" dirty="0">
                <a:solidFill>
                  <a:srgbClr val="1A2B3C"/>
                </a:solidFill>
                <a:latin typeface="Inter" pitchFamily="34" charset="0"/>
                <a:ea typeface="Inter" pitchFamily="34" charset="-122"/>
                <a:cs typeface="Inter" pitchFamily="34" charset="-120"/>
              </a:rPr>
              <a:t>MEAL LOGGING</a:t>
            </a:r>
            <a:endParaRPr lang="en-US" sz="683" dirty="0"/>
          </a:p>
        </p:txBody>
      </p:sp>
      <p:sp>
        <p:nvSpPr>
          <p:cNvPr id="11" name="Text 8"/>
          <p:cNvSpPr/>
          <p:nvPr/>
        </p:nvSpPr>
        <p:spPr>
          <a:xfrm>
            <a:off x="4757738" y="2355652"/>
            <a:ext cx="1521619" cy="226814"/>
          </a:xfrm>
          <a:prstGeom prst="rect">
            <a:avLst/>
          </a:prstGeom>
          <a:noFill/>
          <a:ln/>
        </p:spPr>
        <p:txBody>
          <a:bodyPr wrap="square" lIns="68072" tIns="68072" rIns="68072" bIns="68072" rtlCol="0" anchor="t">
            <a:spAutoFit/>
          </a:bodyPr>
          <a:lstStyle/>
          <a:p>
            <a:pPr algn="l" indent="0" marL="0">
              <a:lnSpc>
                <a:spcPts val="800"/>
              </a:lnSpc>
              <a:buNone/>
            </a:pPr>
            <a:r>
              <a:rPr lang="en-US" sz="621" dirty="0">
                <a:solidFill>
                  <a:srgbClr val="4A5568"/>
                </a:solidFill>
                <a:latin typeface="Inter" pitchFamily="34" charset="0"/>
                <a:ea typeface="Inter" pitchFamily="34" charset="-122"/>
                <a:cs typeface="Inter" pitchFamily="34" charset="-120"/>
              </a:rPr>
              <a:t>Search: "Spaghetti"</a:t>
            </a:r>
            <a:endParaRPr lang="en-US" sz="621" dirty="0"/>
          </a:p>
        </p:txBody>
      </p:sp>
      <p:sp>
        <p:nvSpPr>
          <p:cNvPr id="12" name="Text 9"/>
          <p:cNvSpPr/>
          <p:nvPr/>
        </p:nvSpPr>
        <p:spPr>
          <a:xfrm>
            <a:off x="4757738" y="2582466"/>
            <a:ext cx="1521619" cy="226814"/>
          </a:xfrm>
          <a:prstGeom prst="rect">
            <a:avLst/>
          </a:prstGeom>
          <a:noFill/>
          <a:ln/>
        </p:spPr>
        <p:txBody>
          <a:bodyPr wrap="square" lIns="68072" tIns="68072" rIns="68072" bIns="68072" rtlCol="0" anchor="t">
            <a:spAutoFit/>
          </a:bodyPr>
          <a:lstStyle/>
          <a:p>
            <a:pPr algn="l" indent="0" marL="0">
              <a:lnSpc>
                <a:spcPts val="800"/>
              </a:lnSpc>
              <a:buNone/>
            </a:pPr>
            <a:r>
              <a:rPr lang="en-US" sz="621" dirty="0">
                <a:solidFill>
                  <a:srgbClr val="4A5568"/>
                </a:solidFill>
                <a:latin typeface="Inter" pitchFamily="34" charset="0"/>
                <a:ea typeface="Inter" pitchFamily="34" charset="-122"/>
                <a:cs typeface="Inter" pitchFamily="34" charset="-120"/>
              </a:rPr>
              <a:t>Portion: "Full Plate"</a:t>
            </a:r>
            <a:endParaRPr lang="en-US" sz="621" dirty="0"/>
          </a:p>
        </p:txBody>
      </p:sp>
      <p:sp>
        <p:nvSpPr>
          <p:cNvPr id="13" name="Text 10"/>
          <p:cNvSpPr/>
          <p:nvPr/>
        </p:nvSpPr>
        <p:spPr>
          <a:xfrm>
            <a:off x="4757738" y="2809280"/>
            <a:ext cx="1521619" cy="292894"/>
          </a:xfrm>
          <a:prstGeom prst="rect">
            <a:avLst/>
          </a:prstGeom>
          <a:noFill/>
          <a:ln/>
        </p:spPr>
        <p:txBody>
          <a:bodyPr wrap="square" lIns="0" tIns="204089" rIns="0" bIns="0" rtlCol="0" anchor="t">
            <a:spAutoFit/>
          </a:bodyPr>
          <a:lstStyle/>
          <a:p>
            <a:pPr algn="l" indent="0" marL="0">
              <a:lnSpc>
                <a:spcPts val="900"/>
              </a:lnSpc>
              <a:buNone/>
            </a:pPr>
            <a:r>
              <a:rPr lang="en-US" sz="683" b="1" dirty="0">
                <a:solidFill>
                  <a:srgbClr val="0073E6"/>
                </a:solidFill>
                <a:latin typeface="Inter" pitchFamily="34" charset="0"/>
                <a:ea typeface="Inter" pitchFamily="34" charset="-122"/>
                <a:cs typeface="Inter" pitchFamily="34" charset="-120"/>
              </a:rPr>
              <a:t>65g Carbs</a:t>
            </a:r>
            <a:endParaRPr lang="en-US" sz="683" dirty="0"/>
          </a:p>
        </p:txBody>
      </p:sp>
      <p:sp>
        <p:nvSpPr>
          <p:cNvPr id="14" name="Text 11"/>
          <p:cNvSpPr/>
          <p:nvPr/>
        </p:nvSpPr>
        <p:spPr>
          <a:xfrm>
            <a:off x="4757738" y="3102173"/>
            <a:ext cx="1521619" cy="105370"/>
          </a:xfrm>
          <a:prstGeom prst="rect">
            <a:avLst/>
          </a:prstGeom>
          <a:noFill/>
          <a:ln/>
        </p:spPr>
        <p:txBody>
          <a:bodyPr wrap="none" lIns="0" tIns="0" rIns="0" bIns="0" rtlCol="0" anchor="t">
            <a:spAutoFit/>
          </a:bodyPr>
          <a:lstStyle/>
          <a:p>
            <a:pPr algn="l" indent="0" marL="0">
              <a:lnSpc>
                <a:spcPts val="800"/>
              </a:lnSpc>
              <a:buNone/>
            </a:pPr>
            <a:r>
              <a:rPr lang="en-US" sz="621" dirty="0">
                <a:solidFill>
                  <a:srgbClr val="4A5568"/>
                </a:solidFill>
                <a:latin typeface="Inter" pitchFamily="34" charset="0"/>
                <a:ea typeface="Inter" pitchFamily="34" charset="-122"/>
                <a:cs typeface="Inter" pitchFamily="34" charset="-120"/>
              </a:rPr>
              <a:t>Calculated Instantly</a:t>
            </a:r>
            <a:endParaRPr lang="en-US" sz="621" dirty="0"/>
          </a:p>
        </p:txBody>
      </p:sp>
      <p:sp>
        <p:nvSpPr>
          <p:cNvPr id="15" name="Shape 12"/>
          <p:cNvSpPr/>
          <p:nvPr/>
        </p:nvSpPr>
        <p:spPr>
          <a:xfrm>
            <a:off x="6536531" y="1941314"/>
            <a:ext cx="1750219" cy="2286000"/>
          </a:xfrm>
          <a:prstGeom prst="rect">
            <a:avLst/>
          </a:prstGeom>
          <a:solidFill>
            <a:srgbClr val="F7FAFC"/>
          </a:solidFill>
          <a:ln w="9144">
            <a:solidFill>
              <a:srgbClr val="E2E8F0"/>
            </a:solidFill>
            <a:prstDash val="solid"/>
          </a:ln>
        </p:spPr>
      </p:sp>
      <p:sp>
        <p:nvSpPr>
          <p:cNvPr id="16" name="Text 13"/>
          <p:cNvSpPr/>
          <p:nvPr/>
        </p:nvSpPr>
        <p:spPr>
          <a:xfrm>
            <a:off x="6650831" y="2055614"/>
            <a:ext cx="1521619" cy="185738"/>
          </a:xfrm>
          <a:prstGeom prst="rect">
            <a:avLst/>
          </a:prstGeom>
          <a:noFill/>
          <a:ln/>
        </p:spPr>
        <p:txBody>
          <a:bodyPr wrap="square" lIns="0" tIns="0" rIns="0" bIns="68072" rtlCol="0" anchor="t">
            <a:spAutoFit/>
          </a:bodyPr>
          <a:lstStyle/>
          <a:p>
            <a:pPr algn="l" indent="0" marL="0">
              <a:lnSpc>
                <a:spcPts val="900"/>
              </a:lnSpc>
              <a:buNone/>
            </a:pPr>
            <a:r>
              <a:rPr lang="en-US" sz="683" b="1" dirty="0">
                <a:solidFill>
                  <a:srgbClr val="1A2B3C"/>
                </a:solidFill>
                <a:latin typeface="Inter" pitchFamily="34" charset="0"/>
                <a:ea typeface="Inter" pitchFamily="34" charset="-122"/>
                <a:cs typeface="Inter" pitchFamily="34" charset="-120"/>
              </a:rPr>
              <a:t>AI RECOGNITION</a:t>
            </a:r>
            <a:endParaRPr lang="en-US" sz="683" dirty="0"/>
          </a:p>
        </p:txBody>
      </p:sp>
      <p:sp>
        <p:nvSpPr>
          <p:cNvPr id="17" name="Shape 14"/>
          <p:cNvSpPr/>
          <p:nvPr/>
        </p:nvSpPr>
        <p:spPr>
          <a:xfrm>
            <a:off x="6650831" y="2355652"/>
            <a:ext cx="1521619" cy="1507331"/>
          </a:xfrm>
          <a:prstGeom prst="rect">
            <a:avLst/>
          </a:prstGeom>
          <a:solidFill>
            <a:srgbClr val="EDF2F7"/>
          </a:solidFill>
          <a:ln/>
        </p:spPr>
      </p:sp>
      <p:sp>
        <p:nvSpPr>
          <p:cNvPr id="18" name="Text 15"/>
          <p:cNvSpPr/>
          <p:nvPr/>
        </p:nvSpPr>
        <p:spPr>
          <a:xfrm>
            <a:off x="7141964" y="3065562"/>
            <a:ext cx="539353" cy="87511"/>
          </a:xfrm>
          <a:prstGeom prst="rect">
            <a:avLst/>
          </a:prstGeom>
          <a:noFill/>
          <a:ln/>
        </p:spPr>
        <p:txBody>
          <a:bodyPr wrap="none" lIns="0" tIns="0" rIns="0" bIns="0" rtlCol="0" anchor="t">
            <a:spAutoFit/>
          </a:bodyPr>
          <a:lstStyle/>
          <a:p>
            <a:pPr algn="l" indent="0" marL="0">
              <a:lnSpc>
                <a:spcPts val="700"/>
              </a:lnSpc>
              <a:buNone/>
            </a:pPr>
            <a:r>
              <a:rPr lang="en-US" sz="516" dirty="0">
                <a:solidFill>
                  <a:srgbClr val="A0AEC0"/>
                </a:solidFill>
                <a:latin typeface="Inter" pitchFamily="34" charset="0"/>
                <a:ea typeface="Inter" pitchFamily="34" charset="-122"/>
                <a:cs typeface="Inter" pitchFamily="34" charset="-120"/>
              </a:rPr>
              <a:t>[ Camera View ]</a:t>
            </a:r>
            <a:endParaRPr lang="en-US" sz="516" dirty="0"/>
          </a:p>
        </p:txBody>
      </p:sp>
      <p:sp>
        <p:nvSpPr>
          <p:cNvPr id="19" name="Text 16"/>
          <p:cNvSpPr/>
          <p:nvPr/>
        </p:nvSpPr>
        <p:spPr>
          <a:xfrm>
            <a:off x="6650831" y="3920133"/>
            <a:ext cx="1521619" cy="105370"/>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1A2B3C"/>
                </a:solidFill>
                <a:latin typeface="Inter" pitchFamily="34" charset="0"/>
                <a:ea typeface="Inter" pitchFamily="34" charset="-122"/>
                <a:cs typeface="Inter" pitchFamily="34" charset="-120"/>
              </a:rPr>
              <a:t>Detected: Apple</a:t>
            </a:r>
            <a:endParaRPr lang="en-US" sz="584" dirty="0"/>
          </a:p>
        </p:txBody>
      </p:sp>
      <p:sp>
        <p:nvSpPr>
          <p:cNvPr id="20" name="Text 17"/>
          <p:cNvSpPr/>
          <p:nvPr/>
        </p:nvSpPr>
        <p:spPr>
          <a:xfrm>
            <a:off x="6650831" y="4025503"/>
            <a:ext cx="1521619" cy="87511"/>
          </a:xfrm>
          <a:prstGeom prst="rect">
            <a:avLst/>
          </a:prstGeom>
          <a:noFill/>
          <a:ln/>
        </p:spPr>
        <p:txBody>
          <a:bodyPr wrap="none" lIns="0" tIns="0" rIns="0" bIns="0" rtlCol="0" anchor="t">
            <a:spAutoFit/>
          </a:bodyPr>
          <a:lstStyle/>
          <a:p>
            <a:pPr algn="l" indent="0" marL="0">
              <a:lnSpc>
                <a:spcPts val="700"/>
              </a:lnSpc>
              <a:buNone/>
            </a:pPr>
            <a:r>
              <a:rPr lang="en-US" sz="516" dirty="0">
                <a:solidFill>
                  <a:srgbClr val="4A5568"/>
                </a:solidFill>
                <a:latin typeface="Inter" pitchFamily="34" charset="0"/>
                <a:ea typeface="Inter" pitchFamily="34" charset="-122"/>
                <a:cs typeface="Inter" pitchFamily="34" charset="-120"/>
              </a:rPr>
              <a:t>Confidence: 98%</a:t>
            </a:r>
            <a:endParaRPr lang="en-US" sz="516"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857250" y="857250"/>
            <a:ext cx="7429500" cy="276820"/>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2B3C"/>
                </a:solidFill>
                <a:latin typeface="Inter" pitchFamily="34" charset="0"/>
                <a:ea typeface="Inter" pitchFamily="34" charset="-122"/>
                <a:cs typeface="Inter" pitchFamily="34" charset="-120"/>
              </a:rPr>
              <a:t>Personalized Dosing Made Simple</a:t>
            </a:r>
            <a:endParaRPr lang="en-US" sz="1602" dirty="0"/>
          </a:p>
        </p:txBody>
      </p:sp>
      <p:sp>
        <p:nvSpPr>
          <p:cNvPr id="4" name="Text 1"/>
          <p:cNvSpPr/>
          <p:nvPr/>
        </p:nvSpPr>
        <p:spPr>
          <a:xfrm>
            <a:off x="857250" y="1941314"/>
            <a:ext cx="3643313" cy="13716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Taking the guesswork out of insulin dosing is fundamental to improving the quality of life for Type 1 Diabetes patients. DiaTwin calculates a precise, personalized insulin dose by accounting for the user's real-time physiological state and specific physician-set parameters.</a:t>
            </a:r>
            <a:endParaRPr lang="en-US" sz="1050" dirty="0"/>
          </a:p>
        </p:txBody>
      </p:sp>
      <p:sp>
        <p:nvSpPr>
          <p:cNvPr id="5" name="Text 2"/>
          <p:cNvSpPr/>
          <p:nvPr/>
        </p:nvSpPr>
        <p:spPr>
          <a:xfrm>
            <a:off x="857250" y="3541514"/>
            <a:ext cx="3643313" cy="228600"/>
          </a:xfrm>
          <a:prstGeom prst="rect">
            <a:avLst/>
          </a:prstGeom>
          <a:noFill/>
          <a:ln/>
        </p:spPr>
        <p:txBody>
          <a:bodyPr wrap="none" lIns="0" tIns="0" rIns="0" bIns="0" rtlCol="0" anchor="t">
            <a:spAutoFit/>
          </a:bodyPr>
          <a:lstStyle/>
          <a:p>
            <a:pPr algn="l" indent="0" marL="0">
              <a:lnSpc>
                <a:spcPts val="1800"/>
              </a:lnSpc>
              <a:buNone/>
            </a:pPr>
            <a:r>
              <a:rPr lang="en-US" sz="987" b="1" dirty="0">
                <a:solidFill>
                  <a:srgbClr val="1A2B3C"/>
                </a:solidFill>
                <a:latin typeface="Inter" pitchFamily="34" charset="0"/>
                <a:ea typeface="Inter" pitchFamily="34" charset="-122"/>
                <a:cs typeface="Inter" pitchFamily="34" charset="-120"/>
              </a:rPr>
              <a:t>Transparent Logic</a:t>
            </a:r>
            <a:endParaRPr lang="en-US" sz="987" dirty="0"/>
          </a:p>
        </p:txBody>
      </p:sp>
      <p:sp>
        <p:nvSpPr>
          <p:cNvPr id="6" name="Text 3"/>
          <p:cNvSpPr/>
          <p:nvPr/>
        </p:nvSpPr>
        <p:spPr>
          <a:xfrm>
            <a:off x="857250" y="3827264"/>
            <a:ext cx="3643313" cy="9144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4A5568"/>
                </a:solidFill>
                <a:latin typeface="Inter" pitchFamily="34" charset="0"/>
                <a:ea typeface="Inter" pitchFamily="34" charset="-122"/>
                <a:cs typeface="Inter" pitchFamily="34" charset="-120"/>
              </a:rPr>
              <a:t>Every calculation is presented with complete transparency, showing exactly how the recommendation was reached based on correction needs, active insulin, and meal macros.</a:t>
            </a:r>
            <a:endParaRPr lang="en-US" sz="1050" dirty="0"/>
          </a:p>
        </p:txBody>
      </p:sp>
      <p:sp>
        <p:nvSpPr>
          <p:cNvPr id="7" name="Text 4"/>
          <p:cNvSpPr/>
          <p:nvPr/>
        </p:nvSpPr>
        <p:spPr>
          <a:xfrm>
            <a:off x="4643438" y="2198489"/>
            <a:ext cx="821531"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A2B3C"/>
                </a:solidFill>
                <a:latin typeface="Inter" pitchFamily="34" charset="0"/>
                <a:ea typeface="Inter" pitchFamily="34" charset="-122"/>
                <a:cs typeface="Inter" pitchFamily="34" charset="-120"/>
              </a:rPr>
              <a:t>Carbohydrates</a:t>
            </a:r>
            <a:endParaRPr lang="en-US" sz="784" dirty="0"/>
          </a:p>
        </p:txBody>
      </p:sp>
      <p:sp>
        <p:nvSpPr>
          <p:cNvPr id="8" name="Text 5"/>
          <p:cNvSpPr/>
          <p:nvPr/>
        </p:nvSpPr>
        <p:spPr>
          <a:xfrm>
            <a:off x="7697391" y="2198489"/>
            <a:ext cx="589359" cy="13751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4A5568"/>
                </a:solidFill>
                <a:latin typeface="Inter" pitchFamily="34" charset="0"/>
                <a:ea typeface="Inter" pitchFamily="34" charset="-122"/>
                <a:cs typeface="Inter" pitchFamily="34" charset="-120"/>
              </a:rPr>
              <a:t>+ 4.2 Units</a:t>
            </a:r>
            <a:endParaRPr lang="en-US" sz="834" dirty="0"/>
          </a:p>
        </p:txBody>
      </p:sp>
      <p:sp>
        <p:nvSpPr>
          <p:cNvPr id="9" name="Text 6"/>
          <p:cNvSpPr/>
          <p:nvPr/>
        </p:nvSpPr>
        <p:spPr>
          <a:xfrm>
            <a:off x="4643438" y="2457450"/>
            <a:ext cx="1287661"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A2B3C"/>
                </a:solidFill>
                <a:latin typeface="Inter" pitchFamily="34" charset="0"/>
                <a:ea typeface="Inter" pitchFamily="34" charset="-122"/>
                <a:cs typeface="Inter" pitchFamily="34" charset="-120"/>
              </a:rPr>
              <a:t>Blood Sugar Correction</a:t>
            </a:r>
            <a:endParaRPr lang="en-US" sz="784" dirty="0"/>
          </a:p>
        </p:txBody>
      </p:sp>
      <p:sp>
        <p:nvSpPr>
          <p:cNvPr id="10" name="Text 7"/>
          <p:cNvSpPr/>
          <p:nvPr/>
        </p:nvSpPr>
        <p:spPr>
          <a:xfrm>
            <a:off x="7720608" y="2457450"/>
            <a:ext cx="566142" cy="13751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4A5568"/>
                </a:solidFill>
                <a:latin typeface="Inter" pitchFamily="34" charset="0"/>
                <a:ea typeface="Inter" pitchFamily="34" charset="-122"/>
                <a:cs typeface="Inter" pitchFamily="34" charset="-120"/>
              </a:rPr>
              <a:t>+ 1.8 Units</a:t>
            </a:r>
            <a:endParaRPr lang="en-US" sz="834" dirty="0"/>
          </a:p>
        </p:txBody>
      </p:sp>
      <p:sp>
        <p:nvSpPr>
          <p:cNvPr id="11" name="Text 8"/>
          <p:cNvSpPr/>
          <p:nvPr/>
        </p:nvSpPr>
        <p:spPr>
          <a:xfrm>
            <a:off x="4643438" y="2716411"/>
            <a:ext cx="1055489"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A2B3C"/>
                </a:solidFill>
                <a:latin typeface="Inter" pitchFamily="34" charset="0"/>
                <a:ea typeface="Inter" pitchFamily="34" charset="-122"/>
                <a:cs typeface="Inter" pitchFamily="34" charset="-120"/>
              </a:rPr>
              <a:t>Active Insulin (IOB)</a:t>
            </a:r>
            <a:endParaRPr lang="en-US" sz="784" dirty="0"/>
          </a:p>
        </p:txBody>
      </p:sp>
      <p:sp>
        <p:nvSpPr>
          <p:cNvPr id="12" name="Text 9"/>
          <p:cNvSpPr/>
          <p:nvPr/>
        </p:nvSpPr>
        <p:spPr>
          <a:xfrm>
            <a:off x="7725966" y="2716411"/>
            <a:ext cx="560784" cy="13751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4A5568"/>
                </a:solidFill>
                <a:latin typeface="Inter" pitchFamily="34" charset="0"/>
                <a:ea typeface="Inter" pitchFamily="34" charset="-122"/>
                <a:cs typeface="Inter" pitchFamily="34" charset="-120"/>
              </a:rPr>
              <a:t>- 0.5 Units</a:t>
            </a:r>
            <a:endParaRPr lang="en-US" sz="834" dirty="0"/>
          </a:p>
        </p:txBody>
      </p:sp>
      <p:sp>
        <p:nvSpPr>
          <p:cNvPr id="13" name="Text 10"/>
          <p:cNvSpPr/>
          <p:nvPr/>
        </p:nvSpPr>
        <p:spPr>
          <a:xfrm>
            <a:off x="4643438" y="2975372"/>
            <a:ext cx="1094780"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A2B3C"/>
                </a:solidFill>
                <a:latin typeface="Inter" pitchFamily="34" charset="0"/>
                <a:ea typeface="Inter" pitchFamily="34" charset="-122"/>
                <a:cs typeface="Inter" pitchFamily="34" charset="-120"/>
              </a:rPr>
              <a:t>Active Carbs (MOB)</a:t>
            </a:r>
            <a:endParaRPr lang="en-US" sz="784" dirty="0"/>
          </a:p>
        </p:txBody>
      </p:sp>
      <p:sp>
        <p:nvSpPr>
          <p:cNvPr id="14" name="Text 11"/>
          <p:cNvSpPr/>
          <p:nvPr/>
        </p:nvSpPr>
        <p:spPr>
          <a:xfrm>
            <a:off x="7722394" y="2975372"/>
            <a:ext cx="564356" cy="13751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4A5568"/>
                </a:solidFill>
                <a:latin typeface="Inter" pitchFamily="34" charset="0"/>
                <a:ea typeface="Inter" pitchFamily="34" charset="-122"/>
                <a:cs typeface="Inter" pitchFamily="34" charset="-120"/>
              </a:rPr>
              <a:t>+ 1.3 Units</a:t>
            </a:r>
            <a:endParaRPr lang="en-US" sz="834" dirty="0"/>
          </a:p>
        </p:txBody>
      </p:sp>
      <p:sp>
        <p:nvSpPr>
          <p:cNvPr id="15" name="Text 12"/>
          <p:cNvSpPr/>
          <p:nvPr/>
        </p:nvSpPr>
        <p:spPr>
          <a:xfrm>
            <a:off x="4643438" y="3566517"/>
            <a:ext cx="1712714"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2B3C"/>
                </a:solidFill>
                <a:latin typeface="Inter" pitchFamily="34" charset="0"/>
                <a:ea typeface="Inter" pitchFamily="34" charset="-122"/>
                <a:cs typeface="Inter" pitchFamily="34" charset="-120"/>
              </a:rPr>
              <a:t>Recommended Dose</a:t>
            </a:r>
            <a:endParaRPr lang="en-US" sz="1193" dirty="0"/>
          </a:p>
        </p:txBody>
      </p:sp>
      <p:sp>
        <p:nvSpPr>
          <p:cNvPr id="16" name="Text 13"/>
          <p:cNvSpPr/>
          <p:nvPr/>
        </p:nvSpPr>
        <p:spPr>
          <a:xfrm>
            <a:off x="6816923" y="3462933"/>
            <a:ext cx="1469827" cy="414338"/>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0073E6"/>
                </a:solidFill>
                <a:latin typeface="Inter" pitchFamily="34" charset="0"/>
                <a:ea typeface="Inter" pitchFamily="34" charset="-122"/>
                <a:cs typeface="Inter" pitchFamily="34" charset="-120"/>
              </a:rPr>
              <a:t>6.8 Units</a:t>
            </a:r>
            <a:endParaRPr lang="en-US" sz="2436"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857250" y="857250"/>
            <a:ext cx="7429500" cy="276820"/>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2B3C"/>
                </a:solidFill>
                <a:latin typeface="Inter" pitchFamily="34" charset="0"/>
                <a:ea typeface="Inter" pitchFamily="34" charset="-122"/>
                <a:cs typeface="Inter" pitchFamily="34" charset="-120"/>
              </a:rPr>
              <a:t>Clinical Oversight and Regulatory Excellence</a:t>
            </a:r>
            <a:endParaRPr lang="en-US" sz="1602" dirty="0"/>
          </a:p>
        </p:txBody>
      </p:sp>
      <p:pic>
        <p:nvPicPr>
          <p:cNvPr id="4" name="Image 1" descr="preencoded.png">    </p:cNvPr>
          <p:cNvPicPr>
            <a:picLocks noChangeAspect="1"/>
          </p:cNvPicPr>
          <p:nvPr/>
        </p:nvPicPr>
        <p:blipFill>
          <a:blip r:embed="rId2"/>
          <a:stretch>
            <a:fillRect/>
          </a:stretch>
        </p:blipFill>
        <p:spPr>
          <a:xfrm>
            <a:off x="857250" y="2112764"/>
            <a:ext cx="200025" cy="228600"/>
          </a:xfrm>
          <a:prstGeom prst="rect">
            <a:avLst/>
          </a:prstGeom>
        </p:spPr>
      </p:pic>
      <p:sp>
        <p:nvSpPr>
          <p:cNvPr id="5" name="Text 1"/>
          <p:cNvSpPr/>
          <p:nvPr/>
        </p:nvSpPr>
        <p:spPr>
          <a:xfrm>
            <a:off x="857250" y="2539603"/>
            <a:ext cx="2381241"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A2B3C"/>
                </a:solidFill>
                <a:latin typeface="Inter" pitchFamily="34" charset="0"/>
                <a:ea typeface="Inter" pitchFamily="34" charset="-122"/>
                <a:cs typeface="Inter" pitchFamily="34" charset="-120"/>
              </a:rPr>
              <a:t>Physician-Led Care</a:t>
            </a:r>
            <a:endParaRPr lang="en-US" sz="987" dirty="0"/>
          </a:p>
        </p:txBody>
      </p:sp>
      <p:sp>
        <p:nvSpPr>
          <p:cNvPr id="6" name="Text 2"/>
          <p:cNvSpPr/>
          <p:nvPr/>
        </p:nvSpPr>
        <p:spPr>
          <a:xfrm>
            <a:off x="857250" y="2827139"/>
            <a:ext cx="2381241"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A5568"/>
                </a:solidFill>
                <a:latin typeface="Inter" pitchFamily="34" charset="0"/>
                <a:ea typeface="Inter" pitchFamily="34" charset="-122"/>
                <a:cs typeface="Inter" pitchFamily="34" charset="-120"/>
              </a:rPr>
              <a:t>Doctors maintain a clear, remote view of patient data and trends. Critical medical settings and safety limits remain locked to ensure clinical safety.</a:t>
            </a:r>
            <a:endParaRPr lang="en-US" sz="834" dirty="0"/>
          </a:p>
        </p:txBody>
      </p:sp>
      <p:pic>
        <p:nvPicPr>
          <p:cNvPr id="7" name="Image 2" descr="preencoded.png">    </p:cNvPr>
          <p:cNvPicPr>
            <a:picLocks noChangeAspect="1"/>
          </p:cNvPicPr>
          <p:nvPr/>
        </p:nvPicPr>
        <p:blipFill>
          <a:blip r:embed="rId3"/>
          <a:stretch>
            <a:fillRect/>
          </a:stretch>
        </p:blipFill>
        <p:spPr>
          <a:xfrm>
            <a:off x="3381366" y="2112764"/>
            <a:ext cx="228600" cy="228600"/>
          </a:xfrm>
          <a:prstGeom prst="rect">
            <a:avLst/>
          </a:prstGeom>
        </p:spPr>
      </p:pic>
      <p:sp>
        <p:nvSpPr>
          <p:cNvPr id="8" name="Text 3"/>
          <p:cNvSpPr/>
          <p:nvPr/>
        </p:nvSpPr>
        <p:spPr>
          <a:xfrm>
            <a:off x="3381366" y="2539603"/>
            <a:ext cx="2381241"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A2B3C"/>
                </a:solidFill>
                <a:latin typeface="Inter" pitchFamily="34" charset="0"/>
                <a:ea typeface="Inter" pitchFamily="34" charset="-122"/>
                <a:cs typeface="Inter" pitchFamily="34" charset="-120"/>
              </a:rPr>
              <a:t>Data Sovereignty</a:t>
            </a:r>
            <a:endParaRPr lang="en-US" sz="987" dirty="0"/>
          </a:p>
        </p:txBody>
      </p:sp>
      <p:sp>
        <p:nvSpPr>
          <p:cNvPr id="9" name="Text 4"/>
          <p:cNvSpPr/>
          <p:nvPr/>
        </p:nvSpPr>
        <p:spPr>
          <a:xfrm>
            <a:off x="3381366" y="2827139"/>
            <a:ext cx="2381241"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A5568"/>
                </a:solidFill>
                <a:latin typeface="Inter" pitchFamily="34" charset="0"/>
                <a:ea typeface="Inter" pitchFamily="34" charset="-122"/>
                <a:cs typeface="Inter" pitchFamily="34" charset="-120"/>
              </a:rPr>
              <a:t>Fully compliant with GDPR and German health data regulations. We ensure the highest standards of privacy and security for sensitive patient information.</a:t>
            </a:r>
            <a:endParaRPr lang="en-US" sz="834" dirty="0"/>
          </a:p>
        </p:txBody>
      </p:sp>
      <p:pic>
        <p:nvPicPr>
          <p:cNvPr id="10" name="Image 3" descr="preencoded.png">    </p:cNvPr>
          <p:cNvPicPr>
            <a:picLocks noChangeAspect="1"/>
          </p:cNvPicPr>
          <p:nvPr/>
        </p:nvPicPr>
        <p:blipFill>
          <a:blip r:embed="rId4"/>
          <a:stretch>
            <a:fillRect/>
          </a:stretch>
        </p:blipFill>
        <p:spPr>
          <a:xfrm>
            <a:off x="5905481" y="2112764"/>
            <a:ext cx="171450" cy="228600"/>
          </a:xfrm>
          <a:prstGeom prst="rect">
            <a:avLst/>
          </a:prstGeom>
        </p:spPr>
      </p:pic>
      <p:sp>
        <p:nvSpPr>
          <p:cNvPr id="11" name="Text 5"/>
          <p:cNvSpPr/>
          <p:nvPr/>
        </p:nvSpPr>
        <p:spPr>
          <a:xfrm>
            <a:off x="5905481" y="2539603"/>
            <a:ext cx="2381269"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A2B3C"/>
                </a:solidFill>
                <a:latin typeface="Inter" pitchFamily="34" charset="0"/>
                <a:ea typeface="Inter" pitchFamily="34" charset="-122"/>
                <a:cs typeface="Inter" pitchFamily="34" charset="-120"/>
              </a:rPr>
              <a:t>German Standards</a:t>
            </a:r>
            <a:endParaRPr lang="en-US" sz="987" dirty="0"/>
          </a:p>
        </p:txBody>
      </p:sp>
      <p:sp>
        <p:nvSpPr>
          <p:cNvPr id="12" name="Text 6"/>
          <p:cNvSpPr/>
          <p:nvPr/>
        </p:nvSpPr>
        <p:spPr>
          <a:xfrm>
            <a:off x="5905481" y="2827139"/>
            <a:ext cx="2381269"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A5568"/>
                </a:solidFill>
                <a:latin typeface="Inter" pitchFamily="34" charset="0"/>
                <a:ea typeface="Inter" pitchFamily="34" charset="-122"/>
                <a:cs typeface="Inter" pitchFamily="34" charset="-120"/>
              </a:rPr>
              <a:t>Built according to S3 Clinical Guidelines. Strategically positioned for seamless integration into the German DiGA reimbursement framework.</a:t>
            </a:r>
            <a:endParaRPr lang="en-US" sz="834" dirty="0"/>
          </a:p>
        </p:txBody>
      </p:sp>
      <p:sp>
        <p:nvSpPr>
          <p:cNvPr id="13" name="Text 7"/>
          <p:cNvSpPr/>
          <p:nvPr/>
        </p:nvSpPr>
        <p:spPr>
          <a:xfrm>
            <a:off x="857250" y="4158667"/>
            <a:ext cx="973336" cy="250031"/>
          </a:xfrm>
          <a:prstGeom prst="rect">
            <a:avLst/>
          </a:prstGeom>
          <a:noFill/>
          <a:ln/>
        </p:spPr>
        <p:txBody>
          <a:bodyPr wrap="square" lIns="136017" tIns="68072" rIns="136017" bIns="68072" rtlCol="0" anchor="t">
            <a:spAutoFit/>
          </a:bodyPr>
          <a:lstStyle/>
          <a:p>
            <a:pPr algn="l" indent="0" marL="0">
              <a:lnSpc>
                <a:spcPts val="900"/>
              </a:lnSpc>
              <a:buNone/>
            </a:pPr>
            <a:r>
              <a:rPr lang="en-US" sz="683" b="1" spc="1" kern="0" dirty="0">
                <a:solidFill>
                  <a:srgbClr val="1A2B3C"/>
                </a:solidFill>
                <a:latin typeface="Inter" pitchFamily="34" charset="0"/>
                <a:ea typeface="Inter" pitchFamily="34" charset="-122"/>
                <a:cs typeface="Inter" pitchFamily="34" charset="-120"/>
              </a:rPr>
              <a:t>CE CLASS IIA</a:t>
            </a:r>
            <a:endParaRPr lang="en-US" sz="683" dirty="0"/>
          </a:p>
        </p:txBody>
      </p:sp>
      <p:sp>
        <p:nvSpPr>
          <p:cNvPr id="14" name="Text 8"/>
          <p:cNvSpPr/>
          <p:nvPr/>
        </p:nvSpPr>
        <p:spPr>
          <a:xfrm>
            <a:off x="2173486" y="4158667"/>
            <a:ext cx="923330" cy="250031"/>
          </a:xfrm>
          <a:prstGeom prst="rect">
            <a:avLst/>
          </a:prstGeom>
          <a:noFill/>
          <a:ln/>
        </p:spPr>
        <p:txBody>
          <a:bodyPr wrap="square" lIns="136017" tIns="68072" rIns="136017" bIns="68072" rtlCol="0" anchor="t">
            <a:spAutoFit/>
          </a:bodyPr>
          <a:lstStyle/>
          <a:p>
            <a:pPr algn="l" indent="0" marL="0">
              <a:lnSpc>
                <a:spcPts val="900"/>
              </a:lnSpc>
              <a:buNone/>
            </a:pPr>
            <a:r>
              <a:rPr lang="en-US" sz="683" b="1" spc="1" kern="0" dirty="0">
                <a:solidFill>
                  <a:srgbClr val="1A2B3C"/>
                </a:solidFill>
                <a:latin typeface="Inter" pitchFamily="34" charset="0"/>
                <a:ea typeface="Inter" pitchFamily="34" charset="-122"/>
                <a:cs typeface="Inter" pitchFamily="34" charset="-120"/>
              </a:rPr>
              <a:t>DIGA READY</a:t>
            </a:r>
            <a:endParaRPr lang="en-US" sz="683" dirty="0"/>
          </a:p>
        </p:txBody>
      </p:sp>
      <p:sp>
        <p:nvSpPr>
          <p:cNvPr id="15" name="Text 9"/>
          <p:cNvSpPr/>
          <p:nvPr/>
        </p:nvSpPr>
        <p:spPr>
          <a:xfrm>
            <a:off x="3439716" y="4158667"/>
            <a:ext cx="1253728" cy="250031"/>
          </a:xfrm>
          <a:prstGeom prst="rect">
            <a:avLst/>
          </a:prstGeom>
          <a:noFill/>
          <a:ln/>
        </p:spPr>
        <p:txBody>
          <a:bodyPr wrap="square" lIns="136017" tIns="68072" rIns="136017" bIns="68072" rtlCol="0" anchor="t">
            <a:spAutoFit/>
          </a:bodyPr>
          <a:lstStyle/>
          <a:p>
            <a:pPr algn="l" indent="0" marL="0">
              <a:lnSpc>
                <a:spcPts val="900"/>
              </a:lnSpc>
              <a:buNone/>
            </a:pPr>
            <a:r>
              <a:rPr lang="en-US" sz="683" b="1" spc="1" kern="0" dirty="0">
                <a:solidFill>
                  <a:srgbClr val="1A2B3C"/>
                </a:solidFill>
                <a:latin typeface="Inter" pitchFamily="34" charset="0"/>
                <a:ea typeface="Inter" pitchFamily="34" charset="-122"/>
                <a:cs typeface="Inter" pitchFamily="34" charset="-120"/>
              </a:rPr>
              <a:t>GDPR COMPLIANT</a:t>
            </a:r>
            <a:endParaRPr lang="en-US" sz="683" dirty="0"/>
          </a:p>
        </p:txBody>
      </p:sp>
      <p:sp>
        <p:nvSpPr>
          <p:cNvPr id="16" name="Text 10"/>
          <p:cNvSpPr/>
          <p:nvPr/>
        </p:nvSpPr>
        <p:spPr>
          <a:xfrm>
            <a:off x="5036344" y="4158667"/>
            <a:ext cx="1085850" cy="250031"/>
          </a:xfrm>
          <a:prstGeom prst="rect">
            <a:avLst/>
          </a:prstGeom>
          <a:noFill/>
          <a:ln/>
        </p:spPr>
        <p:txBody>
          <a:bodyPr wrap="square" lIns="136017" tIns="68072" rIns="136017" bIns="68072" rtlCol="0" anchor="t">
            <a:spAutoFit/>
          </a:bodyPr>
          <a:lstStyle/>
          <a:p>
            <a:pPr algn="l" indent="0" marL="0">
              <a:lnSpc>
                <a:spcPts val="900"/>
              </a:lnSpc>
              <a:buNone/>
            </a:pPr>
            <a:r>
              <a:rPr lang="en-US" sz="683" b="1" spc="1" kern="0" dirty="0">
                <a:solidFill>
                  <a:srgbClr val="1A2B3C"/>
                </a:solidFill>
                <a:latin typeface="Inter" pitchFamily="34" charset="0"/>
                <a:ea typeface="Inter" pitchFamily="34" charset="-122"/>
                <a:cs typeface="Inter" pitchFamily="34" charset="-120"/>
              </a:rPr>
              <a:t>S3 GUIDELINES</a:t>
            </a:r>
            <a:endParaRPr lang="en-US" sz="68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857250" y="857250"/>
            <a:ext cx="7429500" cy="276820"/>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2B3C"/>
                </a:solidFill>
                <a:latin typeface="Inter" pitchFamily="34" charset="0"/>
                <a:ea typeface="Inter" pitchFamily="34" charset="-122"/>
                <a:cs typeface="Inter" pitchFamily="34" charset="-120"/>
              </a:rPr>
              <a:t>A Scalable Solution for the Mass Market</a:t>
            </a:r>
            <a:endParaRPr lang="en-US" sz="1602" dirty="0"/>
          </a:p>
        </p:txBody>
      </p:sp>
      <p:sp>
        <p:nvSpPr>
          <p:cNvPr id="4" name="Text 1"/>
          <p:cNvSpPr/>
          <p:nvPr/>
        </p:nvSpPr>
        <p:spPr>
          <a:xfrm>
            <a:off x="857250" y="1941314"/>
            <a:ext cx="2381241" cy="201811"/>
          </a:xfrm>
          <a:prstGeom prst="rect">
            <a:avLst/>
          </a:prstGeom>
          <a:noFill/>
          <a:ln/>
        </p:spPr>
        <p:txBody>
          <a:bodyPr wrap="none" lIns="0" tIns="0" rIns="0" bIns="68072" rtlCol="0" anchor="t">
            <a:spAutoFit/>
          </a:bodyPr>
          <a:lstStyle/>
          <a:p>
            <a:pPr algn="l" indent="0" marL="0">
              <a:lnSpc>
                <a:spcPts val="1100"/>
              </a:lnSpc>
              <a:buNone/>
            </a:pPr>
            <a:r>
              <a:rPr lang="en-US" sz="784" b="1" spc="1" kern="0" dirty="0">
                <a:solidFill>
                  <a:srgbClr val="0073E6"/>
                </a:solidFill>
                <a:latin typeface="Inter" pitchFamily="34" charset="0"/>
                <a:ea typeface="Inter" pitchFamily="34" charset="-122"/>
                <a:cs typeface="Inter" pitchFamily="34" charset="-120"/>
              </a:rPr>
              <a:t>VALIDATION</a:t>
            </a:r>
            <a:endParaRPr lang="en-US" sz="784" dirty="0"/>
          </a:p>
        </p:txBody>
      </p:sp>
      <p:sp>
        <p:nvSpPr>
          <p:cNvPr id="5" name="Text 2"/>
          <p:cNvSpPr/>
          <p:nvPr/>
        </p:nvSpPr>
        <p:spPr>
          <a:xfrm>
            <a:off x="857250" y="2257425"/>
            <a:ext cx="2381241" cy="414338"/>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2B3C"/>
                </a:solidFill>
                <a:latin typeface="Inter" pitchFamily="34" charset="0"/>
                <a:ea typeface="Inter" pitchFamily="34" charset="-122"/>
                <a:cs typeface="Inter" pitchFamily="34" charset="-120"/>
              </a:rPr>
              <a:t>TRL 6-7</a:t>
            </a:r>
            <a:endParaRPr lang="en-US" sz="2436" dirty="0"/>
          </a:p>
        </p:txBody>
      </p:sp>
      <p:sp>
        <p:nvSpPr>
          <p:cNvPr id="6" name="Text 3"/>
          <p:cNvSpPr/>
          <p:nvPr/>
        </p:nvSpPr>
        <p:spPr>
          <a:xfrm>
            <a:off x="857250" y="2728913"/>
            <a:ext cx="2381241"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2B3C"/>
                </a:solidFill>
                <a:latin typeface="Inter" pitchFamily="34" charset="0"/>
                <a:ea typeface="Inter" pitchFamily="34" charset="-122"/>
                <a:cs typeface="Inter" pitchFamily="34" charset="-120"/>
              </a:rPr>
              <a:t>Clinically Proven</a:t>
            </a:r>
            <a:endParaRPr lang="en-US" sz="1193" dirty="0"/>
          </a:p>
        </p:txBody>
      </p:sp>
      <p:sp>
        <p:nvSpPr>
          <p:cNvPr id="7" name="Text 4"/>
          <p:cNvSpPr/>
          <p:nvPr/>
        </p:nvSpPr>
        <p:spPr>
          <a:xfrm>
            <a:off x="857250" y="3050381"/>
            <a:ext cx="2381241"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A5568"/>
                </a:solidFill>
                <a:latin typeface="Inter" pitchFamily="34" charset="0"/>
                <a:ea typeface="Inter" pitchFamily="34" charset="-122"/>
                <a:cs typeface="Inter" pitchFamily="34" charset="-120"/>
              </a:rPr>
              <a:t>DiaTwin has demonstrated its utility through patient trials, achieving "Excellent" reviews for safety and user satisfaction in real-world validation.</a:t>
            </a:r>
            <a:endParaRPr lang="en-US" sz="834" dirty="0"/>
          </a:p>
        </p:txBody>
      </p:sp>
      <p:sp>
        <p:nvSpPr>
          <p:cNvPr id="8" name="Text 5"/>
          <p:cNvSpPr/>
          <p:nvPr/>
        </p:nvSpPr>
        <p:spPr>
          <a:xfrm>
            <a:off x="3381366" y="1941314"/>
            <a:ext cx="2381241" cy="201811"/>
          </a:xfrm>
          <a:prstGeom prst="rect">
            <a:avLst/>
          </a:prstGeom>
          <a:noFill/>
          <a:ln/>
        </p:spPr>
        <p:txBody>
          <a:bodyPr wrap="none" lIns="0" tIns="0" rIns="0" bIns="68072" rtlCol="0" anchor="t">
            <a:spAutoFit/>
          </a:bodyPr>
          <a:lstStyle/>
          <a:p>
            <a:pPr algn="l" indent="0" marL="0">
              <a:lnSpc>
                <a:spcPts val="1100"/>
              </a:lnSpc>
              <a:buNone/>
            </a:pPr>
            <a:r>
              <a:rPr lang="en-US" sz="784" b="1" spc="1" kern="0" dirty="0">
                <a:solidFill>
                  <a:srgbClr val="0073E6"/>
                </a:solidFill>
                <a:latin typeface="Inter" pitchFamily="34" charset="0"/>
                <a:ea typeface="Inter" pitchFamily="34" charset="-122"/>
                <a:cs typeface="Inter" pitchFamily="34" charset="-120"/>
              </a:rPr>
              <a:t>REACH</a:t>
            </a:r>
            <a:endParaRPr lang="en-US" sz="784" dirty="0"/>
          </a:p>
        </p:txBody>
      </p:sp>
      <p:sp>
        <p:nvSpPr>
          <p:cNvPr id="9" name="Text 6"/>
          <p:cNvSpPr/>
          <p:nvPr/>
        </p:nvSpPr>
        <p:spPr>
          <a:xfrm>
            <a:off x="3381366" y="2257425"/>
            <a:ext cx="2381241" cy="414338"/>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2B3C"/>
                </a:solidFill>
                <a:latin typeface="Inter" pitchFamily="34" charset="0"/>
                <a:ea typeface="Inter" pitchFamily="34" charset="-122"/>
                <a:cs typeface="Inter" pitchFamily="34" charset="-120"/>
              </a:rPr>
              <a:t>Millions</a:t>
            </a:r>
            <a:endParaRPr lang="en-US" sz="2436" dirty="0"/>
          </a:p>
        </p:txBody>
      </p:sp>
      <p:sp>
        <p:nvSpPr>
          <p:cNvPr id="10" name="Text 7"/>
          <p:cNvSpPr/>
          <p:nvPr/>
        </p:nvSpPr>
        <p:spPr>
          <a:xfrm>
            <a:off x="3381366" y="2728913"/>
            <a:ext cx="2381241"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2B3C"/>
                </a:solidFill>
                <a:latin typeface="Inter" pitchFamily="34" charset="0"/>
                <a:ea typeface="Inter" pitchFamily="34" charset="-122"/>
                <a:cs typeface="Inter" pitchFamily="34" charset="-120"/>
              </a:rPr>
              <a:t>Mass Market Focus</a:t>
            </a:r>
            <a:endParaRPr lang="en-US" sz="1193" dirty="0"/>
          </a:p>
        </p:txBody>
      </p:sp>
      <p:sp>
        <p:nvSpPr>
          <p:cNvPr id="11" name="Text 8"/>
          <p:cNvSpPr/>
          <p:nvPr/>
        </p:nvSpPr>
        <p:spPr>
          <a:xfrm>
            <a:off x="3381366" y="3050381"/>
            <a:ext cx="2381241"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A5568"/>
                </a:solidFill>
                <a:latin typeface="Inter" pitchFamily="34" charset="0"/>
                <a:ea typeface="Inter" pitchFamily="34" charset="-122"/>
                <a:cs typeface="Inter" pitchFamily="34" charset="-120"/>
              </a:rPr>
              <a:t>We bring precision care to the millions using simple insulin pens, addressing a massive gap left by expensive and complex pump systems.</a:t>
            </a:r>
            <a:endParaRPr lang="en-US" sz="834" dirty="0"/>
          </a:p>
        </p:txBody>
      </p:sp>
      <p:sp>
        <p:nvSpPr>
          <p:cNvPr id="12" name="Text 9"/>
          <p:cNvSpPr/>
          <p:nvPr/>
        </p:nvSpPr>
        <p:spPr>
          <a:xfrm>
            <a:off x="5905481" y="1941314"/>
            <a:ext cx="2381269" cy="201811"/>
          </a:xfrm>
          <a:prstGeom prst="rect">
            <a:avLst/>
          </a:prstGeom>
          <a:noFill/>
          <a:ln/>
        </p:spPr>
        <p:txBody>
          <a:bodyPr wrap="none" lIns="0" tIns="0" rIns="0" bIns="68072" rtlCol="0" anchor="t">
            <a:spAutoFit/>
          </a:bodyPr>
          <a:lstStyle/>
          <a:p>
            <a:pPr algn="l" indent="0" marL="0">
              <a:lnSpc>
                <a:spcPts val="1100"/>
              </a:lnSpc>
              <a:buNone/>
            </a:pPr>
            <a:r>
              <a:rPr lang="en-US" sz="784" b="1" spc="1" kern="0" dirty="0">
                <a:solidFill>
                  <a:srgbClr val="0073E6"/>
                </a:solidFill>
                <a:latin typeface="Inter" pitchFamily="34" charset="0"/>
                <a:ea typeface="Inter" pitchFamily="34" charset="-122"/>
                <a:cs typeface="Inter" pitchFamily="34" charset="-120"/>
              </a:rPr>
              <a:t>GROWTH</a:t>
            </a:r>
            <a:endParaRPr lang="en-US" sz="784" dirty="0"/>
          </a:p>
        </p:txBody>
      </p:sp>
      <p:sp>
        <p:nvSpPr>
          <p:cNvPr id="13" name="Text 10"/>
          <p:cNvSpPr/>
          <p:nvPr/>
        </p:nvSpPr>
        <p:spPr>
          <a:xfrm>
            <a:off x="5905481" y="2257425"/>
            <a:ext cx="2381269" cy="414338"/>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2B3C"/>
                </a:solidFill>
                <a:latin typeface="Inter" pitchFamily="34" charset="0"/>
                <a:ea typeface="Inter" pitchFamily="34" charset="-122"/>
                <a:cs typeface="Inter" pitchFamily="34" charset="-120"/>
              </a:rPr>
              <a:t>DiGA</a:t>
            </a:r>
            <a:endParaRPr lang="en-US" sz="2436" dirty="0"/>
          </a:p>
        </p:txBody>
      </p:sp>
      <p:sp>
        <p:nvSpPr>
          <p:cNvPr id="14" name="Text 11"/>
          <p:cNvSpPr/>
          <p:nvPr/>
        </p:nvSpPr>
        <p:spPr>
          <a:xfrm>
            <a:off x="5905481" y="2728913"/>
            <a:ext cx="2381269"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2B3C"/>
                </a:solidFill>
                <a:latin typeface="Inter" pitchFamily="34" charset="0"/>
                <a:ea typeface="Inter" pitchFamily="34" charset="-122"/>
                <a:cs typeface="Inter" pitchFamily="34" charset="-120"/>
              </a:rPr>
              <a:t>Reimbursement Path</a:t>
            </a:r>
            <a:endParaRPr lang="en-US" sz="1193" dirty="0"/>
          </a:p>
        </p:txBody>
      </p:sp>
      <p:sp>
        <p:nvSpPr>
          <p:cNvPr id="15" name="Text 12"/>
          <p:cNvSpPr/>
          <p:nvPr/>
        </p:nvSpPr>
        <p:spPr>
          <a:xfrm>
            <a:off x="5905481" y="3050381"/>
            <a:ext cx="2381269"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A5568"/>
                </a:solidFill>
                <a:latin typeface="Inter" pitchFamily="34" charset="0"/>
                <a:ea typeface="Inter" pitchFamily="34" charset="-122"/>
                <a:cs typeface="Inter" pitchFamily="34" charset="-120"/>
              </a:rPr>
              <a:t>With a clear path to insurance reimbursement via the German DiGA fast-track, DiaTwin is uniquely positioned for rapid, sustainable scaling.</a:t>
            </a:r>
            <a:endParaRPr lang="en-US" sz="83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857250" y="1298014"/>
            <a:ext cx="7429500" cy="414338"/>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2B3C"/>
                </a:solidFill>
                <a:latin typeface="Inter" pitchFamily="34" charset="0"/>
                <a:ea typeface="Inter" pitchFamily="34" charset="-122"/>
                <a:cs typeface="Inter" pitchFamily="34" charset="-120"/>
              </a:rPr>
              <a:t>Ready to Transform Diabetes Care Together</a:t>
            </a:r>
            <a:endParaRPr lang="en-US" sz="2436" dirty="0"/>
          </a:p>
        </p:txBody>
      </p:sp>
      <p:sp>
        <p:nvSpPr>
          <p:cNvPr id="4" name="Text 1"/>
          <p:cNvSpPr/>
          <p:nvPr/>
        </p:nvSpPr>
        <p:spPr>
          <a:xfrm>
            <a:off x="3381366" y="2026676"/>
            <a:ext cx="4905384" cy="692944"/>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4A5568"/>
                </a:solidFill>
                <a:latin typeface="Inter" pitchFamily="34" charset="0"/>
                <a:ea typeface="Inter" pitchFamily="34" charset="-122"/>
                <a:cs typeface="Inter" pitchFamily="34" charset="-120"/>
              </a:rPr>
              <a:t>Our team combines deep clinical expertise with cutting-edge digital technology to bridge the gap between complex data and daily well-being. Join us in making life with Type 1 Diabetes safer, simpler, and more predictable.</a:t>
            </a:r>
            <a:endParaRPr lang="en-US" sz="1050" dirty="0"/>
          </a:p>
        </p:txBody>
      </p:sp>
      <p:sp>
        <p:nvSpPr>
          <p:cNvPr id="5" name="Text 2"/>
          <p:cNvSpPr/>
          <p:nvPr/>
        </p:nvSpPr>
        <p:spPr>
          <a:xfrm>
            <a:off x="857250" y="3433995"/>
            <a:ext cx="857250" cy="308604"/>
          </a:xfrm>
          <a:prstGeom prst="rect">
            <a:avLst/>
          </a:prstGeom>
          <a:noFill/>
          <a:ln/>
        </p:spPr>
        <p:txBody>
          <a:bodyPr wrap="none" lIns="0" tIns="0" rIns="0" bIns="0" rtlCol="0" anchor="t">
            <a:spAutoFit/>
          </a:bodyPr>
          <a:lstStyle/>
          <a:p>
            <a:pPr algn="l" indent="0" marL="0">
              <a:lnSpc>
                <a:spcPts val="2400"/>
              </a:lnSpc>
              <a:buNone/>
            </a:pPr>
            <a:r>
              <a:rPr lang="en-US" sz="1193" b="1" dirty="0">
                <a:solidFill>
                  <a:srgbClr val="1A2B3C"/>
                </a:solidFill>
                <a:latin typeface="Inter" pitchFamily="34" charset="0"/>
                <a:ea typeface="Inter" pitchFamily="34" charset="-122"/>
                <a:cs typeface="Inter" pitchFamily="34" charset="-120"/>
              </a:rPr>
              <a:t>Lead:</a:t>
            </a:r>
            <a:endParaRPr lang="en-US" sz="1193" dirty="0"/>
          </a:p>
        </p:txBody>
      </p:sp>
      <p:sp>
        <p:nvSpPr>
          <p:cNvPr id="6" name="Text 3"/>
          <p:cNvSpPr/>
          <p:nvPr/>
        </p:nvSpPr>
        <p:spPr>
          <a:xfrm>
            <a:off x="1714500" y="3433995"/>
            <a:ext cx="610791" cy="308604"/>
          </a:xfrm>
          <a:prstGeom prst="rect">
            <a:avLst/>
          </a:prstGeom>
          <a:noFill/>
          <a:ln/>
        </p:spPr>
        <p:txBody>
          <a:bodyPr wrap="none" lIns="0" tIns="0" rIns="0" bIns="0" rtlCol="0" anchor="t">
            <a:spAutoFit/>
          </a:bodyPr>
          <a:lstStyle/>
          <a:p>
            <a:pPr algn="l" indent="0" marL="0">
              <a:lnSpc>
                <a:spcPts val="2400"/>
              </a:lnSpc>
              <a:buNone/>
            </a:pPr>
            <a:r>
              <a:rPr lang="en-US" sz="1269" dirty="0">
                <a:solidFill>
                  <a:srgbClr val="4A5568"/>
                </a:solidFill>
                <a:latin typeface="Inter" pitchFamily="34" charset="0"/>
                <a:ea typeface="Inter" pitchFamily="34" charset="-122"/>
                <a:cs typeface="Inter" pitchFamily="34" charset="-120"/>
              </a:rPr>
              <a:t>Ali Attia</a:t>
            </a:r>
            <a:endParaRPr lang="en-US" sz="1269" dirty="0"/>
          </a:p>
        </p:txBody>
      </p:sp>
      <p:sp>
        <p:nvSpPr>
          <p:cNvPr id="7" name="Text 4"/>
          <p:cNvSpPr/>
          <p:nvPr/>
        </p:nvSpPr>
        <p:spPr>
          <a:xfrm>
            <a:off x="857250" y="3856899"/>
            <a:ext cx="857250" cy="308604"/>
          </a:xfrm>
          <a:prstGeom prst="rect">
            <a:avLst/>
          </a:prstGeom>
          <a:noFill/>
          <a:ln/>
        </p:spPr>
        <p:txBody>
          <a:bodyPr wrap="none" lIns="0" tIns="0" rIns="0" bIns="0" rtlCol="0" anchor="t">
            <a:spAutoFit/>
          </a:bodyPr>
          <a:lstStyle/>
          <a:p>
            <a:pPr algn="l" indent="0" marL="0">
              <a:lnSpc>
                <a:spcPts val="2400"/>
              </a:lnSpc>
              <a:buNone/>
            </a:pPr>
            <a:r>
              <a:rPr lang="en-US" sz="1193" b="1" dirty="0">
                <a:solidFill>
                  <a:srgbClr val="1A2B3C"/>
                </a:solidFill>
                <a:latin typeface="Inter" pitchFamily="34" charset="0"/>
                <a:ea typeface="Inter" pitchFamily="34" charset="-122"/>
                <a:cs typeface="Inter" pitchFamily="34" charset="-120"/>
              </a:rPr>
              <a:t>Email:</a:t>
            </a:r>
            <a:endParaRPr lang="en-US" sz="1193" dirty="0"/>
          </a:p>
        </p:txBody>
      </p:sp>
      <p:sp>
        <p:nvSpPr>
          <p:cNvPr id="8" name="Text 5"/>
          <p:cNvSpPr/>
          <p:nvPr/>
        </p:nvSpPr>
        <p:spPr>
          <a:xfrm>
            <a:off x="1714500" y="3856899"/>
            <a:ext cx="1343025" cy="308604"/>
          </a:xfrm>
          <a:prstGeom prst="rect">
            <a:avLst/>
          </a:prstGeom>
          <a:noFill/>
          <a:ln/>
        </p:spPr>
        <p:txBody>
          <a:bodyPr wrap="none" lIns="0" tIns="0" rIns="0" bIns="0" rtlCol="0" anchor="t">
            <a:spAutoFit/>
          </a:bodyPr>
          <a:lstStyle/>
          <a:p>
            <a:pPr algn="l" indent="0" marL="0">
              <a:lnSpc>
                <a:spcPts val="2400"/>
              </a:lnSpc>
              <a:buNone/>
            </a:pPr>
            <a:r>
              <a:rPr lang="en-US" sz="1269" dirty="0">
                <a:solidFill>
                  <a:srgbClr val="4A5568"/>
                </a:solidFill>
                <a:latin typeface="Inter" pitchFamily="34" charset="0"/>
                <a:ea typeface="Inter" pitchFamily="34" charset="-122"/>
                <a:cs typeface="Inter" pitchFamily="34" charset="-120"/>
              </a:rPr>
              <a:t>ali.attia@gmx.de</a:t>
            </a:r>
            <a:endParaRPr lang="en-US" sz="1269" dirty="0"/>
          </a:p>
        </p:txBody>
      </p:sp>
      <p:sp>
        <p:nvSpPr>
          <p:cNvPr id="9" name="Text 6"/>
          <p:cNvSpPr/>
          <p:nvPr/>
        </p:nvSpPr>
        <p:spPr>
          <a:xfrm>
            <a:off x="857250" y="4279804"/>
            <a:ext cx="857250" cy="308604"/>
          </a:xfrm>
          <a:prstGeom prst="rect">
            <a:avLst/>
          </a:prstGeom>
          <a:noFill/>
          <a:ln/>
        </p:spPr>
        <p:txBody>
          <a:bodyPr wrap="none" lIns="0" tIns="0" rIns="0" bIns="0" rtlCol="0" anchor="t">
            <a:spAutoFit/>
          </a:bodyPr>
          <a:lstStyle/>
          <a:p>
            <a:pPr algn="l" indent="0" marL="0">
              <a:lnSpc>
                <a:spcPts val="2400"/>
              </a:lnSpc>
              <a:buNone/>
            </a:pPr>
            <a:r>
              <a:rPr lang="en-US" sz="1193" b="1" dirty="0">
                <a:solidFill>
                  <a:srgbClr val="1A2B3C"/>
                </a:solidFill>
                <a:latin typeface="Inter" pitchFamily="34" charset="0"/>
                <a:ea typeface="Inter" pitchFamily="34" charset="-122"/>
                <a:cs typeface="Inter" pitchFamily="34" charset="-120"/>
              </a:rPr>
              <a:t>Web:</a:t>
            </a:r>
            <a:endParaRPr lang="en-US" sz="1193" dirty="0"/>
          </a:p>
        </p:txBody>
      </p:sp>
      <p:sp>
        <p:nvSpPr>
          <p:cNvPr id="10" name="Text 7"/>
          <p:cNvSpPr/>
          <p:nvPr/>
        </p:nvSpPr>
        <p:spPr>
          <a:xfrm>
            <a:off x="1714500" y="4279804"/>
            <a:ext cx="1562695" cy="308604"/>
          </a:xfrm>
          <a:prstGeom prst="rect">
            <a:avLst/>
          </a:prstGeom>
          <a:noFill/>
          <a:ln/>
        </p:spPr>
        <p:txBody>
          <a:bodyPr wrap="none" lIns="0" tIns="0" rIns="0" bIns="0" rtlCol="0" anchor="t">
            <a:spAutoFit/>
          </a:bodyPr>
          <a:lstStyle/>
          <a:p>
            <a:pPr algn="l" indent="0" marL="0">
              <a:lnSpc>
                <a:spcPts val="2400"/>
              </a:lnSpc>
              <a:buNone/>
            </a:pPr>
            <a:r>
              <a:rPr lang="en-US" sz="1269" dirty="0">
                <a:solidFill>
                  <a:srgbClr val="4A5568"/>
                </a:solidFill>
                <a:latin typeface="Inter" pitchFamily="34" charset="0"/>
                <a:ea typeface="Inter" pitchFamily="34" charset="-122"/>
                <a:cs typeface="Inter" pitchFamily="34" charset="-120"/>
              </a:rPr>
              <a:t>dia-twin.vercel.app</a:t>
            </a:r>
            <a:endParaRPr lang="en-US" sz="1269"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2026-04-01T03:50:26Z</dcterms:created>
  <dcterms:modified xsi:type="dcterms:W3CDTF">2026-04-01T03:50:26Z</dcterms:modified>
</cp:coreProperties>
</file>