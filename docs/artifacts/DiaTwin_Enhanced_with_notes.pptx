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Managing Type 1 Diabetes with an insulin pen is one of the hardest things a person can do every single day. DiaTwin is the app we built to make it safer</a:t>
            </a:r>
            <a:r>
              <a:rPr lang="de-DE" sz="1400">
                <a:latin typeface="Calibri" panose="020F0502020204030204" charset="0"/>
              </a:rPr>
              <a:t>, </a:t>
            </a:r>
            <a:r>
              <a:rPr sz="1400"/>
              <a:t>and smarter.</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People with Type 1 Diabetes have to manually decide how much insulin to inject</a:t>
            </a:r>
            <a:r>
              <a:rPr lang="de-DE" sz="1400">
                <a:latin typeface="Calibri" panose="020F0502020204030204" charset="0"/>
              </a:rPr>
              <a:t> ,</a:t>
            </a:r>
            <a:r>
              <a:rPr sz="1400"/>
              <a:t> for every meal, every snack, every day, for the rest of their lives. Too much insulin and they can collapse. Too little, and they silently damage their body over years. There's no day off. No autopilot. And most people are doing this completely alone.</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DiaTwin starts by connecting to a small sensor the patient already wears on their arm. It reads their glucose levels automatically, around the clock </a:t>
            </a:r>
            <a:r>
              <a:rPr lang="de-DE" sz="1400">
                <a:latin typeface="Calibri" panose="020F0502020204030204" charset="0"/>
              </a:rPr>
              <a:t>,</a:t>
            </a:r>
            <a:r>
              <a:rPr sz="1400"/>
              <a:t> no manual input, no extra effort. The data just comes in on its own.</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Instead of just showing a number, DiaTwin shows the patient where their glucose is heading </a:t>
            </a:r>
            <a:r>
              <a:rPr lang="de-DE" sz="1400">
                <a:latin typeface="Calibri" panose="020F0502020204030204" charset="0"/>
              </a:rPr>
              <a:t>,</a:t>
            </a:r>
            <a:r>
              <a:rPr sz="1400"/>
              <a:t> up to four hours ahead. Think of it like a weather forecast for your body. You can prepare before the storm hits, not after.</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After eating or injecting, both the food and the insulin are still active in the body for hours. DiaTwin tracks both at the same time and warns the patient if something is going out of balance </a:t>
            </a:r>
            <a:r>
              <a:rPr lang="de-DE" sz="1400">
                <a:latin typeface="Calibri" panose="020F0502020204030204" charset="0"/>
              </a:rPr>
              <a:t>,</a:t>
            </a:r>
            <a:r>
              <a:rPr sz="1400"/>
              <a:t> early enough to actually do something about it. No other pen-based app on the market does this.</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For the first time, the patient and their doctor are looking at exactly the same information. That shared picture makes doctor appointments more productive </a:t>
            </a:r>
            <a:r>
              <a:rPr lang="de-DE" sz="1400">
                <a:latin typeface="Calibri" panose="020F0502020204030204" charset="0"/>
              </a:rPr>
              <a:t>,</a:t>
            </a:r>
            <a:r>
              <a:rPr sz="1400"/>
              <a:t> and gives patients real confidence in understanding their own body.</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Logging a meal is as simple as searching for a food, picking a portion size, and tapping confirm </a:t>
            </a:r>
            <a:r>
              <a:rPr lang="de-DE" sz="1400">
                <a:latin typeface="Calibri" panose="020F0502020204030204" charset="0"/>
              </a:rPr>
              <a:t>,</a:t>
            </a:r>
            <a:r>
              <a:rPr sz="1400"/>
              <a:t> it takes about ten seconds. The app even lets patients take a photo of their plate and identifies the food automatically.</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When it's time to inject, DiaTwin suggests a dose  calculated from everything it knows about that specific patient at that specific moment. The patient sees exactly how the number was reached. And every suggestion stays within limits their own doctor has already approved.</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The doctor stays in full control. They set the safety boundaries, and the app never goes outside them. DiaTwin is also built to qualify for German health insurance coverage </a:t>
            </a:r>
            <a:r>
              <a:rPr lang="de-DE" sz="1400">
                <a:latin typeface="Calibri" panose="020F0502020204030204" charset="0"/>
              </a:rPr>
              <a:t>,</a:t>
            </a:r>
            <a:r>
              <a:rPr sz="1400"/>
              <a:t> meaning patients could access it at no cost out of pocket.</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We've had DiaTwin reviewed by diabetes specialists, tested with real patients </a:t>
            </a:r>
            <a:r>
              <a:rPr lang="de-DE" sz="1400">
                <a:latin typeface="Calibri" panose="020F0502020204030204" charset="0"/>
              </a:rPr>
              <a:t>,</a:t>
            </a:r>
            <a:r>
              <a:rPr sz="1400"/>
              <a:t> who rated it excellent </a:t>
            </a:r>
            <a:r>
              <a:rPr lang="de-DE" sz="1400">
                <a:latin typeface="Calibri" panose="020F0502020204030204" charset="0"/>
              </a:rPr>
              <a:t>,</a:t>
            </a:r>
            <a:r>
              <a:rPr sz="1400"/>
              <a:t> and we're already </a:t>
            </a:r>
            <a:r>
              <a:rPr lang="de-DE" sz="1400">
                <a:latin typeface="Calibri" panose="020F0502020204030204" charset="0"/>
              </a:rPr>
              <a:t>preparing  to</a:t>
            </a:r>
            <a:r>
              <a:rPr sz="1400"/>
              <a:t> clinical validation in Germany. The monthly cost is just twenty euros, with a clear path to full insurance reimbursement.</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t>We're a small team building something that genuinely changes daily life for hundreds of thousands of people </a:t>
            </a:r>
            <a:r>
              <a:rPr lang="de-DE" sz="1400">
                <a:latin typeface="Calibri" panose="020F0502020204030204" charset="0"/>
              </a:rPr>
              <a:t>,</a:t>
            </a:r>
            <a:r>
              <a:rPr sz="1400"/>
              <a:t> starting in Germany. The Exist grant would give us the runway to complete our clinical validation and bring DiaTwin to the patients who need it most. Thank you.</a:t>
            </a:r>
            <a:endParaRPr sz="140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image" Target="../media/image19.png"/><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18.png"/><Relationship Id="rId3" Type="http://schemas.openxmlformats.org/officeDocument/2006/relationships/tags" Target="../tags/tag7.xml"/><Relationship Id="rId20" Type="http://schemas.openxmlformats.org/officeDocument/2006/relationships/notesSlide" Target="../notesSlides/notesSlide7.xml"/><Relationship Id="rId2" Type="http://schemas.openxmlformats.org/officeDocument/2006/relationships/image" Target="../media/image17.png"/><Relationship Id="rId19" Type="http://schemas.openxmlformats.org/officeDocument/2006/relationships/slideLayout" Target="../slideLayouts/slideLayout1.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image" Target="../media/image21.png"/><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image" Target="../media/image20.png"/><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image" Target="../media/image16.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33.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2"/>
          <a:srcRect l="14254" t="6689" r="20730" b="22020"/>
          <a:stretch>
            <a:fillRect/>
          </a:stretch>
        </p:blipFill>
        <p:spPr>
          <a:xfrm>
            <a:off x="569595" y="316865"/>
            <a:ext cx="2703195" cy="4193540"/>
          </a:xfrm>
          <a:prstGeom prst="rect">
            <a:avLst/>
          </a:prstGeom>
        </p:spPr>
      </p:pic>
      <p:sp>
        <p:nvSpPr>
          <p:cNvPr id="4" name="Text 0"/>
          <p:cNvSpPr/>
          <p:nvPr/>
        </p:nvSpPr>
        <p:spPr>
          <a:xfrm>
            <a:off x="4213225" y="428625"/>
            <a:ext cx="4787900" cy="1455420"/>
          </a:xfrm>
          <a:prstGeom prst="rect">
            <a:avLst/>
          </a:prstGeom>
          <a:noFill/>
        </p:spPr>
        <p:txBody>
          <a:bodyPr wrap="none" lIns="0" tIns="0" rIns="0" bIns="0" rtlCol="0" anchor="t">
            <a:noAutofit/>
          </a:bodyPr>
          <a:lstStyle/>
          <a:p>
            <a:pPr marL="0" indent="0" algn="l">
              <a:lnSpc>
                <a:spcPts val="4000"/>
              </a:lnSpc>
              <a:buNone/>
            </a:pPr>
            <a:r>
              <a:rPr lang="en-US" sz="3600" b="1" dirty="0">
                <a:solidFill>
                  <a:srgbClr val="2D3748"/>
                </a:solidFill>
                <a:latin typeface="Inter" pitchFamily="34" charset="0"/>
                <a:ea typeface="Inter" pitchFamily="34" charset="-122"/>
                <a:cs typeface="Inter" pitchFamily="34" charset="-120"/>
              </a:rPr>
              <a:t>DiaTwin</a:t>
            </a:r>
            <a:endParaRPr lang="en-US" sz="3600" b="1" dirty="0">
              <a:solidFill>
                <a:srgbClr val="2D3748"/>
              </a:solidFill>
              <a:latin typeface="Inter" pitchFamily="34" charset="0"/>
              <a:ea typeface="Inter" pitchFamily="34" charset="-122"/>
              <a:cs typeface="Inter" pitchFamily="34" charset="-120"/>
            </a:endParaRPr>
          </a:p>
        </p:txBody>
      </p:sp>
      <p:sp>
        <p:nvSpPr>
          <p:cNvPr id="5" name="Text 1"/>
          <p:cNvSpPr/>
          <p:nvPr/>
        </p:nvSpPr>
        <p:spPr>
          <a:xfrm>
            <a:off x="4213225" y="1002665"/>
            <a:ext cx="4787900" cy="1718945"/>
          </a:xfrm>
          <a:prstGeom prst="rect">
            <a:avLst/>
          </a:prstGeom>
          <a:noFill/>
        </p:spPr>
        <p:txBody>
          <a:bodyPr wrap="square" lIns="0" tIns="0" rIns="0" bIns="0" rtlCol="0" anchor="t">
            <a:noAutofit/>
          </a:bodyPr>
          <a:lstStyle/>
          <a:p>
            <a:pPr marL="0" indent="0" algn="l">
              <a:lnSpc>
                <a:spcPts val="2300"/>
              </a:lnSpc>
              <a:buNone/>
            </a:pPr>
            <a:r>
              <a:rPr lang="en-US" dirty="0">
                <a:solidFill>
                  <a:srgbClr val="718096"/>
                </a:solidFill>
                <a:latin typeface="Inter" pitchFamily="34" charset="0"/>
                <a:ea typeface="Inter" pitchFamily="34" charset="-122"/>
                <a:cs typeface="Inter" pitchFamily="34" charset="-120"/>
              </a:rPr>
              <a:t>Personalised insulin dosing support for Type 1 Diabetes</a:t>
            </a:r>
            <a:endParaRPr lang="en-US" dirty="0">
              <a:solidFill>
                <a:srgbClr val="718096"/>
              </a:solidFill>
              <a:latin typeface="Inter" pitchFamily="34" charset="0"/>
              <a:ea typeface="Inter" pitchFamily="34" charset="-122"/>
              <a:cs typeface="Inter" pitchFamily="34" charset="-120"/>
            </a:endParaRPr>
          </a:p>
        </p:txBody>
      </p:sp>
      <p:sp>
        <p:nvSpPr>
          <p:cNvPr id="6" name="Text 2"/>
          <p:cNvSpPr/>
          <p:nvPr/>
        </p:nvSpPr>
        <p:spPr>
          <a:xfrm>
            <a:off x="4213225" y="1654175"/>
            <a:ext cx="4787900" cy="1860550"/>
          </a:xfrm>
          <a:prstGeom prst="rect">
            <a:avLst/>
          </a:prstGeom>
          <a:noFill/>
        </p:spPr>
        <p:txBody>
          <a:bodyPr wrap="square" lIns="0" tIns="0" rIns="0" bIns="0" rtlCol="0" anchor="t">
            <a:noAutofit/>
          </a:bodyPr>
          <a:lstStyle/>
          <a:p>
            <a:pPr marL="0" indent="0" algn="l">
              <a:lnSpc>
                <a:spcPts val="1700"/>
              </a:lnSpc>
              <a:buNone/>
            </a:pPr>
            <a:r>
              <a:rPr lang="en-US" sz="1200" dirty="0">
                <a:solidFill>
                  <a:srgbClr val="718096"/>
                </a:solidFill>
                <a:latin typeface="Inter" pitchFamily="34" charset="0"/>
                <a:ea typeface="Inter" pitchFamily="34" charset="-122"/>
                <a:cs typeface="Inter" pitchFamily="34" charset="-120"/>
              </a:rPr>
              <a:t>Meet DiaTwin  a clinically supervised digital twin for Type 1 diabetes, built for patients who use insulin pens, not just expensive pumps.</a:t>
            </a:r>
            <a:endParaRPr lang="en-US" sz="1200" dirty="0">
              <a:solidFill>
                <a:srgbClr val="718096"/>
              </a:solidFill>
              <a:latin typeface="Inter" pitchFamily="34" charset="0"/>
              <a:ea typeface="Inter" pitchFamily="34" charset="-122"/>
              <a:cs typeface="Inter" pitchFamily="34" charset="-120"/>
            </a:endParaRPr>
          </a:p>
        </p:txBody>
      </p:sp>
      <p:sp>
        <p:nvSpPr>
          <p:cNvPr id="7" name="Text 3"/>
          <p:cNvSpPr/>
          <p:nvPr/>
        </p:nvSpPr>
        <p:spPr>
          <a:xfrm>
            <a:off x="4213225" y="2339975"/>
            <a:ext cx="4787900" cy="619760"/>
          </a:xfrm>
          <a:prstGeom prst="rect">
            <a:avLst/>
          </a:prstGeom>
          <a:noFill/>
        </p:spPr>
        <p:txBody>
          <a:bodyPr wrap="none" lIns="0" tIns="0" rIns="0" bIns="0" rtlCol="0" anchor="t">
            <a:noAutofit/>
          </a:bodyPr>
          <a:lstStyle/>
          <a:p>
            <a:pPr marL="0" indent="0" algn="l">
              <a:lnSpc>
                <a:spcPts val="1700"/>
              </a:lnSpc>
              <a:buNone/>
            </a:pPr>
            <a:r>
              <a:rPr lang="en-US" sz="1200" dirty="0">
                <a:solidFill>
                  <a:srgbClr val="718096"/>
                </a:solidFill>
                <a:latin typeface="Inter" pitchFamily="34" charset="0"/>
                <a:ea typeface="Inter" pitchFamily="34" charset="-122"/>
                <a:cs typeface="Inter" pitchFamily="34" charset="-120"/>
              </a:rPr>
              <a:t>Helping People with Type 1 Diabetes Live Safer Lives</a:t>
            </a:r>
            <a:endParaRPr lang="en-US" sz="1200" dirty="0">
              <a:solidFill>
                <a:srgbClr val="718096"/>
              </a:solidFill>
              <a:latin typeface="Inter" pitchFamily="34" charset="0"/>
              <a:ea typeface="Inter" pitchFamily="34" charset="-122"/>
              <a:cs typeface="Inter" pitchFamily="34" charset="-120"/>
            </a:endParaRPr>
          </a:p>
        </p:txBody>
      </p:sp>
      <p:pic>
        <p:nvPicPr>
          <p:cNvPr id="8" name="Image 2" descr="preencoded.png"/>
          <p:cNvPicPr>
            <a:picLocks noChangeAspect="1"/>
          </p:cNvPicPr>
          <p:nvPr/>
        </p:nvPicPr>
        <p:blipFill>
          <a:blip r:embed="rId3"/>
          <a:stretch>
            <a:fillRect/>
          </a:stretch>
        </p:blipFill>
        <p:spPr>
          <a:xfrm>
            <a:off x="4396105" y="2821940"/>
            <a:ext cx="351790" cy="454660"/>
          </a:xfrm>
          <a:prstGeom prst="rect">
            <a:avLst/>
          </a:prstGeom>
        </p:spPr>
      </p:pic>
      <p:sp>
        <p:nvSpPr>
          <p:cNvPr id="9" name="Text 4"/>
          <p:cNvSpPr/>
          <p:nvPr/>
        </p:nvSpPr>
        <p:spPr>
          <a:xfrm>
            <a:off x="4938395" y="2891790"/>
            <a:ext cx="808990" cy="501015"/>
          </a:xfrm>
          <a:prstGeom prst="rect">
            <a:avLst/>
          </a:prstGeom>
          <a:noFill/>
        </p:spPr>
        <p:txBody>
          <a:bodyPr wrap="none" lIns="0" tIns="0" rIns="0" bIns="0" rtlCol="0" anchor="t">
            <a:noAutofit/>
          </a:bodyPr>
          <a:lstStyle/>
          <a:p>
            <a:pPr marL="0" indent="0" algn="l">
              <a:lnSpc>
                <a:spcPts val="1400"/>
              </a:lnSpc>
              <a:buNone/>
            </a:pPr>
            <a:r>
              <a:rPr lang="en-US" sz="1200" dirty="0">
                <a:solidFill>
                  <a:srgbClr val="718096"/>
                </a:solidFill>
                <a:latin typeface="Inter" pitchFamily="34" charset="0"/>
                <a:ea typeface="Inter" pitchFamily="34" charset="-122"/>
                <a:cs typeface="Inter" pitchFamily="34" charset="-120"/>
              </a:rPr>
              <a:t>Smart App</a:t>
            </a:r>
            <a:endParaRPr lang="en-US" sz="1200" dirty="0">
              <a:solidFill>
                <a:srgbClr val="718096"/>
              </a:solidFill>
              <a:latin typeface="Inter" pitchFamily="34" charset="0"/>
              <a:ea typeface="Inter" pitchFamily="34" charset="-122"/>
              <a:cs typeface="Inter" pitchFamily="34" charset="-120"/>
            </a:endParaRPr>
          </a:p>
        </p:txBody>
      </p:sp>
      <p:pic>
        <p:nvPicPr>
          <p:cNvPr id="10" name="Image 3" descr="preencoded.png"/>
          <p:cNvPicPr>
            <a:picLocks noChangeAspect="1"/>
          </p:cNvPicPr>
          <p:nvPr/>
        </p:nvPicPr>
        <p:blipFill>
          <a:blip r:embed="rId4"/>
          <a:stretch>
            <a:fillRect/>
          </a:stretch>
        </p:blipFill>
        <p:spPr>
          <a:xfrm>
            <a:off x="4373245" y="3376295"/>
            <a:ext cx="469265" cy="454660"/>
          </a:xfrm>
          <a:prstGeom prst="rect">
            <a:avLst/>
          </a:prstGeom>
        </p:spPr>
      </p:pic>
      <p:sp>
        <p:nvSpPr>
          <p:cNvPr id="11" name="Text 5"/>
          <p:cNvSpPr/>
          <p:nvPr/>
        </p:nvSpPr>
        <p:spPr>
          <a:xfrm>
            <a:off x="4944110" y="3329940"/>
            <a:ext cx="889000" cy="501015"/>
          </a:xfrm>
          <a:prstGeom prst="rect">
            <a:avLst/>
          </a:prstGeom>
          <a:noFill/>
        </p:spPr>
        <p:txBody>
          <a:bodyPr wrap="none" lIns="0" tIns="0" rIns="0" bIns="0" rtlCol="0" anchor="t">
            <a:noAutofit/>
          </a:bodyPr>
          <a:lstStyle/>
          <a:p>
            <a:pPr marL="0" indent="0" algn="l">
              <a:lnSpc>
                <a:spcPts val="1400"/>
              </a:lnSpc>
              <a:buNone/>
            </a:pPr>
            <a:r>
              <a:rPr lang="en-US" sz="1200" dirty="0">
                <a:solidFill>
                  <a:srgbClr val="718096"/>
                </a:solidFill>
                <a:latin typeface="Inter" pitchFamily="34" charset="0"/>
                <a:ea typeface="Inter" pitchFamily="34" charset="-122"/>
                <a:cs typeface="Inter" pitchFamily="34" charset="-120"/>
              </a:rPr>
              <a:t>CGM + Pen</a:t>
            </a:r>
            <a:endParaRPr lang="en-US" sz="1200" dirty="0">
              <a:solidFill>
                <a:srgbClr val="718096"/>
              </a:solidFill>
              <a:latin typeface="Inter" pitchFamily="34" charset="0"/>
              <a:ea typeface="Inter" pitchFamily="34" charset="-122"/>
              <a:cs typeface="Inter" pitchFamily="34" charset="-120"/>
            </a:endParaRPr>
          </a:p>
        </p:txBody>
      </p:sp>
      <p:pic>
        <p:nvPicPr>
          <p:cNvPr id="12" name="Image 4" descr="preencoded.png"/>
          <p:cNvPicPr>
            <a:picLocks noChangeAspect="1"/>
          </p:cNvPicPr>
          <p:nvPr/>
        </p:nvPicPr>
        <p:blipFill>
          <a:blip r:embed="rId5"/>
          <a:stretch>
            <a:fillRect/>
          </a:stretch>
        </p:blipFill>
        <p:spPr>
          <a:xfrm>
            <a:off x="4278630" y="3882390"/>
            <a:ext cx="469265" cy="454660"/>
          </a:xfrm>
          <a:prstGeom prst="rect">
            <a:avLst/>
          </a:prstGeom>
        </p:spPr>
      </p:pic>
      <p:sp>
        <p:nvSpPr>
          <p:cNvPr id="13" name="Text 6"/>
          <p:cNvSpPr/>
          <p:nvPr/>
        </p:nvSpPr>
        <p:spPr>
          <a:xfrm>
            <a:off x="4916170" y="3882390"/>
            <a:ext cx="1271905" cy="501015"/>
          </a:xfrm>
          <a:prstGeom prst="rect">
            <a:avLst/>
          </a:prstGeom>
          <a:noFill/>
        </p:spPr>
        <p:txBody>
          <a:bodyPr wrap="none" lIns="0" tIns="0" rIns="0" bIns="0" rtlCol="0" anchor="t">
            <a:noAutofit/>
          </a:bodyPr>
          <a:lstStyle/>
          <a:p>
            <a:pPr marL="0" indent="0" algn="l">
              <a:lnSpc>
                <a:spcPts val="1400"/>
              </a:lnSpc>
              <a:buNone/>
            </a:pPr>
            <a:r>
              <a:rPr lang="en-US" sz="1200" dirty="0">
                <a:solidFill>
                  <a:srgbClr val="718096"/>
                </a:solidFill>
                <a:latin typeface="Inter" pitchFamily="34" charset="0"/>
                <a:ea typeface="Inter" pitchFamily="34" charset="-122"/>
                <a:cs typeface="Inter" pitchFamily="34" charset="-120"/>
              </a:rPr>
              <a:t>Clinically Proven</a:t>
            </a:r>
            <a:endParaRPr lang="en-US" sz="1200" dirty="0">
              <a:solidFill>
                <a:srgbClr val="718096"/>
              </a:solidFill>
              <a:latin typeface="Inter" pitchFamily="34" charset="0"/>
              <a:ea typeface="Inter" pitchFamily="34" charset="-122"/>
              <a:cs typeface="Inter"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433215" y="1653778"/>
            <a:ext cx="1705570" cy="857250"/>
          </a:xfrm>
          <a:prstGeom prst="rect">
            <a:avLst/>
          </a:prstGeom>
          <a:noFill/>
        </p:spPr>
        <p:txBody>
          <a:bodyPr wrap="none" lIns="0" tIns="0" rIns="0" bIns="0" rtlCol="0" anchor="t">
            <a:spAutoFit/>
          </a:bodyPr>
          <a:lstStyle/>
          <a:p>
            <a:pPr marL="0" indent="0" algn="ctr">
              <a:lnSpc>
                <a:spcPts val="6800"/>
              </a:lnSpc>
              <a:buNone/>
            </a:pPr>
            <a:r>
              <a:rPr lang="en-US" sz="6220" b="1" dirty="0">
                <a:solidFill>
                  <a:srgbClr val="ED8936"/>
                </a:solidFill>
                <a:latin typeface="Inter" pitchFamily="34" charset="0"/>
                <a:ea typeface="Inter" pitchFamily="34" charset="-122"/>
                <a:cs typeface="Inter" pitchFamily="34" charset="-120"/>
              </a:rPr>
              <a:t>365</a:t>
            </a:r>
            <a:endParaRPr lang="en-US" sz="6220" dirty="0"/>
          </a:p>
        </p:txBody>
      </p:sp>
      <p:sp>
        <p:nvSpPr>
          <p:cNvPr id="4" name="Text 1"/>
          <p:cNvSpPr/>
          <p:nvPr/>
        </p:nvSpPr>
        <p:spPr>
          <a:xfrm>
            <a:off x="1418927" y="2582466"/>
            <a:ext cx="1734145" cy="346472"/>
          </a:xfrm>
          <a:prstGeom prst="rect">
            <a:avLst/>
          </a:prstGeom>
          <a:noFill/>
        </p:spPr>
        <p:txBody>
          <a:bodyPr wrap="none" lIns="0" tIns="0" rIns="0" bIns="0" rtlCol="0" anchor="t">
            <a:spAutoFit/>
          </a:bodyPr>
          <a:lstStyle/>
          <a:p>
            <a:pPr marL="0" indent="0" algn="ctr">
              <a:lnSpc>
                <a:spcPts val="2700"/>
              </a:lnSpc>
              <a:buNone/>
            </a:pPr>
            <a:r>
              <a:rPr lang="en-US" sz="2145" dirty="0">
                <a:solidFill>
                  <a:srgbClr val="718096"/>
                </a:solidFill>
                <a:latin typeface="Inter" pitchFamily="34" charset="0"/>
                <a:ea typeface="Inter" pitchFamily="34" charset="-122"/>
                <a:cs typeface="Inter" pitchFamily="34" charset="-120"/>
              </a:rPr>
              <a:t>DAYS / YEAR</a:t>
            </a:r>
            <a:endParaRPr lang="en-US" sz="2145" dirty="0"/>
          </a:p>
        </p:txBody>
      </p:sp>
      <p:sp>
        <p:nvSpPr>
          <p:cNvPr id="5" name="Text 2"/>
          <p:cNvSpPr/>
          <p:nvPr/>
        </p:nvSpPr>
        <p:spPr>
          <a:xfrm>
            <a:off x="1316236" y="3143250"/>
            <a:ext cx="1939528" cy="346472"/>
          </a:xfrm>
          <a:prstGeom prst="rect">
            <a:avLst/>
          </a:prstGeom>
          <a:noFill/>
        </p:spPr>
        <p:txBody>
          <a:bodyPr wrap="none" lIns="0" tIns="0" rIns="0" bIns="0" rtlCol="0" anchor="t">
            <a:spAutoFit/>
          </a:bodyPr>
          <a:lstStyle/>
          <a:p>
            <a:pPr marL="0" indent="0" algn="ctr">
              <a:lnSpc>
                <a:spcPts val="2700"/>
              </a:lnSpc>
              <a:buNone/>
            </a:pPr>
            <a:r>
              <a:rPr lang="en-US" sz="2145" dirty="0">
                <a:solidFill>
                  <a:srgbClr val="718096"/>
                </a:solidFill>
                <a:latin typeface="Inter" pitchFamily="34" charset="0"/>
                <a:ea typeface="Inter" pitchFamily="34" charset="-122"/>
                <a:cs typeface="Inter" pitchFamily="34" charset="-120"/>
              </a:rPr>
              <a:t>Never-Ending Decisions</a:t>
            </a:r>
            <a:endParaRPr lang="en-US" sz="2145" dirty="0"/>
          </a:p>
        </p:txBody>
      </p:sp>
      <p:sp>
        <p:nvSpPr>
          <p:cNvPr id="6" name="Text 3"/>
          <p:cNvSpPr/>
          <p:nvPr/>
        </p:nvSpPr>
        <p:spPr>
          <a:xfrm>
            <a:off x="4389755" y="1181735"/>
            <a:ext cx="4182745" cy="1972310"/>
          </a:xfrm>
          <a:prstGeom prst="rect">
            <a:avLst/>
          </a:prstGeom>
          <a:noFill/>
        </p:spPr>
        <p:txBody>
          <a:bodyPr wrap="square" lIns="0" tIns="0" rIns="0" bIns="0" rtlCol="0" anchor="t">
            <a:noAutofit/>
          </a:bodyPr>
          <a:lstStyle/>
          <a:p>
            <a:pPr marL="0" indent="0" algn="l">
              <a:lnSpc>
                <a:spcPts val="2200"/>
              </a:lnSpc>
              <a:buNone/>
            </a:pPr>
            <a:r>
              <a:rPr lang="en-US" b="1" dirty="0">
                <a:solidFill>
                  <a:srgbClr val="2D3748"/>
                </a:solidFill>
                <a:latin typeface="Inter" pitchFamily="34" charset="0"/>
                <a:ea typeface="Inter" pitchFamily="34" charset="-122"/>
                <a:cs typeface="Inter" pitchFamily="34" charset="-120"/>
              </a:rPr>
              <a:t>Living With Type 1 Diabetes Is a Full-Time Job</a:t>
            </a:r>
            <a:endParaRPr lang="en-US" b="1" dirty="0">
              <a:solidFill>
                <a:srgbClr val="2D3748"/>
              </a:solidFill>
              <a:latin typeface="Inter" pitchFamily="34" charset="0"/>
              <a:ea typeface="Inter" pitchFamily="34" charset="-122"/>
              <a:cs typeface="Inter" pitchFamily="34" charset="-120"/>
            </a:endParaRPr>
          </a:p>
        </p:txBody>
      </p:sp>
      <p:sp>
        <p:nvSpPr>
          <p:cNvPr id="7" name="Text 4"/>
          <p:cNvSpPr/>
          <p:nvPr/>
        </p:nvSpPr>
        <p:spPr>
          <a:xfrm>
            <a:off x="4389755" y="1944370"/>
            <a:ext cx="4182745" cy="2628900"/>
          </a:xfrm>
          <a:prstGeom prst="rect">
            <a:avLst/>
          </a:prstGeom>
          <a:noFill/>
        </p:spPr>
        <p:txBody>
          <a:bodyPr wrap="square" lIns="0"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Every meal, every snack, every activity demands a decision: How many carbs? How much insulin? How will my body respond? One wrong estimate can cause dangerous hypoglycaemia — or years of silent damage.</a:t>
            </a:r>
            <a:endParaRPr lang="en-US" sz="1040" dirty="0">
              <a:solidFill>
                <a:srgbClr val="718096"/>
              </a:solidFill>
              <a:latin typeface="Inter" pitchFamily="34" charset="0"/>
              <a:ea typeface="Inter" pitchFamily="34" charset="-122"/>
              <a:cs typeface="Inter" pitchFamily="34" charset="-120"/>
            </a:endParaRPr>
          </a:p>
        </p:txBody>
      </p:sp>
      <p:sp>
        <p:nvSpPr>
          <p:cNvPr id="8" name="Text 5"/>
          <p:cNvSpPr/>
          <p:nvPr>
            <p:custDataLst>
              <p:tags r:id="rId2"/>
            </p:custDataLst>
          </p:nvPr>
        </p:nvSpPr>
        <p:spPr>
          <a:xfrm>
            <a:off x="4389755" y="2783205"/>
            <a:ext cx="4182745" cy="614680"/>
          </a:xfrm>
          <a:prstGeom prst="rect">
            <a:avLst/>
          </a:prstGeom>
          <a:noFill/>
        </p:spPr>
        <p:txBody>
          <a:bodyPr wrap="none" lIns="212598"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365 days a year — no breaks, no holidays, no rest.</a:t>
            </a:r>
            <a:endParaRPr lang="en-US" sz="1040" dirty="0">
              <a:solidFill>
                <a:srgbClr val="718096"/>
              </a:solidFill>
              <a:latin typeface="Inter" pitchFamily="34" charset="0"/>
              <a:ea typeface="Inter" pitchFamily="34" charset="-122"/>
              <a:cs typeface="Inter" pitchFamily="34" charset="-120"/>
            </a:endParaRPr>
          </a:p>
        </p:txBody>
      </p:sp>
      <p:sp>
        <p:nvSpPr>
          <p:cNvPr id="9" name="Text 6"/>
          <p:cNvSpPr/>
          <p:nvPr>
            <p:custDataLst>
              <p:tags r:id="rId3"/>
            </p:custDataLst>
          </p:nvPr>
        </p:nvSpPr>
        <p:spPr>
          <a:xfrm>
            <a:off x="4389755" y="3061970"/>
            <a:ext cx="4182745" cy="1231265"/>
          </a:xfrm>
          <a:prstGeom prst="rect">
            <a:avLst/>
          </a:prstGeom>
          <a:noFill/>
        </p:spPr>
        <p:txBody>
          <a:bodyPr wrap="square" lIns="212598"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One wrong estimate: hypoglycaemia, hospital visits, or long-term complications.</a:t>
            </a:r>
            <a:endParaRPr lang="en-US" sz="1040" dirty="0">
              <a:solidFill>
                <a:srgbClr val="718096"/>
              </a:solidFill>
              <a:latin typeface="Inter" pitchFamily="34" charset="0"/>
              <a:ea typeface="Inter" pitchFamily="34" charset="-122"/>
              <a:cs typeface="Inter" pitchFamily="34" charset="-120"/>
            </a:endParaRPr>
          </a:p>
        </p:txBody>
      </p:sp>
      <p:sp>
        <p:nvSpPr>
          <p:cNvPr id="10" name="Text 7"/>
          <p:cNvSpPr/>
          <p:nvPr>
            <p:custDataLst>
              <p:tags r:id="rId4"/>
            </p:custDataLst>
          </p:nvPr>
        </p:nvSpPr>
        <p:spPr>
          <a:xfrm>
            <a:off x="4389755" y="3511550"/>
            <a:ext cx="4182745" cy="1231265"/>
          </a:xfrm>
          <a:prstGeom prst="rect">
            <a:avLst/>
          </a:prstGeom>
          <a:noFill/>
        </p:spPr>
        <p:txBody>
          <a:bodyPr wrap="square" lIns="212598"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Patients become their own pancreas — every single day, for life.</a:t>
            </a:r>
            <a:endParaRPr lang="en-US" sz="1040" dirty="0">
              <a:solidFill>
                <a:srgbClr val="718096"/>
              </a:solidFill>
              <a:latin typeface="Inter" pitchFamily="34" charset="0"/>
              <a:ea typeface="Inter" pitchFamily="34" charset="-122"/>
              <a:cs typeface="Inter" pitchFamily="34" charset="-120"/>
            </a:endParaRPr>
          </a:p>
        </p:txBody>
      </p:sp>
      <p:sp>
        <p:nvSpPr>
          <p:cNvPr id="11" name="Text 8"/>
          <p:cNvSpPr/>
          <p:nvPr>
            <p:custDataLst>
              <p:tags r:id="rId5"/>
            </p:custDataLst>
          </p:nvPr>
        </p:nvSpPr>
        <p:spPr>
          <a:xfrm>
            <a:off x="4304030" y="2768600"/>
            <a:ext cx="97155" cy="770255"/>
          </a:xfrm>
          <a:prstGeom prst="rect">
            <a:avLst/>
          </a:prstGeom>
          <a:noFill/>
        </p:spPr>
        <p:txBody>
          <a:bodyPr wrap="none" lIns="0" tIns="0" rIns="0" bIns="0" rtlCol="0" anchor="t">
            <a:noAutofit/>
          </a:bodyPr>
          <a:lstStyle/>
          <a:p>
            <a:pPr marL="0" indent="0" algn="l">
              <a:lnSpc>
                <a:spcPts val="1700"/>
              </a:lnSpc>
              <a:buNone/>
            </a:pPr>
            <a:r>
              <a:rPr lang="en-US" sz="1400" dirty="0">
                <a:solidFill>
                  <a:srgbClr val="ED8936"/>
                </a:solidFill>
                <a:latin typeface="Inter" pitchFamily="34" charset="0"/>
                <a:ea typeface="Inter" pitchFamily="34" charset="-122"/>
                <a:cs typeface="Inter" pitchFamily="34" charset="-120"/>
              </a:rPr>
              <a:t>•</a:t>
            </a:r>
            <a:endParaRPr lang="en-US" sz="1400" dirty="0">
              <a:solidFill>
                <a:srgbClr val="ED8936"/>
              </a:solidFill>
              <a:latin typeface="Inter" pitchFamily="34" charset="0"/>
              <a:ea typeface="Inter" pitchFamily="34" charset="-122"/>
              <a:cs typeface="Inter" pitchFamily="34" charset="-120"/>
            </a:endParaRPr>
          </a:p>
        </p:txBody>
      </p:sp>
      <p:sp>
        <p:nvSpPr>
          <p:cNvPr id="12" name="Text 9"/>
          <p:cNvSpPr/>
          <p:nvPr>
            <p:custDataLst>
              <p:tags r:id="rId6"/>
            </p:custDataLst>
          </p:nvPr>
        </p:nvSpPr>
        <p:spPr>
          <a:xfrm>
            <a:off x="4304030" y="3047365"/>
            <a:ext cx="97155" cy="770255"/>
          </a:xfrm>
          <a:prstGeom prst="rect">
            <a:avLst/>
          </a:prstGeom>
          <a:noFill/>
        </p:spPr>
        <p:txBody>
          <a:bodyPr wrap="none" lIns="0" tIns="0" rIns="0" bIns="0" rtlCol="0" anchor="t">
            <a:noAutofit/>
          </a:bodyPr>
          <a:lstStyle/>
          <a:p>
            <a:pPr marL="0" indent="0" algn="l">
              <a:lnSpc>
                <a:spcPts val="1700"/>
              </a:lnSpc>
              <a:buNone/>
            </a:pPr>
            <a:r>
              <a:rPr lang="en-US" sz="1400" dirty="0">
                <a:solidFill>
                  <a:srgbClr val="ED8936"/>
                </a:solidFill>
                <a:latin typeface="Inter" pitchFamily="34" charset="0"/>
                <a:ea typeface="Inter" pitchFamily="34" charset="-122"/>
                <a:cs typeface="Inter" pitchFamily="34" charset="-120"/>
              </a:rPr>
              <a:t>•</a:t>
            </a:r>
            <a:endParaRPr lang="en-US" sz="1400" dirty="0">
              <a:solidFill>
                <a:srgbClr val="ED8936"/>
              </a:solidFill>
              <a:latin typeface="Inter" pitchFamily="34" charset="0"/>
              <a:ea typeface="Inter" pitchFamily="34" charset="-122"/>
              <a:cs typeface="Inter" pitchFamily="34" charset="-120"/>
            </a:endParaRPr>
          </a:p>
        </p:txBody>
      </p:sp>
      <p:sp>
        <p:nvSpPr>
          <p:cNvPr id="13" name="Text 10"/>
          <p:cNvSpPr/>
          <p:nvPr>
            <p:custDataLst>
              <p:tags r:id="rId7"/>
            </p:custDataLst>
          </p:nvPr>
        </p:nvSpPr>
        <p:spPr>
          <a:xfrm>
            <a:off x="4304030" y="3497580"/>
            <a:ext cx="97155" cy="770255"/>
          </a:xfrm>
          <a:prstGeom prst="rect">
            <a:avLst/>
          </a:prstGeom>
          <a:noFill/>
        </p:spPr>
        <p:txBody>
          <a:bodyPr wrap="none" lIns="0" tIns="0" rIns="0" bIns="0" rtlCol="0" anchor="t">
            <a:noAutofit/>
          </a:bodyPr>
          <a:lstStyle/>
          <a:p>
            <a:pPr marL="0" indent="0" algn="l">
              <a:lnSpc>
                <a:spcPts val="1700"/>
              </a:lnSpc>
              <a:buNone/>
            </a:pPr>
            <a:r>
              <a:rPr lang="en-US" sz="1400" dirty="0">
                <a:solidFill>
                  <a:srgbClr val="ED8936"/>
                </a:solidFill>
                <a:latin typeface="Inter" pitchFamily="34" charset="0"/>
                <a:ea typeface="Inter" pitchFamily="34" charset="-122"/>
                <a:cs typeface="Inter" pitchFamily="34" charset="-120"/>
              </a:rPr>
              <a:t>•</a:t>
            </a:r>
            <a:endParaRPr lang="en-US" sz="1400" dirty="0">
              <a:solidFill>
                <a:srgbClr val="ED8936"/>
              </a:solidFill>
              <a:latin typeface="Inter" pitchFamily="34" charset="0"/>
              <a:ea typeface="Inter" pitchFamily="34" charset="-122"/>
              <a:cs typeface="Inter"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1"/>
          <p:cNvSpPr/>
          <p:nvPr/>
        </p:nvSpPr>
        <p:spPr>
          <a:xfrm>
            <a:off x="1132185" y="3939378"/>
            <a:ext cx="1952030" cy="173236"/>
          </a:xfrm>
          <a:prstGeom prst="rect">
            <a:avLst/>
          </a:prstGeom>
          <a:noFill/>
        </p:spPr>
        <p:txBody>
          <a:bodyPr wrap="none" lIns="0" tIns="0" rIns="0" bIns="0" rtlCol="0" anchor="t">
            <a:spAutoFit/>
          </a:bodyPr>
          <a:lstStyle/>
          <a:p>
            <a:pPr marL="0" indent="0" algn="ctr">
              <a:lnSpc>
                <a:spcPts val="1400"/>
              </a:lnSpc>
              <a:buNone/>
            </a:pPr>
            <a:endParaRPr lang="en-US" sz="1050" dirty="0"/>
          </a:p>
        </p:txBody>
      </p:sp>
      <p:sp>
        <p:nvSpPr>
          <p:cNvPr id="5" name="Text 2"/>
          <p:cNvSpPr/>
          <p:nvPr/>
        </p:nvSpPr>
        <p:spPr>
          <a:xfrm>
            <a:off x="571500" y="4112674"/>
            <a:ext cx="3429000" cy="365727"/>
          </a:xfrm>
          <a:prstGeom prst="rect">
            <a:avLst/>
          </a:prstGeom>
          <a:noFill/>
        </p:spPr>
        <p:txBody>
          <a:bodyPr wrap="square" lIns="0" tIns="0" rIns="0" bIns="0" rtlCol="0" anchor="t">
            <a:spAutoFit/>
          </a:bodyPr>
          <a:lstStyle/>
          <a:p>
            <a:pPr marL="0" indent="0" algn="ctr">
              <a:lnSpc>
                <a:spcPts val="1400"/>
              </a:lnSpc>
              <a:buNone/>
            </a:pPr>
            <a:endParaRPr lang="en-US" sz="835" dirty="0"/>
          </a:p>
        </p:txBody>
      </p:sp>
      <p:sp>
        <p:nvSpPr>
          <p:cNvPr id="6" name="Text 3"/>
          <p:cNvSpPr/>
          <p:nvPr/>
        </p:nvSpPr>
        <p:spPr>
          <a:xfrm>
            <a:off x="3719195" y="781685"/>
            <a:ext cx="4853305" cy="1324610"/>
          </a:xfrm>
          <a:prstGeom prst="rect">
            <a:avLst/>
          </a:prstGeom>
          <a:noFill/>
        </p:spPr>
        <p:txBody>
          <a:bodyPr wrap="none" lIns="0" tIns="0" rIns="0" bIns="0" rtlCol="0" anchor="t">
            <a:noAutofit/>
          </a:bodyPr>
          <a:lstStyle/>
          <a:p>
            <a:pPr marL="0" indent="0" algn="l">
              <a:lnSpc>
                <a:spcPts val="2200"/>
              </a:lnSpc>
              <a:buNone/>
            </a:pPr>
            <a:r>
              <a:rPr lang="en-US" sz="2000" b="1" dirty="0">
                <a:solidFill>
                  <a:srgbClr val="2D3748"/>
                </a:solidFill>
                <a:latin typeface="Inter" pitchFamily="34" charset="0"/>
                <a:ea typeface="Inter" pitchFamily="34" charset="-122"/>
                <a:cs typeface="Inter" pitchFamily="34" charset="-120"/>
              </a:rPr>
              <a:t>Always Connected. Always Informed.</a:t>
            </a:r>
            <a:endParaRPr lang="en-US" sz="2000" b="1" dirty="0">
              <a:solidFill>
                <a:srgbClr val="2D3748"/>
              </a:solidFill>
              <a:latin typeface="Inter" pitchFamily="34" charset="0"/>
              <a:ea typeface="Inter" pitchFamily="34" charset="-122"/>
              <a:cs typeface="Inter" pitchFamily="34" charset="-120"/>
            </a:endParaRPr>
          </a:p>
        </p:txBody>
      </p:sp>
      <p:sp>
        <p:nvSpPr>
          <p:cNvPr id="7" name="Text 4"/>
          <p:cNvSpPr/>
          <p:nvPr/>
        </p:nvSpPr>
        <p:spPr>
          <a:xfrm>
            <a:off x="3719195" y="1262380"/>
            <a:ext cx="4853305" cy="2649220"/>
          </a:xfrm>
          <a:prstGeom prst="rect">
            <a:avLst/>
          </a:prstGeom>
          <a:noFill/>
        </p:spPr>
        <p:txBody>
          <a:bodyPr wrap="square" lIns="0"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DiaTwin connects directly to the FreeStyle Libre CGM sensor, pulling live glucose readings automatically — no manual logging, no guesswork.</a:t>
            </a:r>
            <a:endParaRPr lang="en-US" sz="1040" dirty="0">
              <a:solidFill>
                <a:srgbClr val="718096"/>
              </a:solidFill>
              <a:latin typeface="Inter" pitchFamily="34" charset="0"/>
              <a:ea typeface="Inter" pitchFamily="34" charset="-122"/>
              <a:cs typeface="Inter" pitchFamily="34" charset="-120"/>
            </a:endParaRPr>
          </a:p>
        </p:txBody>
      </p:sp>
      <p:sp>
        <p:nvSpPr>
          <p:cNvPr id="8" name="Text 5"/>
          <p:cNvSpPr/>
          <p:nvPr/>
        </p:nvSpPr>
        <p:spPr>
          <a:xfrm>
            <a:off x="3719195" y="1929130"/>
            <a:ext cx="4853305" cy="827405"/>
          </a:xfrm>
          <a:prstGeom prst="rect">
            <a:avLst/>
          </a:prstGeom>
          <a:noFill/>
        </p:spPr>
        <p:txBody>
          <a:bodyPr wrap="none" lIns="212598"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Zero manual entry — data flows in automatically</a:t>
            </a:r>
            <a:endParaRPr lang="en-US" sz="1040" dirty="0">
              <a:solidFill>
                <a:srgbClr val="718096"/>
              </a:solidFill>
              <a:latin typeface="Inter" pitchFamily="34" charset="0"/>
              <a:ea typeface="Inter" pitchFamily="34" charset="-122"/>
              <a:cs typeface="Inter" pitchFamily="34" charset="-120"/>
            </a:endParaRPr>
          </a:p>
        </p:txBody>
      </p:sp>
      <p:sp>
        <p:nvSpPr>
          <p:cNvPr id="9" name="Text 6"/>
          <p:cNvSpPr/>
          <p:nvPr/>
        </p:nvSpPr>
        <p:spPr>
          <a:xfrm>
            <a:off x="3719195" y="2207895"/>
            <a:ext cx="4853305" cy="827405"/>
          </a:xfrm>
          <a:prstGeom prst="rect">
            <a:avLst/>
          </a:prstGeom>
          <a:noFill/>
        </p:spPr>
        <p:txBody>
          <a:bodyPr wrap="none" lIns="212598"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Continuous connection to FreeStyle Libre, around the clock</a:t>
            </a:r>
            <a:endParaRPr lang="en-US" sz="1040" dirty="0">
              <a:solidFill>
                <a:srgbClr val="718096"/>
              </a:solidFill>
              <a:latin typeface="Inter" pitchFamily="34" charset="0"/>
              <a:ea typeface="Inter" pitchFamily="34" charset="-122"/>
              <a:cs typeface="Inter" pitchFamily="34" charset="-120"/>
            </a:endParaRPr>
          </a:p>
        </p:txBody>
      </p:sp>
      <p:sp>
        <p:nvSpPr>
          <p:cNvPr id="10" name="Text 7"/>
          <p:cNvSpPr/>
          <p:nvPr/>
        </p:nvSpPr>
        <p:spPr>
          <a:xfrm>
            <a:off x="3719195" y="2486025"/>
            <a:ext cx="4853305" cy="827405"/>
          </a:xfrm>
          <a:prstGeom prst="rect">
            <a:avLst/>
          </a:prstGeom>
          <a:noFill/>
        </p:spPr>
        <p:txBody>
          <a:bodyPr wrap="none" lIns="212598" tIns="0" rIns="0" bIns="0" rtlCol="0" anchor="t">
            <a:noAutofit/>
          </a:bodyPr>
          <a:lstStyle/>
          <a:p>
            <a:pPr marL="0" indent="0" algn="l">
              <a:lnSpc>
                <a:spcPts val="1400"/>
              </a:lnSpc>
              <a:buNone/>
            </a:pPr>
            <a:r>
              <a:rPr lang="en-US" sz="1040" dirty="0">
                <a:solidFill>
                  <a:srgbClr val="718096"/>
                </a:solidFill>
                <a:latin typeface="Inter" pitchFamily="34" charset="0"/>
                <a:ea typeface="Inter" pitchFamily="34" charset="-122"/>
                <a:cs typeface="Inter" pitchFamily="34" charset="-120"/>
              </a:rPr>
              <a:t>A seamless link between clinical data and everyday decisions</a:t>
            </a:r>
            <a:endParaRPr lang="en-US" sz="1040" dirty="0">
              <a:solidFill>
                <a:srgbClr val="718096"/>
              </a:solidFill>
              <a:latin typeface="Inter" pitchFamily="34" charset="0"/>
              <a:ea typeface="Inter" pitchFamily="34" charset="-122"/>
              <a:cs typeface="Inter" pitchFamily="34" charset="-120"/>
            </a:endParaRPr>
          </a:p>
        </p:txBody>
      </p:sp>
      <p:sp>
        <p:nvSpPr>
          <p:cNvPr id="11" name="Text 8"/>
          <p:cNvSpPr/>
          <p:nvPr/>
        </p:nvSpPr>
        <p:spPr>
          <a:xfrm>
            <a:off x="3700780" y="1913255"/>
            <a:ext cx="113665" cy="1035685"/>
          </a:xfrm>
          <a:prstGeom prst="rect">
            <a:avLst/>
          </a:prstGeom>
          <a:noFill/>
        </p:spPr>
        <p:txBody>
          <a:bodyPr wrap="none" lIns="0" tIns="0" rIns="0" bIns="0" rtlCol="0" anchor="t">
            <a:noAutofit/>
          </a:bodyPr>
          <a:lstStyle/>
          <a:p>
            <a:pPr marL="0" indent="0" algn="l">
              <a:lnSpc>
                <a:spcPts val="1700"/>
              </a:lnSpc>
              <a:buNone/>
            </a:pPr>
            <a:r>
              <a:rPr lang="en-US" sz="1400" dirty="0">
                <a:solidFill>
                  <a:srgbClr val="ED8936"/>
                </a:solidFill>
                <a:latin typeface="Inter" pitchFamily="34" charset="0"/>
                <a:ea typeface="Inter" pitchFamily="34" charset="-122"/>
                <a:cs typeface="Inter" pitchFamily="34" charset="-120"/>
              </a:rPr>
              <a:t>•</a:t>
            </a:r>
            <a:endParaRPr lang="en-US" sz="1400" dirty="0">
              <a:solidFill>
                <a:srgbClr val="ED8936"/>
              </a:solidFill>
              <a:latin typeface="Inter" pitchFamily="34" charset="0"/>
              <a:ea typeface="Inter" pitchFamily="34" charset="-122"/>
              <a:cs typeface="Inter" pitchFamily="34" charset="-120"/>
            </a:endParaRPr>
          </a:p>
        </p:txBody>
      </p:sp>
      <p:sp>
        <p:nvSpPr>
          <p:cNvPr id="12" name="Text 9"/>
          <p:cNvSpPr/>
          <p:nvPr/>
        </p:nvSpPr>
        <p:spPr>
          <a:xfrm>
            <a:off x="3700780" y="2192020"/>
            <a:ext cx="113665" cy="1035685"/>
          </a:xfrm>
          <a:prstGeom prst="rect">
            <a:avLst/>
          </a:prstGeom>
          <a:noFill/>
        </p:spPr>
        <p:txBody>
          <a:bodyPr wrap="none" lIns="0" tIns="0" rIns="0" bIns="0" rtlCol="0" anchor="t">
            <a:noAutofit/>
          </a:bodyPr>
          <a:lstStyle/>
          <a:p>
            <a:pPr marL="0" indent="0" algn="l">
              <a:lnSpc>
                <a:spcPts val="1700"/>
              </a:lnSpc>
              <a:buNone/>
            </a:pPr>
            <a:r>
              <a:rPr lang="en-US" sz="1400" dirty="0">
                <a:solidFill>
                  <a:srgbClr val="ED8936"/>
                </a:solidFill>
                <a:latin typeface="Inter" pitchFamily="34" charset="0"/>
                <a:ea typeface="Inter" pitchFamily="34" charset="-122"/>
                <a:cs typeface="Inter" pitchFamily="34" charset="-120"/>
              </a:rPr>
              <a:t>•</a:t>
            </a:r>
            <a:endParaRPr lang="en-US" sz="1400" dirty="0">
              <a:solidFill>
                <a:srgbClr val="ED8936"/>
              </a:solidFill>
              <a:latin typeface="Inter" pitchFamily="34" charset="0"/>
              <a:ea typeface="Inter" pitchFamily="34" charset="-122"/>
              <a:cs typeface="Inter" pitchFamily="34" charset="-120"/>
            </a:endParaRPr>
          </a:p>
        </p:txBody>
      </p:sp>
      <p:sp>
        <p:nvSpPr>
          <p:cNvPr id="13" name="Text 10"/>
          <p:cNvSpPr/>
          <p:nvPr/>
        </p:nvSpPr>
        <p:spPr>
          <a:xfrm>
            <a:off x="3700780" y="2470785"/>
            <a:ext cx="113665" cy="1035685"/>
          </a:xfrm>
          <a:prstGeom prst="rect">
            <a:avLst/>
          </a:prstGeom>
          <a:noFill/>
        </p:spPr>
        <p:txBody>
          <a:bodyPr wrap="none" lIns="0" tIns="0" rIns="0" bIns="0" rtlCol="0" anchor="t">
            <a:noAutofit/>
          </a:bodyPr>
          <a:lstStyle/>
          <a:p>
            <a:pPr marL="0" indent="0" algn="l">
              <a:lnSpc>
                <a:spcPts val="1700"/>
              </a:lnSpc>
              <a:buNone/>
            </a:pPr>
            <a:r>
              <a:rPr lang="en-US" sz="1400" dirty="0">
                <a:solidFill>
                  <a:srgbClr val="ED8936"/>
                </a:solidFill>
                <a:latin typeface="Inter" pitchFamily="34" charset="0"/>
                <a:ea typeface="Inter" pitchFamily="34" charset="-122"/>
                <a:cs typeface="Inter" pitchFamily="34" charset="-120"/>
              </a:rPr>
              <a:t>•</a:t>
            </a:r>
            <a:endParaRPr lang="en-US" sz="1400" dirty="0">
              <a:solidFill>
                <a:srgbClr val="ED8936"/>
              </a:solidFill>
              <a:latin typeface="Inter" pitchFamily="34" charset="0"/>
              <a:ea typeface="Inter" pitchFamily="34" charset="-122"/>
              <a:cs typeface="Inter" pitchFamily="34" charset="-120"/>
            </a:endParaRPr>
          </a:p>
        </p:txBody>
      </p:sp>
      <p:pic>
        <p:nvPicPr>
          <p:cNvPr id="14" name="Picture 13"/>
          <p:cNvPicPr>
            <a:picLocks noChangeAspect="1"/>
          </p:cNvPicPr>
          <p:nvPr/>
        </p:nvPicPr>
        <p:blipFill>
          <a:blip r:embed="rId2"/>
          <a:stretch>
            <a:fillRect/>
          </a:stretch>
        </p:blipFill>
        <p:spPr>
          <a:xfrm>
            <a:off x="570865" y="381000"/>
            <a:ext cx="2646680" cy="41776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971800" y="1633240"/>
            <a:ext cx="3200400" cy="2143125"/>
          </a:xfrm>
          <a:prstGeom prst="rect">
            <a:avLst/>
          </a:prstGeom>
          <a:solidFill>
            <a:srgbClr val="FFFFFF"/>
          </a:solidFill>
        </p:spPr>
      </p:sp>
      <p:pic>
        <p:nvPicPr>
          <p:cNvPr id="5" name="Image 2" descr="preencoded.png"/>
          <p:cNvPicPr>
            <a:picLocks noChangeAspect="1"/>
          </p:cNvPicPr>
          <p:nvPr/>
        </p:nvPicPr>
        <p:blipFill>
          <a:blip r:embed="rId2"/>
          <a:stretch>
            <a:fillRect/>
          </a:stretch>
        </p:blipFill>
        <p:spPr>
          <a:xfrm>
            <a:off x="205581" y="107176"/>
            <a:ext cx="2986088" cy="1928813"/>
          </a:xfrm>
          <a:prstGeom prst="rect">
            <a:avLst/>
          </a:prstGeom>
        </p:spPr>
      </p:pic>
      <p:sp>
        <p:nvSpPr>
          <p:cNvPr id="8" name="Text 3"/>
          <p:cNvSpPr/>
          <p:nvPr/>
        </p:nvSpPr>
        <p:spPr>
          <a:xfrm>
            <a:off x="4694555" y="459740"/>
            <a:ext cx="3818255" cy="974725"/>
          </a:xfrm>
          <a:prstGeom prst="rect">
            <a:avLst/>
          </a:prstGeom>
          <a:noFill/>
        </p:spPr>
        <p:txBody>
          <a:bodyPr wrap="square" lIns="0" tIns="0" rIns="0" bIns="0" rtlCol="0" anchor="t">
            <a:noAutofit/>
          </a:bodyPr>
          <a:lstStyle/>
          <a:p>
            <a:pPr marL="0" indent="0" algn="l">
              <a:lnSpc>
                <a:spcPts val="1900"/>
              </a:lnSpc>
              <a:buNone/>
            </a:pPr>
            <a:r>
              <a:rPr lang="en-US" sz="2400" b="1" dirty="0">
                <a:solidFill>
                  <a:srgbClr val="2D3748"/>
                </a:solidFill>
                <a:latin typeface="Inter" pitchFamily="34" charset="0"/>
                <a:ea typeface="Inter" pitchFamily="34" charset="-122"/>
                <a:cs typeface="Inter" pitchFamily="34" charset="-120"/>
              </a:rPr>
              <a:t>GLUCOSE DASHBOARD</a:t>
            </a:r>
            <a:br>
              <a:rPr lang="en-US" sz="2400" b="1" dirty="0">
                <a:solidFill>
                  <a:srgbClr val="2D3748"/>
                </a:solidFill>
                <a:latin typeface="Inter" pitchFamily="34" charset="0"/>
                <a:ea typeface="Inter" pitchFamily="34" charset="-122"/>
                <a:cs typeface="Inter" pitchFamily="34" charset="-120"/>
              </a:rPr>
            </a:br>
            <a:r>
              <a:rPr lang="en-US" sz="2400" b="1" dirty="0">
                <a:solidFill>
                  <a:srgbClr val="2D3748"/>
                </a:solidFill>
                <a:latin typeface="Inter" pitchFamily="34" charset="0"/>
                <a:ea typeface="Inter" pitchFamily="34" charset="-122"/>
                <a:cs typeface="Inter" pitchFamily="34" charset="-120"/>
              </a:rPr>
              <a:t> &amp;</a:t>
            </a:r>
            <a:br>
              <a:rPr lang="en-US" sz="2400" b="1" dirty="0">
                <a:solidFill>
                  <a:srgbClr val="2D3748"/>
                </a:solidFill>
                <a:latin typeface="Inter" pitchFamily="34" charset="0"/>
                <a:ea typeface="Inter" pitchFamily="34" charset="-122"/>
                <a:cs typeface="Inter" pitchFamily="34" charset="-120"/>
              </a:rPr>
            </a:br>
            <a:r>
              <a:rPr lang="en-US" sz="2400" b="1" dirty="0">
                <a:solidFill>
                  <a:srgbClr val="2D3748"/>
                </a:solidFill>
                <a:latin typeface="Inter" pitchFamily="34" charset="0"/>
                <a:ea typeface="Inter" pitchFamily="34" charset="-122"/>
                <a:cs typeface="Inter" pitchFamily="34" charset="-120"/>
              </a:rPr>
              <a:t> FORECAST</a:t>
            </a:r>
            <a:endParaRPr lang="en-US" sz="2400" b="1" dirty="0">
              <a:solidFill>
                <a:srgbClr val="2D3748"/>
              </a:solidFill>
              <a:latin typeface="Inter" pitchFamily="34" charset="0"/>
              <a:ea typeface="Inter" pitchFamily="34" charset="-122"/>
              <a:cs typeface="Inter" pitchFamily="34" charset="-120"/>
            </a:endParaRPr>
          </a:p>
        </p:txBody>
      </p:sp>
      <p:sp>
        <p:nvSpPr>
          <p:cNvPr id="9" name="Text 4"/>
          <p:cNvSpPr/>
          <p:nvPr/>
        </p:nvSpPr>
        <p:spPr>
          <a:xfrm>
            <a:off x="4571365" y="1769110"/>
            <a:ext cx="4144010" cy="1672590"/>
          </a:xfrm>
          <a:prstGeom prst="rect">
            <a:avLst/>
          </a:prstGeom>
          <a:noFill/>
        </p:spPr>
        <p:txBody>
          <a:bodyPr wrap="square" lIns="0" tIns="0" rIns="0" bIns="0" rtlCol="0" anchor="t">
            <a:noAutofit/>
          </a:bodyPr>
          <a:lstStyle/>
          <a:p>
            <a:pPr marL="0" indent="0" algn="l">
              <a:lnSpc>
                <a:spcPts val="1300"/>
              </a:lnSpc>
              <a:buNone/>
            </a:pPr>
            <a:r>
              <a:rPr lang="en-US" sz="1200" dirty="0">
                <a:solidFill>
                  <a:srgbClr val="718096"/>
                </a:solidFill>
                <a:latin typeface="Inter" pitchFamily="34" charset="0"/>
                <a:ea typeface="Inter" pitchFamily="34" charset="-122"/>
                <a:cs typeface="Inter" pitchFamily="34" charset="-120"/>
              </a:rPr>
              <a:t>The dashboard shows live glucose levels alongside a personalised baseline — revealing not just where blood sugar is right now, but exactly where it is heading.</a:t>
            </a:r>
            <a:endParaRPr lang="en-US" sz="1200" dirty="0">
              <a:solidFill>
                <a:srgbClr val="718096"/>
              </a:solidFill>
              <a:latin typeface="Inter" pitchFamily="34" charset="0"/>
              <a:ea typeface="Inter" pitchFamily="34" charset="-122"/>
              <a:cs typeface="Inter" pitchFamily="34" charset="-120"/>
            </a:endParaRPr>
          </a:p>
        </p:txBody>
      </p:sp>
      <p:sp>
        <p:nvSpPr>
          <p:cNvPr id="10" name="Text 5"/>
          <p:cNvSpPr/>
          <p:nvPr/>
        </p:nvSpPr>
        <p:spPr>
          <a:xfrm>
            <a:off x="4571365" y="2838450"/>
            <a:ext cx="4144010" cy="360045"/>
          </a:xfrm>
          <a:prstGeom prst="rect">
            <a:avLst/>
          </a:prstGeom>
          <a:noFill/>
        </p:spPr>
        <p:txBody>
          <a:bodyPr wrap="none" lIns="0" tIns="0" rIns="0" bIns="0" rtlCol="0" anchor="t">
            <a:noAutofit/>
          </a:bodyPr>
          <a:lstStyle/>
          <a:p>
            <a:pPr marL="0" indent="0" algn="l">
              <a:lnSpc>
                <a:spcPts val="1100"/>
              </a:lnSpc>
              <a:buNone/>
            </a:pPr>
            <a:r>
              <a:rPr lang="en-US" sz="1200" b="1" dirty="0">
                <a:solidFill>
                  <a:srgbClr val="2D3748"/>
                </a:solidFill>
                <a:latin typeface="Inter" pitchFamily="34" charset="0"/>
                <a:ea typeface="Inter" pitchFamily="34" charset="-122"/>
                <a:cs typeface="Inter" pitchFamily="34" charset="-120"/>
              </a:rPr>
              <a:t>Live Glucose Monitoring</a:t>
            </a:r>
            <a:endParaRPr lang="en-US" sz="1200" b="1" dirty="0">
              <a:solidFill>
                <a:srgbClr val="2D3748"/>
              </a:solidFill>
              <a:latin typeface="Inter" pitchFamily="34" charset="0"/>
              <a:ea typeface="Inter" pitchFamily="34" charset="-122"/>
              <a:cs typeface="Inter" pitchFamily="34" charset="-120"/>
            </a:endParaRPr>
          </a:p>
        </p:txBody>
      </p:sp>
      <p:sp>
        <p:nvSpPr>
          <p:cNvPr id="11" name="Text 6"/>
          <p:cNvSpPr/>
          <p:nvPr/>
        </p:nvSpPr>
        <p:spPr>
          <a:xfrm>
            <a:off x="4571365" y="3022600"/>
            <a:ext cx="4144010" cy="836295"/>
          </a:xfrm>
          <a:prstGeom prst="rect">
            <a:avLst/>
          </a:prstGeom>
          <a:noFill/>
        </p:spPr>
        <p:txBody>
          <a:bodyPr wrap="square" lIns="0" tIns="0" rIns="0" bIns="0" rtlCol="0" anchor="t">
            <a:noAutofit/>
          </a:bodyPr>
          <a:lstStyle/>
          <a:p>
            <a:pPr marL="0" indent="0" algn="l">
              <a:lnSpc>
                <a:spcPts val="1300"/>
              </a:lnSpc>
              <a:buNone/>
            </a:pPr>
            <a:r>
              <a:rPr lang="en-US" sz="1200" dirty="0">
                <a:solidFill>
                  <a:srgbClr val="718096"/>
                </a:solidFill>
                <a:latin typeface="Inter" pitchFamily="34" charset="0"/>
                <a:ea typeface="Inter" pitchFamily="34" charset="-122"/>
                <a:cs typeface="Inter" pitchFamily="34" charset="-120"/>
              </a:rPr>
              <a:t>Continuous CGM sync keeps every reading current and accurate.</a:t>
            </a:r>
            <a:endParaRPr lang="en-US" sz="1200" dirty="0">
              <a:solidFill>
                <a:srgbClr val="718096"/>
              </a:solidFill>
              <a:latin typeface="Inter" pitchFamily="34" charset="0"/>
              <a:ea typeface="Inter" pitchFamily="34" charset="-122"/>
              <a:cs typeface="Inter" pitchFamily="34" charset="-120"/>
            </a:endParaRPr>
          </a:p>
        </p:txBody>
      </p:sp>
      <p:sp>
        <p:nvSpPr>
          <p:cNvPr id="12" name="Text 7"/>
          <p:cNvSpPr/>
          <p:nvPr/>
        </p:nvSpPr>
        <p:spPr>
          <a:xfrm>
            <a:off x="4571365" y="3574415"/>
            <a:ext cx="4144010" cy="360045"/>
          </a:xfrm>
          <a:prstGeom prst="rect">
            <a:avLst/>
          </a:prstGeom>
          <a:noFill/>
        </p:spPr>
        <p:txBody>
          <a:bodyPr wrap="none" lIns="0" tIns="0" rIns="0" bIns="0" rtlCol="0" anchor="t">
            <a:noAutofit/>
          </a:bodyPr>
          <a:lstStyle/>
          <a:p>
            <a:pPr marL="0" indent="0" algn="l">
              <a:lnSpc>
                <a:spcPts val="1100"/>
              </a:lnSpc>
              <a:buNone/>
            </a:pPr>
            <a:r>
              <a:rPr lang="en-US" sz="1200" b="1" dirty="0">
                <a:solidFill>
                  <a:srgbClr val="2D3748"/>
                </a:solidFill>
                <a:latin typeface="Inter" pitchFamily="34" charset="0"/>
                <a:ea typeface="Inter" pitchFamily="34" charset="-122"/>
                <a:cs typeface="Inter" pitchFamily="34" charset="-120"/>
              </a:rPr>
              <a:t>4-Hour Glucose Forecast</a:t>
            </a:r>
            <a:endParaRPr lang="en-US" sz="1200" b="1" dirty="0">
              <a:solidFill>
                <a:srgbClr val="2D3748"/>
              </a:solidFill>
              <a:latin typeface="Inter" pitchFamily="34" charset="0"/>
              <a:ea typeface="Inter" pitchFamily="34" charset="-122"/>
              <a:cs typeface="Inter" pitchFamily="34" charset="-120"/>
            </a:endParaRPr>
          </a:p>
        </p:txBody>
      </p:sp>
      <p:sp>
        <p:nvSpPr>
          <p:cNvPr id="13" name="Text 8"/>
          <p:cNvSpPr/>
          <p:nvPr/>
        </p:nvSpPr>
        <p:spPr>
          <a:xfrm>
            <a:off x="4571365" y="3776345"/>
            <a:ext cx="4144010" cy="836295"/>
          </a:xfrm>
          <a:prstGeom prst="rect">
            <a:avLst/>
          </a:prstGeom>
          <a:noFill/>
        </p:spPr>
        <p:txBody>
          <a:bodyPr wrap="square" lIns="0" tIns="0" rIns="0" bIns="0" rtlCol="0" anchor="t">
            <a:noAutofit/>
          </a:bodyPr>
          <a:lstStyle/>
          <a:p>
            <a:pPr marL="0" indent="0" algn="l">
              <a:lnSpc>
                <a:spcPts val="1300"/>
              </a:lnSpc>
              <a:buNone/>
            </a:pPr>
            <a:r>
              <a:rPr lang="en-US" sz="1200" dirty="0">
                <a:solidFill>
                  <a:srgbClr val="718096"/>
                </a:solidFill>
                <a:latin typeface="Inter" pitchFamily="34" charset="0"/>
                <a:ea typeface="Inter" pitchFamily="34" charset="-122"/>
                <a:cs typeface="Inter" pitchFamily="34" charset="-120"/>
              </a:rPr>
              <a:t>Personalised predictions help patients act before problems arise — not after.</a:t>
            </a:r>
            <a:endParaRPr lang="en-US" sz="1200" dirty="0">
              <a:solidFill>
                <a:srgbClr val="718096"/>
              </a:solidFill>
              <a:latin typeface="Inter" pitchFamily="34" charset="0"/>
              <a:ea typeface="Inter" pitchFamily="34" charset="-122"/>
              <a:cs typeface="Inter" pitchFamily="34" charset="-120"/>
            </a:endParaRPr>
          </a:p>
        </p:txBody>
      </p:sp>
      <p:pic>
        <p:nvPicPr>
          <p:cNvPr id="14" name="Image 1" descr="preencoded.png"/>
          <p:cNvPicPr>
            <a:picLocks noChangeAspect="1"/>
          </p:cNvPicPr>
          <p:nvPr/>
        </p:nvPicPr>
        <p:blipFill>
          <a:blip r:embed="rId3"/>
          <a:srcRect l="13278" t="5734" r="15694" b="27003"/>
          <a:stretch>
            <a:fillRect/>
          </a:stretch>
        </p:blipFill>
        <p:spPr>
          <a:xfrm>
            <a:off x="636270" y="2096135"/>
            <a:ext cx="2124710" cy="28467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007485" y="458470"/>
            <a:ext cx="4565015" cy="998855"/>
          </a:xfrm>
          <a:prstGeom prst="rect">
            <a:avLst/>
          </a:prstGeom>
          <a:noFill/>
        </p:spPr>
        <p:txBody>
          <a:bodyPr wrap="none" lIns="0" tIns="0" rIns="0" bIns="0" rtlCol="0" anchor="t">
            <a:noAutofit/>
          </a:bodyPr>
          <a:lstStyle/>
          <a:p>
            <a:pPr marL="0" indent="0" algn="l">
              <a:lnSpc>
                <a:spcPts val="2000"/>
              </a:lnSpc>
              <a:buNone/>
            </a:pPr>
            <a:r>
              <a:rPr lang="en-US" sz="2000" b="1" dirty="0">
                <a:solidFill>
                  <a:srgbClr val="2D3748"/>
                </a:solidFill>
                <a:latin typeface="Inter" pitchFamily="34" charset="0"/>
                <a:ea typeface="Inter" pitchFamily="34" charset="-122"/>
                <a:cs typeface="Inter" pitchFamily="34" charset="-120"/>
              </a:rPr>
              <a:t>SMART INSULIN &amp; MEAL TRACKING</a:t>
            </a:r>
            <a:endParaRPr lang="en-US" sz="2000" b="1" dirty="0">
              <a:solidFill>
                <a:srgbClr val="2D3748"/>
              </a:solidFill>
              <a:latin typeface="Inter" pitchFamily="34" charset="0"/>
              <a:ea typeface="Inter" pitchFamily="34" charset="-122"/>
              <a:cs typeface="Inter" pitchFamily="34" charset="-120"/>
            </a:endParaRPr>
          </a:p>
        </p:txBody>
      </p:sp>
      <p:sp>
        <p:nvSpPr>
          <p:cNvPr id="5" name="Text 1"/>
          <p:cNvSpPr/>
          <p:nvPr/>
        </p:nvSpPr>
        <p:spPr>
          <a:xfrm>
            <a:off x="4007485" y="924560"/>
            <a:ext cx="4565015" cy="3634105"/>
          </a:xfrm>
          <a:prstGeom prst="rect">
            <a:avLst/>
          </a:prstGeom>
          <a:noFill/>
        </p:spPr>
        <p:txBody>
          <a:bodyPr wrap="square" lIns="0" tIns="0" rIns="0" bIns="0" rtlCol="0" anchor="t">
            <a:noAutofit/>
          </a:bodyPr>
          <a:lstStyle/>
          <a:p>
            <a:pPr marL="0" indent="0" algn="l">
              <a:lnSpc>
                <a:spcPts val="1800"/>
              </a:lnSpc>
              <a:buNone/>
            </a:pPr>
            <a:r>
              <a:rPr lang="en-US" sz="1400" dirty="0">
                <a:solidFill>
                  <a:srgbClr val="718096"/>
                </a:solidFill>
                <a:latin typeface="Inter" pitchFamily="34" charset="0"/>
                <a:ea typeface="Inter" pitchFamily="34" charset="-122"/>
                <a:cs typeface="Inter" pitchFamily="34" charset="-120"/>
              </a:rPr>
              <a:t>DiaTwin continuously monitors how much insulin and food are still active in the body — calculating their combined effect on glucose levels, hour by hour. No other pen-based system does this.</a:t>
            </a:r>
            <a:endParaRPr lang="en-US" sz="1400" dirty="0">
              <a:solidFill>
                <a:srgbClr val="718096"/>
              </a:solidFill>
              <a:latin typeface="Inter" pitchFamily="34" charset="0"/>
              <a:ea typeface="Inter" pitchFamily="34" charset="-122"/>
              <a:cs typeface="Inter" pitchFamily="34" charset="-120"/>
            </a:endParaRPr>
          </a:p>
        </p:txBody>
      </p:sp>
      <p:sp>
        <p:nvSpPr>
          <p:cNvPr id="6" name="Shape 2"/>
          <p:cNvSpPr/>
          <p:nvPr/>
        </p:nvSpPr>
        <p:spPr>
          <a:xfrm>
            <a:off x="4007485" y="2124710"/>
            <a:ext cx="4565015" cy="1242060"/>
          </a:xfrm>
          <a:prstGeom prst="rect">
            <a:avLst/>
          </a:prstGeom>
          <a:solidFill>
            <a:srgbClr val="ED8936">
              <a:alpha val="5000"/>
            </a:srgbClr>
          </a:solidFill>
        </p:spPr>
      </p:sp>
      <p:sp>
        <p:nvSpPr>
          <p:cNvPr id="7" name="Shape 3"/>
          <p:cNvSpPr/>
          <p:nvPr/>
        </p:nvSpPr>
        <p:spPr>
          <a:xfrm>
            <a:off x="4007485" y="2124710"/>
            <a:ext cx="4565015" cy="113030"/>
          </a:xfrm>
          <a:prstGeom prst="rect">
            <a:avLst/>
          </a:prstGeom>
          <a:solidFill>
            <a:srgbClr val="ED8936"/>
          </a:solidFill>
        </p:spPr>
      </p:sp>
      <p:pic>
        <p:nvPicPr>
          <p:cNvPr id="8" name="Image 2" descr="preencoded.png"/>
          <p:cNvPicPr>
            <a:picLocks noChangeAspect="1"/>
          </p:cNvPicPr>
          <p:nvPr/>
        </p:nvPicPr>
        <p:blipFill>
          <a:blip r:embed="rId2"/>
          <a:stretch>
            <a:fillRect/>
          </a:stretch>
        </p:blipFill>
        <p:spPr>
          <a:xfrm>
            <a:off x="4007485" y="2281555"/>
            <a:ext cx="454025" cy="454025"/>
          </a:xfrm>
          <a:prstGeom prst="rect">
            <a:avLst/>
          </a:prstGeom>
        </p:spPr>
      </p:pic>
      <p:sp>
        <p:nvSpPr>
          <p:cNvPr id="9" name="Text 4"/>
          <p:cNvSpPr/>
          <p:nvPr/>
        </p:nvSpPr>
        <p:spPr>
          <a:xfrm>
            <a:off x="4432300" y="2281555"/>
            <a:ext cx="3482975" cy="547370"/>
          </a:xfrm>
          <a:prstGeom prst="rect">
            <a:avLst/>
          </a:prstGeom>
          <a:noFill/>
        </p:spPr>
        <p:txBody>
          <a:bodyPr wrap="none" lIns="0" tIns="0" rIns="0" bIns="0" rtlCol="0" anchor="t">
            <a:noAutofit/>
          </a:bodyPr>
          <a:lstStyle/>
          <a:p>
            <a:pPr marL="0" indent="0" algn="l">
              <a:lnSpc>
                <a:spcPts val="1100"/>
              </a:lnSpc>
              <a:buNone/>
            </a:pPr>
            <a:r>
              <a:rPr lang="en-US" sz="990" b="1" dirty="0">
                <a:solidFill>
                  <a:srgbClr val="ED8936"/>
                </a:solidFill>
                <a:latin typeface="Inter" pitchFamily="34" charset="0"/>
                <a:ea typeface="Inter" pitchFamily="34" charset="-122"/>
                <a:cs typeface="Inter" pitchFamily="34" charset="-120"/>
              </a:rPr>
              <a:t>ALERT: Insulin activity is outpacing food absorption —</a:t>
            </a:r>
            <a:endParaRPr lang="en-US" sz="990" b="1" dirty="0">
              <a:solidFill>
                <a:srgbClr val="ED8936"/>
              </a:solidFill>
              <a:latin typeface="Inter" pitchFamily="34" charset="0"/>
              <a:ea typeface="Inter" pitchFamily="34" charset="-122"/>
              <a:cs typeface="Inter" pitchFamily="34" charset="-120"/>
            </a:endParaRPr>
          </a:p>
        </p:txBody>
      </p:sp>
      <p:sp>
        <p:nvSpPr>
          <p:cNvPr id="10" name="Text 5"/>
          <p:cNvSpPr/>
          <p:nvPr/>
        </p:nvSpPr>
        <p:spPr>
          <a:xfrm>
            <a:off x="4734560" y="2419350"/>
            <a:ext cx="796290" cy="547370"/>
          </a:xfrm>
          <a:prstGeom prst="rect">
            <a:avLst/>
          </a:prstGeom>
          <a:noFill/>
        </p:spPr>
        <p:txBody>
          <a:bodyPr wrap="none" lIns="0" tIns="0" rIns="0" bIns="0" rtlCol="0" anchor="t">
            <a:noAutofit/>
          </a:bodyPr>
          <a:lstStyle/>
          <a:p>
            <a:pPr marL="0" indent="0" algn="l">
              <a:lnSpc>
                <a:spcPts val="1100"/>
              </a:lnSpc>
              <a:buNone/>
            </a:pPr>
            <a:r>
              <a:rPr lang="en-US" sz="990" b="1" dirty="0">
                <a:solidFill>
                  <a:srgbClr val="ED8936"/>
                </a:solidFill>
                <a:latin typeface="Inter" pitchFamily="34" charset="0"/>
                <a:ea typeface="Inter" pitchFamily="34" charset="-122"/>
                <a:cs typeface="Inter" pitchFamily="34" charset="-120"/>
              </a:rPr>
              <a:t>hypoglycaemia risk detected early.</a:t>
            </a:r>
            <a:endParaRPr lang="en-US" sz="990" b="1" dirty="0">
              <a:solidFill>
                <a:srgbClr val="ED8936"/>
              </a:solidFill>
              <a:latin typeface="Inter" pitchFamily="34" charset="0"/>
              <a:ea typeface="Inter" pitchFamily="34" charset="-122"/>
              <a:cs typeface="Inter" pitchFamily="34" charset="-120"/>
            </a:endParaRPr>
          </a:p>
        </p:txBody>
      </p:sp>
      <p:pic>
        <p:nvPicPr>
          <p:cNvPr id="11" name="Image 1" descr="preencoded.png"/>
          <p:cNvPicPr>
            <a:picLocks noChangeAspect="1"/>
          </p:cNvPicPr>
          <p:nvPr/>
        </p:nvPicPr>
        <p:blipFill>
          <a:blip r:embed="rId3"/>
          <a:srcRect l="16291" t="7714" r="22723" b="29800"/>
          <a:stretch>
            <a:fillRect/>
          </a:stretch>
        </p:blipFill>
        <p:spPr>
          <a:xfrm>
            <a:off x="480695" y="259080"/>
            <a:ext cx="2762885" cy="37255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2"/>
          <a:stretch>
            <a:fillRect/>
          </a:stretch>
        </p:blipFill>
        <p:spPr>
          <a:xfrm>
            <a:off x="428625" y="1250315"/>
            <a:ext cx="3449955" cy="3215005"/>
          </a:xfrm>
          <a:prstGeom prst="rect">
            <a:avLst/>
          </a:prstGeom>
        </p:spPr>
      </p:pic>
      <p:sp>
        <p:nvSpPr>
          <p:cNvPr id="4" name="Text 0"/>
          <p:cNvSpPr/>
          <p:nvPr/>
        </p:nvSpPr>
        <p:spPr>
          <a:xfrm>
            <a:off x="4756150" y="577215"/>
            <a:ext cx="3410585" cy="774065"/>
          </a:xfrm>
          <a:prstGeom prst="rect">
            <a:avLst/>
          </a:prstGeom>
          <a:noFill/>
        </p:spPr>
        <p:txBody>
          <a:bodyPr wrap="none" lIns="0" tIns="0" rIns="0" bIns="0" rtlCol="0" anchor="t">
            <a:noAutofit/>
          </a:bodyPr>
          <a:lstStyle/>
          <a:p>
            <a:pPr marL="0" indent="0" algn="l">
              <a:lnSpc>
                <a:spcPts val="2200"/>
              </a:lnSpc>
              <a:buNone/>
            </a:pPr>
            <a:r>
              <a:rPr lang="en-US" sz="2000" b="1" dirty="0">
                <a:solidFill>
                  <a:srgbClr val="2D3748"/>
                </a:solidFill>
                <a:latin typeface="Inter" pitchFamily="34" charset="0"/>
                <a:ea typeface="Inter" pitchFamily="34" charset="-122"/>
                <a:cs typeface="Inter" pitchFamily="34" charset="-120"/>
              </a:rPr>
              <a:t>See the Full Picture</a:t>
            </a:r>
            <a:endParaRPr lang="en-US" sz="2000" b="1" dirty="0">
              <a:solidFill>
                <a:srgbClr val="2D3748"/>
              </a:solidFill>
              <a:latin typeface="Inter" pitchFamily="34" charset="0"/>
              <a:ea typeface="Inter" pitchFamily="34" charset="-122"/>
              <a:cs typeface="Inter" pitchFamily="34" charset="-120"/>
            </a:endParaRPr>
          </a:p>
        </p:txBody>
      </p:sp>
      <p:sp>
        <p:nvSpPr>
          <p:cNvPr id="5" name="Text 1"/>
          <p:cNvSpPr/>
          <p:nvPr/>
        </p:nvSpPr>
        <p:spPr>
          <a:xfrm>
            <a:off x="4827905" y="1036955"/>
            <a:ext cx="3410585" cy="1278255"/>
          </a:xfrm>
          <a:prstGeom prst="rect">
            <a:avLst/>
          </a:prstGeom>
          <a:noFill/>
        </p:spPr>
        <p:txBody>
          <a:bodyPr wrap="square" lIns="0" tIns="0" rIns="0" bIns="0" rtlCol="0" anchor="t">
            <a:noAutofit/>
          </a:bodyPr>
          <a:lstStyle/>
          <a:p>
            <a:pPr marL="0" indent="0" algn="l">
              <a:lnSpc>
                <a:spcPts val="1800"/>
              </a:lnSpc>
              <a:buNone/>
            </a:pPr>
            <a:r>
              <a:rPr lang="en-US" sz="1400" dirty="0">
                <a:solidFill>
                  <a:srgbClr val="718096"/>
                </a:solidFill>
                <a:latin typeface="Inter" pitchFamily="34" charset="0"/>
                <a:ea typeface="Inter" pitchFamily="34" charset="-122"/>
                <a:cs typeface="Inter" pitchFamily="34" charset="-120"/>
              </a:rPr>
              <a:t>Meal effect, insulin effect, and combined net impact — all visible in a single, intuitive chart.</a:t>
            </a:r>
            <a:endParaRPr lang="en-US" sz="1400" dirty="0">
              <a:solidFill>
                <a:srgbClr val="718096"/>
              </a:solidFill>
              <a:latin typeface="Inter" pitchFamily="34" charset="0"/>
              <a:ea typeface="Inter" pitchFamily="34" charset="-122"/>
              <a:cs typeface="Inter" pitchFamily="34" charset="-120"/>
            </a:endParaRPr>
          </a:p>
        </p:txBody>
      </p:sp>
      <p:pic>
        <p:nvPicPr>
          <p:cNvPr id="6" name="Image 2" descr="preencoded.png"/>
          <p:cNvPicPr>
            <a:picLocks noChangeAspect="1"/>
          </p:cNvPicPr>
          <p:nvPr/>
        </p:nvPicPr>
        <p:blipFill>
          <a:blip r:embed="rId3"/>
          <a:stretch>
            <a:fillRect/>
          </a:stretch>
        </p:blipFill>
        <p:spPr>
          <a:xfrm>
            <a:off x="4756150" y="2440305"/>
            <a:ext cx="319405" cy="319405"/>
          </a:xfrm>
          <a:prstGeom prst="rect">
            <a:avLst/>
          </a:prstGeom>
        </p:spPr>
      </p:pic>
      <p:sp>
        <p:nvSpPr>
          <p:cNvPr id="7" name="Text 2"/>
          <p:cNvSpPr/>
          <p:nvPr/>
        </p:nvSpPr>
        <p:spPr>
          <a:xfrm>
            <a:off x="5229860" y="2440305"/>
            <a:ext cx="3193415" cy="768350"/>
          </a:xfrm>
          <a:prstGeom prst="rect">
            <a:avLst/>
          </a:prstGeom>
          <a:noFill/>
        </p:spPr>
        <p:txBody>
          <a:bodyPr wrap="square" lIns="0" tIns="0" rIns="0" bIns="0" rtlCol="0" anchor="t">
            <a:noAutofit/>
          </a:bodyPr>
          <a:lstStyle/>
          <a:p>
            <a:pPr marL="0" indent="0" algn="l">
              <a:lnSpc>
                <a:spcPts val="1100"/>
              </a:lnSpc>
              <a:buNone/>
            </a:pPr>
            <a:r>
              <a:rPr lang="en-US" sz="1040" dirty="0">
                <a:solidFill>
                  <a:srgbClr val="718096"/>
                </a:solidFill>
                <a:latin typeface="Inter" pitchFamily="34" charset="0"/>
                <a:ea typeface="Inter" pitchFamily="34" charset="-122"/>
                <a:cs typeface="Inter" pitchFamily="34" charset="-120"/>
              </a:rPr>
              <a:t>Patients and clinicians see the same data — building shared understanding and trust.</a:t>
            </a:r>
            <a:endParaRPr lang="en-US" sz="1040" dirty="0">
              <a:solidFill>
                <a:srgbClr val="718096"/>
              </a:solidFill>
              <a:latin typeface="Inter" pitchFamily="34" charset="0"/>
              <a:ea typeface="Inter" pitchFamily="34" charset="-122"/>
              <a:cs typeface="Inter" pitchFamily="34" charset="-120"/>
            </a:endParaRPr>
          </a:p>
        </p:txBody>
      </p:sp>
      <p:pic>
        <p:nvPicPr>
          <p:cNvPr id="8" name="Image 3" descr="preencoded.png"/>
          <p:cNvPicPr>
            <a:picLocks noChangeAspect="1"/>
          </p:cNvPicPr>
          <p:nvPr/>
        </p:nvPicPr>
        <p:blipFill>
          <a:blip r:embed="rId4"/>
          <a:stretch>
            <a:fillRect/>
          </a:stretch>
        </p:blipFill>
        <p:spPr>
          <a:xfrm>
            <a:off x="4756150" y="2978785"/>
            <a:ext cx="360045" cy="319405"/>
          </a:xfrm>
          <a:prstGeom prst="rect">
            <a:avLst/>
          </a:prstGeom>
        </p:spPr>
      </p:pic>
      <p:sp>
        <p:nvSpPr>
          <p:cNvPr id="9" name="Text 3"/>
          <p:cNvSpPr/>
          <p:nvPr/>
        </p:nvSpPr>
        <p:spPr>
          <a:xfrm>
            <a:off x="5222240" y="2929255"/>
            <a:ext cx="3216910" cy="441960"/>
          </a:xfrm>
          <a:prstGeom prst="rect">
            <a:avLst/>
          </a:prstGeom>
          <a:noFill/>
        </p:spPr>
        <p:txBody>
          <a:bodyPr wrap="square" lIns="0" tIns="0" rIns="0" bIns="0" rtlCol="0" anchor="t">
            <a:noAutofit/>
          </a:bodyPr>
          <a:lstStyle/>
          <a:p>
            <a:pPr marL="0" indent="0" algn="l">
              <a:lnSpc>
                <a:spcPts val="1100"/>
              </a:lnSpc>
              <a:buNone/>
            </a:pPr>
            <a:r>
              <a:rPr lang="en-US" sz="1040" dirty="0">
                <a:solidFill>
                  <a:srgbClr val="718096"/>
                </a:solidFill>
                <a:latin typeface="Inter" pitchFamily="34" charset="0"/>
                <a:ea typeface="Inter" pitchFamily="34" charset="-122"/>
                <a:cs typeface="Inter" pitchFamily="34" charset="-120"/>
              </a:rPr>
              <a:t>Effects resolve in real time, giving complete transparency into why glucose moves the way it does.</a:t>
            </a:r>
            <a:endParaRPr lang="en-US" sz="1040" dirty="0">
              <a:solidFill>
                <a:srgbClr val="718096"/>
              </a:solidFill>
              <a:latin typeface="Inter" pitchFamily="34" charset="0"/>
              <a:ea typeface="Inter" pitchFamily="34" charset="-122"/>
              <a:cs typeface="Inter" pitchFamily="34" charset="-120"/>
            </a:endParaRPr>
          </a:p>
        </p:txBody>
      </p:sp>
      <p:pic>
        <p:nvPicPr>
          <p:cNvPr id="10" name="Image 4" descr="preencoded.png"/>
          <p:cNvPicPr>
            <a:picLocks noChangeAspect="1"/>
          </p:cNvPicPr>
          <p:nvPr/>
        </p:nvPicPr>
        <p:blipFill>
          <a:blip r:embed="rId5"/>
          <a:stretch>
            <a:fillRect/>
          </a:stretch>
        </p:blipFill>
        <p:spPr>
          <a:xfrm>
            <a:off x="4795520" y="3517265"/>
            <a:ext cx="280035" cy="319405"/>
          </a:xfrm>
          <a:prstGeom prst="rect">
            <a:avLst/>
          </a:prstGeom>
        </p:spPr>
      </p:pic>
      <p:sp>
        <p:nvSpPr>
          <p:cNvPr id="11" name="Text 4"/>
          <p:cNvSpPr/>
          <p:nvPr/>
        </p:nvSpPr>
        <p:spPr>
          <a:xfrm>
            <a:off x="5229860" y="3517265"/>
            <a:ext cx="3209290" cy="768350"/>
          </a:xfrm>
          <a:prstGeom prst="rect">
            <a:avLst/>
          </a:prstGeom>
          <a:noFill/>
        </p:spPr>
        <p:txBody>
          <a:bodyPr wrap="square" lIns="0" tIns="0" rIns="0" bIns="0" rtlCol="0" anchor="t">
            <a:noAutofit/>
          </a:bodyPr>
          <a:lstStyle/>
          <a:p>
            <a:pPr marL="0" indent="0" algn="l">
              <a:lnSpc>
                <a:spcPts val="1100"/>
              </a:lnSpc>
              <a:buNone/>
            </a:pPr>
            <a:r>
              <a:rPr lang="en-US" sz="1040" dirty="0">
                <a:solidFill>
                  <a:srgbClr val="718096"/>
                </a:solidFill>
                <a:latin typeface="Inter" pitchFamily="34" charset="0"/>
                <a:ea typeface="Inter" pitchFamily="34" charset="-122"/>
                <a:cs typeface="Inter" pitchFamily="34" charset="-120"/>
              </a:rPr>
              <a:t>A shared visual language for patients and care teams to improve therapy together.</a:t>
            </a:r>
            <a:endParaRPr lang="en-US" sz="1040" dirty="0">
              <a:solidFill>
                <a:srgbClr val="718096"/>
              </a:solidFill>
              <a:latin typeface="Inter" pitchFamily="34" charset="0"/>
              <a:ea typeface="Inter" pitchFamily="34" charset="-122"/>
              <a:cs typeface="Inter"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20700" y="215265"/>
            <a:ext cx="2598420" cy="1025525"/>
          </a:xfrm>
          <a:prstGeom prst="rect">
            <a:avLst/>
          </a:prstGeom>
          <a:noFill/>
        </p:spPr>
        <p:txBody>
          <a:bodyPr wrap="square" lIns="0" tIns="0" rIns="0" bIns="0" rtlCol="0" anchor="t">
            <a:spAutoFit/>
          </a:bodyPr>
          <a:lstStyle/>
          <a:p>
            <a:pPr marL="0" indent="0" algn="l">
              <a:lnSpc>
                <a:spcPts val="4000"/>
              </a:lnSpc>
              <a:buNone/>
            </a:pPr>
            <a:r>
              <a:rPr lang="en-US" sz="3295" b="1" dirty="0">
                <a:solidFill>
                  <a:srgbClr val="2D3748"/>
                </a:solidFill>
                <a:latin typeface="Inter" pitchFamily="34" charset="0"/>
                <a:ea typeface="Inter" pitchFamily="34" charset="-122"/>
                <a:cs typeface="Inter" pitchFamily="34" charset="-120"/>
              </a:rPr>
              <a:t>Smart Meal</a:t>
            </a:r>
            <a:r>
              <a:rPr lang="en-US" sz="3295" b="1" dirty="0">
                <a:solidFill>
                  <a:srgbClr val="2D3748"/>
                </a:solidFill>
                <a:latin typeface="Inter" pitchFamily="34" charset="0"/>
                <a:ea typeface="Inter" pitchFamily="34" charset="-122"/>
                <a:cs typeface="Inter" pitchFamily="34" charset="-120"/>
              </a:rPr>
              <a:t>
</a:t>
            </a:r>
            <a:r>
              <a:rPr lang="en-US" sz="3295" b="1" dirty="0">
                <a:solidFill>
                  <a:srgbClr val="2D3748"/>
                </a:solidFill>
                <a:latin typeface="Inter" pitchFamily="34" charset="0"/>
                <a:ea typeface="Inter" pitchFamily="34" charset="-122"/>
                <a:cs typeface="Inter" pitchFamily="34" charset="-120"/>
              </a:rPr>
              <a:t>Logging</a:t>
            </a:r>
            <a:endParaRPr lang="en-US" sz="3295" dirty="0"/>
          </a:p>
        </p:txBody>
      </p:sp>
      <p:pic>
        <p:nvPicPr>
          <p:cNvPr id="4" name="Image 1" descr="preencoded.png"/>
          <p:cNvPicPr>
            <a:picLocks noChangeAspect="1"/>
          </p:cNvPicPr>
          <p:nvPr/>
        </p:nvPicPr>
        <p:blipFill>
          <a:blip r:embed="rId2"/>
          <a:srcRect l="12889" t="7266" r="13028" b="15848"/>
          <a:stretch>
            <a:fillRect/>
          </a:stretch>
        </p:blipFill>
        <p:spPr>
          <a:xfrm>
            <a:off x="520700" y="1440815"/>
            <a:ext cx="2682240" cy="3424555"/>
          </a:xfrm>
          <a:prstGeom prst="rect">
            <a:avLst/>
          </a:prstGeom>
        </p:spPr>
      </p:pic>
      <p:sp>
        <p:nvSpPr>
          <p:cNvPr id="5" name="Text 1"/>
          <p:cNvSpPr/>
          <p:nvPr/>
        </p:nvSpPr>
        <p:spPr>
          <a:xfrm>
            <a:off x="4213860" y="984250"/>
            <a:ext cx="4358640" cy="1229995"/>
          </a:xfrm>
          <a:prstGeom prst="rect">
            <a:avLst/>
          </a:prstGeom>
          <a:noFill/>
        </p:spPr>
        <p:txBody>
          <a:bodyPr wrap="square" lIns="0" tIns="0" rIns="0" bIns="0" rtlCol="0" anchor="t">
            <a:noAutofit/>
          </a:bodyPr>
          <a:lstStyle/>
          <a:p>
            <a:pPr marL="0" indent="0" algn="l">
              <a:lnSpc>
                <a:spcPts val="1900"/>
              </a:lnSpc>
              <a:buNone/>
            </a:pPr>
            <a:r>
              <a:rPr lang="en-US" sz="1400" i="1" dirty="0">
                <a:solidFill>
                  <a:srgbClr val="2D3748"/>
                </a:solidFill>
                <a:latin typeface="Inter" pitchFamily="34" charset="0"/>
                <a:ea typeface="Inter" pitchFamily="34" charset="-122"/>
                <a:cs typeface="Inter" pitchFamily="34" charset="-120"/>
              </a:rPr>
              <a:t>Logging a meal takes seconds. Search a verified food database, choose a portion size, and all nutritional values are calculated instantly — no manual entry, no guesswork.</a:t>
            </a:r>
            <a:endParaRPr lang="en-US" sz="1400" i="1" dirty="0">
              <a:solidFill>
                <a:srgbClr val="2D3748"/>
              </a:solidFill>
              <a:latin typeface="Inter" pitchFamily="34" charset="0"/>
              <a:ea typeface="Inter" pitchFamily="34" charset="-122"/>
              <a:cs typeface="Inter" pitchFamily="34" charset="-120"/>
            </a:endParaRPr>
          </a:p>
        </p:txBody>
      </p:sp>
      <p:pic>
        <p:nvPicPr>
          <p:cNvPr id="6" name="Image 2" descr="preencoded.png"/>
          <p:cNvPicPr>
            <a:picLocks noChangeAspect="1"/>
          </p:cNvPicPr>
          <p:nvPr>
            <p:custDataLst>
              <p:tags r:id="rId3"/>
            </p:custDataLst>
          </p:nvPr>
        </p:nvPicPr>
        <p:blipFill>
          <a:blip r:embed="rId4"/>
          <a:stretch>
            <a:fillRect/>
          </a:stretch>
        </p:blipFill>
        <p:spPr>
          <a:xfrm>
            <a:off x="3877945" y="2751455"/>
            <a:ext cx="2515870" cy="292735"/>
          </a:xfrm>
          <a:prstGeom prst="rect">
            <a:avLst/>
          </a:prstGeom>
        </p:spPr>
      </p:pic>
      <p:sp>
        <p:nvSpPr>
          <p:cNvPr id="7" name="Text 2"/>
          <p:cNvSpPr/>
          <p:nvPr>
            <p:custDataLst>
              <p:tags r:id="rId5"/>
            </p:custDataLst>
          </p:nvPr>
        </p:nvSpPr>
        <p:spPr>
          <a:xfrm>
            <a:off x="4327525" y="2751455"/>
            <a:ext cx="2066290" cy="221615"/>
          </a:xfrm>
          <a:prstGeom prst="rect">
            <a:avLst/>
          </a:prstGeom>
          <a:noFill/>
        </p:spPr>
        <p:txBody>
          <a:bodyPr wrap="none" lIns="0" tIns="0" rIns="0" bIns="0" rtlCol="0" anchor="t">
            <a:noAutofit/>
          </a:bodyPr>
          <a:lstStyle/>
          <a:p>
            <a:pPr marL="0" indent="0" algn="l">
              <a:lnSpc>
                <a:spcPts val="1400"/>
              </a:lnSpc>
              <a:buNone/>
            </a:pPr>
            <a:r>
              <a:rPr lang="en-US" sz="1000" b="1" dirty="0">
                <a:solidFill>
                  <a:srgbClr val="2D3748"/>
                </a:solidFill>
                <a:latin typeface="Inter" pitchFamily="34" charset="0"/>
                <a:ea typeface="Inter" pitchFamily="34" charset="-122"/>
                <a:cs typeface="Inter" pitchFamily="34" charset="-120"/>
              </a:rPr>
              <a:t>Verified Food Database</a:t>
            </a:r>
            <a:endParaRPr lang="en-US" sz="1000" b="1" dirty="0">
              <a:solidFill>
                <a:srgbClr val="2D3748"/>
              </a:solidFill>
              <a:latin typeface="Inter" pitchFamily="34" charset="0"/>
              <a:ea typeface="Inter" pitchFamily="34" charset="-122"/>
              <a:cs typeface="Inter" pitchFamily="34" charset="-120"/>
            </a:endParaRPr>
          </a:p>
        </p:txBody>
      </p:sp>
      <p:sp>
        <p:nvSpPr>
          <p:cNvPr id="8" name="Text 3"/>
          <p:cNvSpPr/>
          <p:nvPr>
            <p:custDataLst>
              <p:tags r:id="rId6"/>
            </p:custDataLst>
          </p:nvPr>
        </p:nvSpPr>
        <p:spPr>
          <a:xfrm>
            <a:off x="4327525" y="2933700"/>
            <a:ext cx="2066290" cy="439420"/>
          </a:xfrm>
          <a:prstGeom prst="rect">
            <a:avLst/>
          </a:prstGeom>
          <a:noFill/>
        </p:spPr>
        <p:txBody>
          <a:bodyPr wrap="square" lIns="0" tIns="0" rIns="0" bIns="0" rtlCol="0" anchor="t">
            <a:noAutofit/>
          </a:bodyPr>
          <a:lstStyle/>
          <a:p>
            <a:pPr marL="0" indent="0" algn="l">
              <a:lnSpc>
                <a:spcPts val="1400"/>
              </a:lnSpc>
              <a:buNone/>
            </a:pPr>
            <a:r>
              <a:rPr lang="en-US" sz="1000" dirty="0">
                <a:solidFill>
                  <a:srgbClr val="718096"/>
                </a:solidFill>
                <a:latin typeface="Inter" pitchFamily="34" charset="0"/>
                <a:ea typeface="Inter" pitchFamily="34" charset="-122"/>
                <a:cs typeface="Inter" pitchFamily="34" charset="-120"/>
              </a:rPr>
              <a:t>Thousands of verified food items with accurate nutritional values — including German foods.</a:t>
            </a:r>
            <a:endParaRPr lang="en-US" sz="1000" dirty="0">
              <a:solidFill>
                <a:srgbClr val="718096"/>
              </a:solidFill>
              <a:latin typeface="Inter" pitchFamily="34" charset="0"/>
              <a:ea typeface="Inter" pitchFamily="34" charset="-122"/>
              <a:cs typeface="Inter" pitchFamily="34" charset="-120"/>
            </a:endParaRPr>
          </a:p>
        </p:txBody>
      </p:sp>
      <p:pic>
        <p:nvPicPr>
          <p:cNvPr id="9" name="Image 3" descr="preencoded.png"/>
          <p:cNvPicPr>
            <a:picLocks noChangeAspect="1"/>
          </p:cNvPicPr>
          <p:nvPr>
            <p:custDataLst>
              <p:tags r:id="rId7"/>
            </p:custDataLst>
          </p:nvPr>
        </p:nvPicPr>
        <p:blipFill>
          <a:blip r:embed="rId8"/>
          <a:stretch>
            <a:fillRect/>
          </a:stretch>
        </p:blipFill>
        <p:spPr>
          <a:xfrm>
            <a:off x="6247130" y="2700020"/>
            <a:ext cx="2515870" cy="292735"/>
          </a:xfrm>
          <a:prstGeom prst="rect">
            <a:avLst/>
          </a:prstGeom>
        </p:spPr>
      </p:pic>
      <p:sp>
        <p:nvSpPr>
          <p:cNvPr id="10" name="Text 4"/>
          <p:cNvSpPr/>
          <p:nvPr>
            <p:custDataLst>
              <p:tags r:id="rId9"/>
            </p:custDataLst>
          </p:nvPr>
        </p:nvSpPr>
        <p:spPr>
          <a:xfrm>
            <a:off x="6696710" y="2728595"/>
            <a:ext cx="2066290" cy="221615"/>
          </a:xfrm>
          <a:prstGeom prst="rect">
            <a:avLst/>
          </a:prstGeom>
          <a:noFill/>
        </p:spPr>
        <p:txBody>
          <a:bodyPr wrap="none" lIns="0" tIns="0" rIns="0" bIns="0" rtlCol="0" anchor="t">
            <a:noAutofit/>
          </a:bodyPr>
          <a:lstStyle/>
          <a:p>
            <a:pPr marL="0" indent="0" algn="l">
              <a:lnSpc>
                <a:spcPts val="1400"/>
              </a:lnSpc>
              <a:buNone/>
            </a:pPr>
            <a:r>
              <a:rPr lang="en-US" sz="1000" b="1" dirty="0">
                <a:solidFill>
                  <a:srgbClr val="2D3748"/>
                </a:solidFill>
                <a:latin typeface="Inter" pitchFamily="34" charset="0"/>
                <a:ea typeface="Inter" pitchFamily="34" charset="-122"/>
                <a:cs typeface="Inter" pitchFamily="34" charset="-120"/>
              </a:rPr>
              <a:t>Natural Portion Sizes</a:t>
            </a:r>
            <a:endParaRPr lang="en-US" sz="1000" b="1" dirty="0">
              <a:solidFill>
                <a:srgbClr val="2D3748"/>
              </a:solidFill>
              <a:latin typeface="Inter" pitchFamily="34" charset="0"/>
              <a:ea typeface="Inter" pitchFamily="34" charset="-122"/>
              <a:cs typeface="Inter" pitchFamily="34" charset="-120"/>
            </a:endParaRPr>
          </a:p>
        </p:txBody>
      </p:sp>
      <p:sp>
        <p:nvSpPr>
          <p:cNvPr id="11" name="Text 5"/>
          <p:cNvSpPr/>
          <p:nvPr>
            <p:custDataLst>
              <p:tags r:id="rId10"/>
            </p:custDataLst>
          </p:nvPr>
        </p:nvSpPr>
        <p:spPr>
          <a:xfrm>
            <a:off x="6696710" y="2910840"/>
            <a:ext cx="2066290" cy="439420"/>
          </a:xfrm>
          <a:prstGeom prst="rect">
            <a:avLst/>
          </a:prstGeom>
          <a:noFill/>
        </p:spPr>
        <p:txBody>
          <a:bodyPr wrap="square" lIns="0" tIns="0" rIns="0" bIns="0" rtlCol="0" anchor="t">
            <a:noAutofit/>
          </a:bodyPr>
          <a:lstStyle/>
          <a:p>
            <a:pPr marL="0" indent="0" algn="l">
              <a:lnSpc>
                <a:spcPts val="1400"/>
              </a:lnSpc>
              <a:buNone/>
            </a:pPr>
            <a:r>
              <a:rPr lang="en-US" sz="1000" dirty="0">
                <a:solidFill>
                  <a:srgbClr val="718096"/>
                </a:solidFill>
                <a:latin typeface="Inter" pitchFamily="34" charset="0"/>
                <a:ea typeface="Inter" pitchFamily="34" charset="-122"/>
                <a:cs typeface="Inter" pitchFamily="34" charset="-120"/>
              </a:rPr>
              <a:t>Log by palm size, grams, or plate size — however feels natural in daily life.</a:t>
            </a:r>
            <a:endParaRPr lang="en-US" sz="1000" dirty="0">
              <a:solidFill>
                <a:srgbClr val="718096"/>
              </a:solidFill>
              <a:latin typeface="Inter" pitchFamily="34" charset="0"/>
              <a:ea typeface="Inter" pitchFamily="34" charset="-122"/>
              <a:cs typeface="Inter" pitchFamily="34" charset="-120"/>
            </a:endParaRPr>
          </a:p>
        </p:txBody>
      </p:sp>
      <p:pic>
        <p:nvPicPr>
          <p:cNvPr id="12" name="Image 4" descr="preencoded.png"/>
          <p:cNvPicPr>
            <a:picLocks noChangeAspect="1"/>
          </p:cNvPicPr>
          <p:nvPr>
            <p:custDataLst>
              <p:tags r:id="rId11"/>
            </p:custDataLst>
          </p:nvPr>
        </p:nvPicPr>
        <p:blipFill>
          <a:blip r:embed="rId12"/>
          <a:stretch>
            <a:fillRect/>
          </a:stretch>
        </p:blipFill>
        <p:spPr>
          <a:xfrm>
            <a:off x="3877945" y="3839210"/>
            <a:ext cx="2515870" cy="292735"/>
          </a:xfrm>
          <a:prstGeom prst="rect">
            <a:avLst/>
          </a:prstGeom>
        </p:spPr>
      </p:pic>
      <p:sp>
        <p:nvSpPr>
          <p:cNvPr id="13" name="Text 6"/>
          <p:cNvSpPr/>
          <p:nvPr>
            <p:custDataLst>
              <p:tags r:id="rId13"/>
            </p:custDataLst>
          </p:nvPr>
        </p:nvSpPr>
        <p:spPr>
          <a:xfrm>
            <a:off x="4327525" y="3839210"/>
            <a:ext cx="2066290" cy="221615"/>
          </a:xfrm>
          <a:prstGeom prst="rect">
            <a:avLst/>
          </a:prstGeom>
          <a:noFill/>
        </p:spPr>
        <p:txBody>
          <a:bodyPr wrap="none" lIns="0" tIns="0" rIns="0" bIns="0" rtlCol="0" anchor="t">
            <a:noAutofit/>
          </a:bodyPr>
          <a:lstStyle/>
          <a:p>
            <a:pPr marL="0" indent="0" algn="l">
              <a:lnSpc>
                <a:spcPts val="1400"/>
              </a:lnSpc>
              <a:buNone/>
            </a:pPr>
            <a:r>
              <a:rPr lang="en-US" sz="1000" b="1" dirty="0">
                <a:solidFill>
                  <a:srgbClr val="2D3748"/>
                </a:solidFill>
                <a:latin typeface="Inter" pitchFamily="34" charset="0"/>
                <a:ea typeface="Inter" pitchFamily="34" charset="-122"/>
                <a:cs typeface="Inter" pitchFamily="34" charset="-120"/>
              </a:rPr>
              <a:t>Instant Nutrition Calculation</a:t>
            </a:r>
            <a:endParaRPr lang="en-US" sz="1000" b="1" dirty="0">
              <a:solidFill>
                <a:srgbClr val="2D3748"/>
              </a:solidFill>
              <a:latin typeface="Inter" pitchFamily="34" charset="0"/>
              <a:ea typeface="Inter" pitchFamily="34" charset="-122"/>
              <a:cs typeface="Inter" pitchFamily="34" charset="-120"/>
            </a:endParaRPr>
          </a:p>
        </p:txBody>
      </p:sp>
      <p:sp>
        <p:nvSpPr>
          <p:cNvPr id="14" name="Text 7"/>
          <p:cNvSpPr/>
          <p:nvPr>
            <p:custDataLst>
              <p:tags r:id="rId14"/>
            </p:custDataLst>
          </p:nvPr>
        </p:nvSpPr>
        <p:spPr>
          <a:xfrm>
            <a:off x="4327525" y="4021455"/>
            <a:ext cx="2066290" cy="439420"/>
          </a:xfrm>
          <a:prstGeom prst="rect">
            <a:avLst/>
          </a:prstGeom>
          <a:noFill/>
        </p:spPr>
        <p:txBody>
          <a:bodyPr wrap="square" lIns="0" tIns="0" rIns="0" bIns="0" rtlCol="0" anchor="t">
            <a:noAutofit/>
          </a:bodyPr>
          <a:lstStyle/>
          <a:p>
            <a:pPr marL="0" indent="0" algn="l">
              <a:lnSpc>
                <a:spcPts val="1400"/>
              </a:lnSpc>
              <a:buNone/>
            </a:pPr>
            <a:r>
              <a:rPr lang="en-US" sz="1000" dirty="0">
                <a:solidFill>
                  <a:srgbClr val="718096"/>
                </a:solidFill>
                <a:latin typeface="Inter" pitchFamily="34" charset="0"/>
                <a:ea typeface="Inter" pitchFamily="34" charset="-122"/>
                <a:cs typeface="Inter" pitchFamily="34" charset="-120"/>
              </a:rPr>
              <a:t>Carbs, protein, and fat calculated the moment a meal is logged.</a:t>
            </a:r>
            <a:endParaRPr lang="en-US" sz="1000" dirty="0">
              <a:solidFill>
                <a:srgbClr val="718096"/>
              </a:solidFill>
              <a:latin typeface="Inter" pitchFamily="34" charset="0"/>
              <a:ea typeface="Inter" pitchFamily="34" charset="-122"/>
              <a:cs typeface="Inter" pitchFamily="34" charset="-120"/>
            </a:endParaRPr>
          </a:p>
        </p:txBody>
      </p:sp>
      <p:pic>
        <p:nvPicPr>
          <p:cNvPr id="15" name="Image 5" descr="preencoded.png"/>
          <p:cNvPicPr>
            <a:picLocks noChangeAspect="1"/>
          </p:cNvPicPr>
          <p:nvPr>
            <p:custDataLst>
              <p:tags r:id="rId15"/>
            </p:custDataLst>
          </p:nvPr>
        </p:nvPicPr>
        <p:blipFill>
          <a:blip r:embed="rId16"/>
          <a:stretch>
            <a:fillRect/>
          </a:stretch>
        </p:blipFill>
        <p:spPr>
          <a:xfrm>
            <a:off x="6303010" y="3745230"/>
            <a:ext cx="2515870" cy="292735"/>
          </a:xfrm>
          <a:prstGeom prst="rect">
            <a:avLst/>
          </a:prstGeom>
        </p:spPr>
      </p:pic>
      <p:sp>
        <p:nvSpPr>
          <p:cNvPr id="16" name="Text 8"/>
          <p:cNvSpPr/>
          <p:nvPr>
            <p:custDataLst>
              <p:tags r:id="rId17"/>
            </p:custDataLst>
          </p:nvPr>
        </p:nvSpPr>
        <p:spPr>
          <a:xfrm>
            <a:off x="6696710" y="3816350"/>
            <a:ext cx="2066290" cy="221615"/>
          </a:xfrm>
          <a:prstGeom prst="rect">
            <a:avLst/>
          </a:prstGeom>
          <a:noFill/>
        </p:spPr>
        <p:txBody>
          <a:bodyPr wrap="none" lIns="0" tIns="0" rIns="0" bIns="0" rtlCol="0" anchor="t">
            <a:noAutofit/>
          </a:bodyPr>
          <a:lstStyle/>
          <a:p>
            <a:pPr marL="0" indent="0" algn="l">
              <a:lnSpc>
                <a:spcPts val="1400"/>
              </a:lnSpc>
              <a:buNone/>
            </a:pPr>
            <a:r>
              <a:rPr lang="en-US" sz="1000" b="1" dirty="0">
                <a:solidFill>
                  <a:srgbClr val="2D3748"/>
                </a:solidFill>
                <a:latin typeface="Inter" pitchFamily="34" charset="0"/>
                <a:ea typeface="Inter" pitchFamily="34" charset="-122"/>
                <a:cs typeface="Inter" pitchFamily="34" charset="-120"/>
              </a:rPr>
              <a:t>AI-Assisted Recognition</a:t>
            </a:r>
            <a:endParaRPr lang="en-US" sz="1000" b="1" dirty="0">
              <a:solidFill>
                <a:srgbClr val="2D3748"/>
              </a:solidFill>
              <a:latin typeface="Inter" pitchFamily="34" charset="0"/>
              <a:ea typeface="Inter" pitchFamily="34" charset="-122"/>
              <a:cs typeface="Inter" pitchFamily="34" charset="-120"/>
            </a:endParaRPr>
          </a:p>
        </p:txBody>
      </p:sp>
      <p:sp>
        <p:nvSpPr>
          <p:cNvPr id="17" name="Text 9"/>
          <p:cNvSpPr/>
          <p:nvPr>
            <p:custDataLst>
              <p:tags r:id="rId18"/>
            </p:custDataLst>
          </p:nvPr>
        </p:nvSpPr>
        <p:spPr>
          <a:xfrm>
            <a:off x="6696710" y="3998595"/>
            <a:ext cx="2066290" cy="439420"/>
          </a:xfrm>
          <a:prstGeom prst="rect">
            <a:avLst/>
          </a:prstGeom>
          <a:noFill/>
        </p:spPr>
        <p:txBody>
          <a:bodyPr wrap="square" lIns="0" tIns="0" rIns="0" bIns="0" rtlCol="0" anchor="t">
            <a:noAutofit/>
          </a:bodyPr>
          <a:lstStyle/>
          <a:p>
            <a:pPr marL="0" indent="0" algn="l">
              <a:lnSpc>
                <a:spcPts val="1400"/>
              </a:lnSpc>
              <a:buNone/>
            </a:pPr>
            <a:r>
              <a:rPr lang="en-US" sz="1000" dirty="0">
                <a:solidFill>
                  <a:srgbClr val="718096"/>
                </a:solidFill>
                <a:latin typeface="Inter" pitchFamily="34" charset="0"/>
                <a:ea typeface="Inter" pitchFamily="34" charset="-122"/>
                <a:cs typeface="Inter" pitchFamily="34" charset="-120"/>
              </a:rPr>
              <a:t>Photo-based food recognition to identify items and estimate portions automatically.</a:t>
            </a:r>
            <a:endParaRPr lang="en-US" sz="1000" dirty="0">
              <a:solidFill>
                <a:srgbClr val="718096"/>
              </a:solidFill>
              <a:latin typeface="Inter" pitchFamily="34" charset="0"/>
              <a:ea typeface="Inter" pitchFamily="34" charset="-122"/>
              <a:cs typeface="Inter"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1994853"/>
            <a:ext cx="801370" cy="871855"/>
          </a:xfrm>
          <a:prstGeom prst="rect">
            <a:avLst/>
          </a:prstGeom>
          <a:noFill/>
        </p:spPr>
        <p:txBody>
          <a:bodyPr wrap="none" lIns="0" tIns="0" rIns="0" bIns="0" rtlCol="0" anchor="t">
            <a:spAutoFit/>
          </a:bodyPr>
          <a:lstStyle/>
          <a:p>
            <a:pPr marL="0" indent="0" algn="l">
              <a:lnSpc>
                <a:spcPts val="6800"/>
              </a:lnSpc>
              <a:buNone/>
            </a:pPr>
            <a:r>
              <a:rPr lang="de-DE" altLang="en-US" sz="6220" b="1" dirty="0">
                <a:solidFill>
                  <a:srgbClr val="ED8936"/>
                </a:solidFill>
                <a:latin typeface="Calibri" panose="020F0502020204030204" charset="0"/>
                <a:ea typeface="Inter" pitchFamily="34" charset="-122"/>
                <a:cs typeface="Inter" pitchFamily="34" charset="-120"/>
              </a:rPr>
              <a:t>10</a:t>
            </a:r>
            <a:endParaRPr lang="de-DE" altLang="en-US" sz="6220" b="1" dirty="0">
              <a:solidFill>
                <a:srgbClr val="ED8936"/>
              </a:solidFill>
              <a:latin typeface="Calibri" panose="020F0502020204030204" charset="0"/>
              <a:ea typeface="Inter" pitchFamily="34" charset="-122"/>
              <a:cs typeface="Inter" pitchFamily="34" charset="-120"/>
            </a:endParaRPr>
          </a:p>
        </p:txBody>
      </p:sp>
      <p:sp>
        <p:nvSpPr>
          <p:cNvPr id="4" name="Text 1"/>
          <p:cNvSpPr/>
          <p:nvPr/>
        </p:nvSpPr>
        <p:spPr>
          <a:xfrm>
            <a:off x="571500" y="3114675"/>
            <a:ext cx="3429000" cy="414338"/>
          </a:xfrm>
          <a:prstGeom prst="rect">
            <a:avLst/>
          </a:prstGeom>
          <a:noFill/>
        </p:spPr>
        <p:txBody>
          <a:bodyPr wrap="square" lIns="0" tIns="0" rIns="0" bIns="0" rtlCol="0" anchor="t">
            <a:spAutoFit/>
          </a:bodyPr>
          <a:lstStyle/>
          <a:p>
            <a:pPr marL="0" indent="0" algn="l">
              <a:lnSpc>
                <a:spcPts val="1600"/>
              </a:lnSpc>
              <a:buNone/>
            </a:pPr>
            <a:r>
              <a:rPr lang="en-US" sz="1270" kern="0" spc="2" dirty="0">
                <a:solidFill>
                  <a:srgbClr val="718096"/>
                </a:solidFill>
                <a:latin typeface="Inter" pitchFamily="34" charset="0"/>
                <a:ea typeface="Inter" pitchFamily="34" charset="-122"/>
                <a:cs typeface="Inter" pitchFamily="34" charset="-120"/>
              </a:rPr>
              <a:t>STEP PERSONALISED</a:t>
            </a:r>
            <a:r>
              <a:rPr lang="en-US" sz="1270" kern="0" spc="2" dirty="0">
                <a:solidFill>
                  <a:srgbClr val="718096"/>
                </a:solidFill>
                <a:latin typeface="Inter" pitchFamily="34" charset="0"/>
                <a:ea typeface="Inter" pitchFamily="34" charset="-122"/>
                <a:cs typeface="Inter" pitchFamily="34" charset="-120"/>
              </a:rPr>
              <a:t>
</a:t>
            </a:r>
            <a:r>
              <a:rPr lang="en-US" sz="1270" kern="0" spc="2" dirty="0">
                <a:solidFill>
                  <a:srgbClr val="718096"/>
                </a:solidFill>
                <a:latin typeface="Inter" pitchFamily="34" charset="0"/>
                <a:ea typeface="Inter" pitchFamily="34" charset="-122"/>
                <a:cs typeface="Inter" pitchFamily="34" charset="-120"/>
              </a:rPr>
              <a:t>CALCULATION</a:t>
            </a:r>
            <a:endParaRPr lang="en-US" sz="1270" dirty="0"/>
          </a:p>
        </p:txBody>
      </p:sp>
      <p:sp>
        <p:nvSpPr>
          <p:cNvPr id="5" name="Text 2"/>
          <p:cNvSpPr/>
          <p:nvPr/>
        </p:nvSpPr>
        <p:spPr>
          <a:xfrm>
            <a:off x="3871595" y="890270"/>
            <a:ext cx="4700905" cy="1016635"/>
          </a:xfrm>
          <a:prstGeom prst="rect">
            <a:avLst/>
          </a:prstGeom>
          <a:noFill/>
        </p:spPr>
        <p:txBody>
          <a:bodyPr wrap="square" lIns="0" tIns="0" rIns="0" bIns="0" rtlCol="0" anchor="t">
            <a:noAutofit/>
          </a:bodyPr>
          <a:lstStyle/>
          <a:p>
            <a:pPr marL="0" indent="0" algn="l">
              <a:lnSpc>
                <a:spcPts val="3000"/>
              </a:lnSpc>
              <a:buNone/>
            </a:pPr>
            <a:r>
              <a:rPr lang="en-US" sz="2800" b="1" dirty="0">
                <a:solidFill>
                  <a:srgbClr val="2D3748"/>
                </a:solidFill>
                <a:latin typeface="Inter" pitchFamily="34" charset="0"/>
                <a:ea typeface="Inter" pitchFamily="34" charset="-122"/>
                <a:cs typeface="Inter" pitchFamily="34" charset="-120"/>
              </a:rPr>
              <a:t>A Safe, Personalised Dose — Every Time</a:t>
            </a:r>
            <a:endParaRPr lang="en-US" sz="2800" b="1" dirty="0">
              <a:solidFill>
                <a:srgbClr val="2D3748"/>
              </a:solidFill>
              <a:latin typeface="Inter" pitchFamily="34" charset="0"/>
              <a:ea typeface="Inter" pitchFamily="34" charset="-122"/>
              <a:cs typeface="Inter" pitchFamily="34" charset="-120"/>
            </a:endParaRPr>
          </a:p>
        </p:txBody>
      </p:sp>
      <p:sp>
        <p:nvSpPr>
          <p:cNvPr id="6" name="Text 3"/>
          <p:cNvSpPr/>
          <p:nvPr/>
        </p:nvSpPr>
        <p:spPr>
          <a:xfrm>
            <a:off x="3871595" y="1786890"/>
            <a:ext cx="4700905" cy="924560"/>
          </a:xfrm>
          <a:prstGeom prst="rect">
            <a:avLst/>
          </a:prstGeom>
          <a:noFill/>
        </p:spPr>
        <p:txBody>
          <a:bodyPr wrap="square" lIns="0" tIns="0" rIns="0" bIns="0" rtlCol="0" anchor="t">
            <a:noAutofit/>
          </a:bodyPr>
          <a:lstStyle/>
          <a:p>
            <a:pPr marL="0" indent="0" algn="l">
              <a:lnSpc>
                <a:spcPts val="1800"/>
              </a:lnSpc>
              <a:buNone/>
            </a:pPr>
            <a:r>
              <a:rPr lang="en-US" sz="1200" dirty="0">
                <a:solidFill>
                  <a:srgbClr val="718096"/>
                </a:solidFill>
                <a:latin typeface="Inter" pitchFamily="34" charset="0"/>
                <a:ea typeface="Inter" pitchFamily="34" charset="-122"/>
                <a:cs typeface="Inter" pitchFamily="34" charset="-120"/>
              </a:rPr>
              <a:t>DiaTwin calculates the right insulin dose by combining live data with physician-defined safety limits. Every factor is shown clearly — so patients always understand why a dose is suggested.</a:t>
            </a:r>
            <a:endParaRPr lang="en-US" sz="1200" dirty="0">
              <a:solidFill>
                <a:srgbClr val="718096"/>
              </a:solidFill>
              <a:latin typeface="Inter" pitchFamily="34" charset="0"/>
              <a:ea typeface="Inter" pitchFamily="34" charset="-122"/>
              <a:cs typeface="Inter" pitchFamily="34" charset="-120"/>
            </a:endParaRPr>
          </a:p>
        </p:txBody>
      </p:sp>
      <p:sp>
        <p:nvSpPr>
          <p:cNvPr id="7" name="Text 4"/>
          <p:cNvSpPr/>
          <p:nvPr/>
        </p:nvSpPr>
        <p:spPr>
          <a:xfrm>
            <a:off x="4560570" y="3137535"/>
            <a:ext cx="822325" cy="558800"/>
          </a:xfrm>
          <a:prstGeom prst="rect">
            <a:avLst/>
          </a:prstGeom>
          <a:noFill/>
        </p:spPr>
        <p:txBody>
          <a:bodyPr wrap="square" lIns="0" tIns="0" rIns="0" bIns="0" rtlCol="0" anchor="t">
            <a:noAutofit/>
          </a:bodyPr>
          <a:lstStyle/>
          <a:p>
            <a:pPr marL="0" indent="0" algn="ctr">
              <a:lnSpc>
                <a:spcPts val="1600"/>
              </a:lnSpc>
              <a:buNone/>
            </a:pPr>
            <a:r>
              <a:rPr lang="en-US" sz="1400" b="1" dirty="0">
                <a:solidFill>
                  <a:srgbClr val="2D3748"/>
                </a:solidFill>
                <a:latin typeface="Inter" pitchFamily="34" charset="0"/>
                <a:ea typeface="Inter" pitchFamily="34" charset="-122"/>
                <a:cs typeface="Inter" pitchFamily="34" charset="-120"/>
              </a:rPr>
              <a:t>Base Needs</a:t>
            </a:r>
            <a:endParaRPr lang="en-US" sz="1400" b="1" dirty="0">
              <a:solidFill>
                <a:srgbClr val="2D3748"/>
              </a:solidFill>
              <a:latin typeface="Inter" pitchFamily="34" charset="0"/>
              <a:ea typeface="Inter" pitchFamily="34" charset="-122"/>
              <a:cs typeface="Inter" pitchFamily="34" charset="-120"/>
            </a:endParaRPr>
          </a:p>
        </p:txBody>
      </p:sp>
      <p:sp>
        <p:nvSpPr>
          <p:cNvPr id="8" name="Text 5"/>
          <p:cNvSpPr/>
          <p:nvPr/>
        </p:nvSpPr>
        <p:spPr>
          <a:xfrm>
            <a:off x="5306060" y="3206115"/>
            <a:ext cx="169545" cy="372745"/>
          </a:xfrm>
          <a:prstGeom prst="rect">
            <a:avLst/>
          </a:prstGeom>
          <a:noFill/>
        </p:spPr>
        <p:txBody>
          <a:bodyPr wrap="none" lIns="0" tIns="0" rIns="0" bIns="0" rtlCol="0" anchor="t">
            <a:noAutofit/>
          </a:bodyPr>
          <a:lstStyle/>
          <a:p>
            <a:pPr marL="0" indent="0" algn="l">
              <a:lnSpc>
                <a:spcPts val="2200"/>
              </a:lnSpc>
              <a:buNone/>
            </a:pPr>
            <a:r>
              <a:rPr lang="en-US" dirty="0">
                <a:solidFill>
                  <a:srgbClr val="ED8936"/>
                </a:solidFill>
                <a:latin typeface="Inter" pitchFamily="34" charset="0"/>
                <a:ea typeface="Inter" pitchFamily="34" charset="-122"/>
                <a:cs typeface="Inter" pitchFamily="34" charset="-120"/>
              </a:rPr>
              <a:t>+</a:t>
            </a:r>
            <a:endParaRPr lang="en-US" dirty="0">
              <a:solidFill>
                <a:srgbClr val="ED8936"/>
              </a:solidFill>
              <a:latin typeface="Inter" pitchFamily="34" charset="0"/>
              <a:ea typeface="Inter" pitchFamily="34" charset="-122"/>
              <a:cs typeface="Inter" pitchFamily="34" charset="-120"/>
            </a:endParaRPr>
          </a:p>
        </p:txBody>
      </p:sp>
      <p:sp>
        <p:nvSpPr>
          <p:cNvPr id="9" name="Text 6"/>
          <p:cNvSpPr/>
          <p:nvPr/>
        </p:nvSpPr>
        <p:spPr>
          <a:xfrm>
            <a:off x="5408930" y="3241040"/>
            <a:ext cx="1047115" cy="278765"/>
          </a:xfrm>
          <a:prstGeom prst="rect">
            <a:avLst/>
          </a:prstGeom>
          <a:noFill/>
        </p:spPr>
        <p:txBody>
          <a:bodyPr wrap="none" lIns="0" tIns="0" rIns="0" bIns="0" rtlCol="0" anchor="t">
            <a:noAutofit/>
          </a:bodyPr>
          <a:lstStyle/>
          <a:p>
            <a:pPr marL="0" indent="0" algn="ctr">
              <a:lnSpc>
                <a:spcPts val="1600"/>
              </a:lnSpc>
              <a:buNone/>
            </a:pPr>
            <a:r>
              <a:rPr lang="en-US" sz="1400" b="1" dirty="0">
                <a:solidFill>
                  <a:srgbClr val="2D3748"/>
                </a:solidFill>
                <a:latin typeface="Inter" pitchFamily="34" charset="0"/>
                <a:ea typeface="Inter" pitchFamily="34" charset="-122"/>
                <a:cs typeface="Inter" pitchFamily="34" charset="-120"/>
              </a:rPr>
              <a:t>Correction</a:t>
            </a:r>
            <a:endParaRPr lang="en-US" sz="1400" b="1" dirty="0">
              <a:solidFill>
                <a:srgbClr val="2D3748"/>
              </a:solidFill>
              <a:latin typeface="Inter" pitchFamily="34" charset="0"/>
              <a:ea typeface="Inter" pitchFamily="34" charset="-122"/>
              <a:cs typeface="Inter" pitchFamily="34" charset="-120"/>
            </a:endParaRPr>
          </a:p>
        </p:txBody>
      </p:sp>
      <p:sp>
        <p:nvSpPr>
          <p:cNvPr id="10" name="Text 7"/>
          <p:cNvSpPr/>
          <p:nvPr/>
        </p:nvSpPr>
        <p:spPr>
          <a:xfrm>
            <a:off x="6436360" y="3206115"/>
            <a:ext cx="169545" cy="372745"/>
          </a:xfrm>
          <a:prstGeom prst="rect">
            <a:avLst/>
          </a:prstGeom>
          <a:noFill/>
        </p:spPr>
        <p:txBody>
          <a:bodyPr wrap="none" lIns="0" tIns="0" rIns="0" bIns="0" rtlCol="0" anchor="t">
            <a:noAutofit/>
          </a:bodyPr>
          <a:lstStyle/>
          <a:p>
            <a:pPr marL="0" indent="0" algn="l">
              <a:lnSpc>
                <a:spcPts val="2200"/>
              </a:lnSpc>
              <a:buNone/>
            </a:pPr>
            <a:r>
              <a:rPr lang="en-US" dirty="0">
                <a:solidFill>
                  <a:srgbClr val="ED8936"/>
                </a:solidFill>
                <a:latin typeface="Inter" pitchFamily="34" charset="0"/>
                <a:ea typeface="Inter" pitchFamily="34" charset="-122"/>
                <a:cs typeface="Inter" pitchFamily="34" charset="-120"/>
              </a:rPr>
              <a:t>±</a:t>
            </a:r>
            <a:endParaRPr lang="en-US" dirty="0">
              <a:solidFill>
                <a:srgbClr val="ED8936"/>
              </a:solidFill>
              <a:latin typeface="Inter" pitchFamily="34" charset="0"/>
              <a:ea typeface="Inter" pitchFamily="34" charset="-122"/>
              <a:cs typeface="Inter" pitchFamily="34" charset="-120"/>
            </a:endParaRPr>
          </a:p>
        </p:txBody>
      </p:sp>
      <p:sp>
        <p:nvSpPr>
          <p:cNvPr id="11" name="Text 8"/>
          <p:cNvSpPr/>
          <p:nvPr/>
        </p:nvSpPr>
        <p:spPr>
          <a:xfrm>
            <a:off x="6504305" y="3137535"/>
            <a:ext cx="1046480" cy="558800"/>
          </a:xfrm>
          <a:prstGeom prst="rect">
            <a:avLst/>
          </a:prstGeom>
          <a:noFill/>
        </p:spPr>
        <p:txBody>
          <a:bodyPr wrap="square" lIns="0" tIns="0" rIns="0" bIns="0" rtlCol="0" anchor="t">
            <a:noAutofit/>
          </a:bodyPr>
          <a:lstStyle/>
          <a:p>
            <a:pPr marL="0" indent="0" algn="ctr">
              <a:lnSpc>
                <a:spcPts val="1600"/>
              </a:lnSpc>
              <a:buNone/>
            </a:pPr>
            <a:r>
              <a:rPr lang="en-US" sz="1400" b="1" dirty="0">
                <a:solidFill>
                  <a:srgbClr val="2D3748"/>
                </a:solidFill>
                <a:latin typeface="Inter" pitchFamily="34" charset="0"/>
                <a:ea typeface="Inter" pitchFamily="34" charset="-122"/>
                <a:cs typeface="Inter" pitchFamily="34" charset="-120"/>
              </a:rPr>
              <a:t>Active Insulin &amp; Meal Adj.</a:t>
            </a:r>
            <a:endParaRPr lang="en-US" sz="1400" b="1" dirty="0">
              <a:solidFill>
                <a:srgbClr val="2D3748"/>
              </a:solidFill>
              <a:latin typeface="Inter" pitchFamily="34" charset="0"/>
              <a:ea typeface="Inter" pitchFamily="34" charset="-122"/>
              <a:cs typeface="Inter" pitchFamily="34" charset="-120"/>
            </a:endParaRPr>
          </a:p>
        </p:txBody>
      </p:sp>
      <p:sp>
        <p:nvSpPr>
          <p:cNvPr id="12" name="Text 9"/>
          <p:cNvSpPr/>
          <p:nvPr/>
        </p:nvSpPr>
        <p:spPr>
          <a:xfrm>
            <a:off x="7531735" y="3206115"/>
            <a:ext cx="169545" cy="372745"/>
          </a:xfrm>
          <a:prstGeom prst="rect">
            <a:avLst/>
          </a:prstGeom>
          <a:noFill/>
        </p:spPr>
        <p:txBody>
          <a:bodyPr wrap="none" lIns="0" tIns="0" rIns="0" bIns="0" rtlCol="0" anchor="t">
            <a:noAutofit/>
          </a:bodyPr>
          <a:lstStyle/>
          <a:p>
            <a:pPr marL="0" indent="0" algn="l">
              <a:lnSpc>
                <a:spcPts val="2200"/>
              </a:lnSpc>
              <a:buNone/>
            </a:pPr>
            <a:r>
              <a:rPr lang="en-US" dirty="0">
                <a:solidFill>
                  <a:srgbClr val="ED8936"/>
                </a:solidFill>
                <a:latin typeface="Inter" pitchFamily="34" charset="0"/>
                <a:ea typeface="Inter" pitchFamily="34" charset="-122"/>
                <a:cs typeface="Inter" pitchFamily="34" charset="-120"/>
              </a:rPr>
              <a:t>=</a:t>
            </a:r>
            <a:endParaRPr lang="en-US" dirty="0">
              <a:solidFill>
                <a:srgbClr val="ED8936"/>
              </a:solidFill>
              <a:latin typeface="Inter" pitchFamily="34" charset="0"/>
              <a:ea typeface="Inter" pitchFamily="34" charset="-122"/>
              <a:cs typeface="Inter" pitchFamily="34" charset="-120"/>
            </a:endParaRPr>
          </a:p>
        </p:txBody>
      </p:sp>
      <p:sp>
        <p:nvSpPr>
          <p:cNvPr id="13" name="Text 10"/>
          <p:cNvSpPr/>
          <p:nvPr/>
        </p:nvSpPr>
        <p:spPr>
          <a:xfrm>
            <a:off x="7601585" y="3067685"/>
            <a:ext cx="845185" cy="746125"/>
          </a:xfrm>
          <a:prstGeom prst="rect">
            <a:avLst/>
          </a:prstGeom>
          <a:noFill/>
        </p:spPr>
        <p:txBody>
          <a:bodyPr wrap="square" lIns="0" tIns="0" rIns="0" bIns="0" rtlCol="0" anchor="t">
            <a:noAutofit/>
          </a:bodyPr>
          <a:lstStyle/>
          <a:p>
            <a:pPr marL="0" indent="0" algn="ctr">
              <a:lnSpc>
                <a:spcPts val="2200"/>
              </a:lnSpc>
              <a:buNone/>
            </a:pPr>
            <a:r>
              <a:rPr lang="en-US" b="1" dirty="0">
                <a:solidFill>
                  <a:srgbClr val="ED8936"/>
                </a:solidFill>
                <a:latin typeface="Inter" pitchFamily="34" charset="0"/>
                <a:ea typeface="Inter" pitchFamily="34" charset="-122"/>
                <a:cs typeface="Inter" pitchFamily="34" charset="-120"/>
              </a:rPr>
              <a:t>6.8 Units</a:t>
            </a:r>
            <a:endParaRPr lang="en-US" b="1" dirty="0">
              <a:solidFill>
                <a:srgbClr val="ED8936"/>
              </a:solidFill>
              <a:latin typeface="Inter" pitchFamily="34" charset="0"/>
              <a:ea typeface="Inter" pitchFamily="34" charset="-122"/>
              <a:cs typeface="Inter" pitchFamily="34" charset="-120"/>
            </a:endParaRPr>
          </a:p>
        </p:txBody>
      </p:sp>
      <p:pic>
        <p:nvPicPr>
          <p:cNvPr id="14" name="Image 1" descr="preencoded.png"/>
          <p:cNvPicPr>
            <a:picLocks noChangeAspect="1"/>
          </p:cNvPicPr>
          <p:nvPr/>
        </p:nvPicPr>
        <p:blipFill>
          <a:blip r:embed="rId2"/>
          <a:stretch>
            <a:fillRect/>
          </a:stretch>
        </p:blipFill>
        <p:spPr>
          <a:xfrm>
            <a:off x="4295775" y="4079240"/>
            <a:ext cx="192405" cy="192405"/>
          </a:xfrm>
          <a:prstGeom prst="rect">
            <a:avLst/>
          </a:prstGeom>
        </p:spPr>
      </p:pic>
      <p:sp>
        <p:nvSpPr>
          <p:cNvPr id="15" name="Text 11"/>
          <p:cNvSpPr/>
          <p:nvPr/>
        </p:nvSpPr>
        <p:spPr>
          <a:xfrm>
            <a:off x="4539615" y="4072890"/>
            <a:ext cx="998855" cy="209550"/>
          </a:xfrm>
          <a:prstGeom prst="rect">
            <a:avLst/>
          </a:prstGeom>
          <a:noFill/>
        </p:spPr>
        <p:txBody>
          <a:bodyPr wrap="none" lIns="0" tIns="0" rIns="0" bIns="0" rtlCol="0" anchor="t">
            <a:noAutofit/>
          </a:bodyPr>
          <a:lstStyle/>
          <a:p>
            <a:pPr marL="0" indent="0" algn="l">
              <a:lnSpc>
                <a:spcPts val="1200"/>
              </a:lnSpc>
              <a:buNone/>
            </a:pPr>
            <a:r>
              <a:rPr lang="en-US" sz="1040" dirty="0">
                <a:solidFill>
                  <a:srgbClr val="718096"/>
                </a:solidFill>
                <a:latin typeface="Inter" pitchFamily="34" charset="0"/>
                <a:ea typeface="Inter" pitchFamily="34" charset="-122"/>
                <a:cs typeface="Inter" pitchFamily="34" charset="-120"/>
              </a:rPr>
              <a:t>Carbohydrates</a:t>
            </a:r>
            <a:endParaRPr lang="en-US" sz="1040" dirty="0">
              <a:solidFill>
                <a:srgbClr val="718096"/>
              </a:solidFill>
              <a:latin typeface="Inter" pitchFamily="34" charset="0"/>
              <a:ea typeface="Inter" pitchFamily="34" charset="-122"/>
              <a:cs typeface="Inter" pitchFamily="34" charset="-120"/>
            </a:endParaRPr>
          </a:p>
        </p:txBody>
      </p:sp>
      <p:pic>
        <p:nvPicPr>
          <p:cNvPr id="16" name="Image 2" descr="preencoded.png"/>
          <p:cNvPicPr>
            <a:picLocks noChangeAspect="1"/>
          </p:cNvPicPr>
          <p:nvPr/>
        </p:nvPicPr>
        <p:blipFill>
          <a:blip r:embed="rId3"/>
          <a:stretch>
            <a:fillRect/>
          </a:stretch>
        </p:blipFill>
        <p:spPr>
          <a:xfrm>
            <a:off x="6390640" y="4079240"/>
            <a:ext cx="144145" cy="192405"/>
          </a:xfrm>
          <a:prstGeom prst="rect">
            <a:avLst/>
          </a:prstGeom>
        </p:spPr>
      </p:pic>
      <p:sp>
        <p:nvSpPr>
          <p:cNvPr id="17" name="Text 12"/>
          <p:cNvSpPr/>
          <p:nvPr/>
        </p:nvSpPr>
        <p:spPr>
          <a:xfrm>
            <a:off x="6624320" y="4060190"/>
            <a:ext cx="830580" cy="209550"/>
          </a:xfrm>
          <a:prstGeom prst="rect">
            <a:avLst/>
          </a:prstGeom>
          <a:noFill/>
        </p:spPr>
        <p:txBody>
          <a:bodyPr wrap="none" lIns="0" tIns="0" rIns="0" bIns="0" rtlCol="0" anchor="t">
            <a:noAutofit/>
          </a:bodyPr>
          <a:lstStyle/>
          <a:p>
            <a:pPr marL="0" indent="0" algn="l">
              <a:lnSpc>
                <a:spcPts val="1200"/>
              </a:lnSpc>
              <a:buNone/>
            </a:pPr>
            <a:r>
              <a:rPr lang="en-US" sz="1040" dirty="0">
                <a:solidFill>
                  <a:srgbClr val="718096"/>
                </a:solidFill>
                <a:latin typeface="Inter" pitchFamily="34" charset="0"/>
                <a:ea typeface="Inter" pitchFamily="34" charset="-122"/>
                <a:cs typeface="Inter" pitchFamily="34" charset="-120"/>
              </a:rPr>
              <a:t>Blood Sugar</a:t>
            </a:r>
            <a:endParaRPr lang="en-US" sz="1040" dirty="0">
              <a:solidFill>
                <a:srgbClr val="718096"/>
              </a:solidFill>
              <a:latin typeface="Inter" pitchFamily="34" charset="0"/>
              <a:ea typeface="Inter" pitchFamily="34" charset="-122"/>
              <a:cs typeface="Inter" pitchFamily="34" charset="-120"/>
            </a:endParaRPr>
          </a:p>
        </p:txBody>
      </p:sp>
      <p:pic>
        <p:nvPicPr>
          <p:cNvPr id="18" name="Image 3" descr="preencoded.png"/>
          <p:cNvPicPr>
            <a:picLocks noChangeAspect="1"/>
          </p:cNvPicPr>
          <p:nvPr/>
        </p:nvPicPr>
        <p:blipFill>
          <a:blip r:embed="rId4"/>
          <a:stretch>
            <a:fillRect/>
          </a:stretch>
        </p:blipFill>
        <p:spPr>
          <a:xfrm>
            <a:off x="4308475" y="4377690"/>
            <a:ext cx="144145" cy="192405"/>
          </a:xfrm>
          <a:prstGeom prst="rect">
            <a:avLst/>
          </a:prstGeom>
        </p:spPr>
      </p:pic>
      <p:sp>
        <p:nvSpPr>
          <p:cNvPr id="19" name="Text 13"/>
          <p:cNvSpPr/>
          <p:nvPr/>
        </p:nvSpPr>
        <p:spPr>
          <a:xfrm>
            <a:off x="4521835" y="4371340"/>
            <a:ext cx="850265" cy="209550"/>
          </a:xfrm>
          <a:prstGeom prst="rect">
            <a:avLst/>
          </a:prstGeom>
          <a:noFill/>
        </p:spPr>
        <p:txBody>
          <a:bodyPr wrap="none" lIns="0" tIns="0" rIns="0" bIns="0" rtlCol="0" anchor="t">
            <a:noAutofit/>
          </a:bodyPr>
          <a:lstStyle/>
          <a:p>
            <a:pPr marL="0" indent="0" algn="l">
              <a:lnSpc>
                <a:spcPts val="1200"/>
              </a:lnSpc>
              <a:buNone/>
            </a:pPr>
            <a:r>
              <a:rPr lang="en-US" sz="1040" dirty="0">
                <a:solidFill>
                  <a:srgbClr val="718096"/>
                </a:solidFill>
                <a:latin typeface="Inter" pitchFamily="34" charset="0"/>
                <a:ea typeface="Inter" pitchFamily="34" charset="-122"/>
                <a:cs typeface="Inter" pitchFamily="34" charset="-120"/>
              </a:rPr>
              <a:t>Protein &amp; Fat</a:t>
            </a:r>
            <a:endParaRPr lang="en-US" sz="1040" dirty="0">
              <a:solidFill>
                <a:srgbClr val="718096"/>
              </a:solidFill>
              <a:latin typeface="Inter" pitchFamily="34" charset="0"/>
              <a:ea typeface="Inter" pitchFamily="34" charset="-122"/>
              <a:cs typeface="Inter" pitchFamily="34" charset="-120"/>
            </a:endParaRPr>
          </a:p>
        </p:txBody>
      </p:sp>
      <p:pic>
        <p:nvPicPr>
          <p:cNvPr id="20" name="Image 4" descr="preencoded.png"/>
          <p:cNvPicPr>
            <a:picLocks noChangeAspect="1"/>
          </p:cNvPicPr>
          <p:nvPr/>
        </p:nvPicPr>
        <p:blipFill>
          <a:blip r:embed="rId5"/>
          <a:stretch>
            <a:fillRect/>
          </a:stretch>
        </p:blipFill>
        <p:spPr>
          <a:xfrm>
            <a:off x="6377940" y="4377690"/>
            <a:ext cx="192405" cy="192405"/>
          </a:xfrm>
          <a:prstGeom prst="rect">
            <a:avLst/>
          </a:prstGeom>
        </p:spPr>
      </p:pic>
      <p:sp>
        <p:nvSpPr>
          <p:cNvPr id="21" name="Text 14"/>
          <p:cNvSpPr/>
          <p:nvPr/>
        </p:nvSpPr>
        <p:spPr>
          <a:xfrm>
            <a:off x="6649085" y="4371340"/>
            <a:ext cx="1283970" cy="209550"/>
          </a:xfrm>
          <a:prstGeom prst="rect">
            <a:avLst/>
          </a:prstGeom>
          <a:noFill/>
        </p:spPr>
        <p:txBody>
          <a:bodyPr wrap="none" lIns="0" tIns="0" rIns="0" bIns="0" rtlCol="0" anchor="t">
            <a:noAutofit/>
          </a:bodyPr>
          <a:lstStyle/>
          <a:p>
            <a:pPr marL="0" indent="0" algn="l">
              <a:lnSpc>
                <a:spcPts val="1200"/>
              </a:lnSpc>
              <a:buNone/>
            </a:pPr>
            <a:r>
              <a:rPr lang="en-US" sz="1040" dirty="0">
                <a:solidFill>
                  <a:srgbClr val="718096"/>
                </a:solidFill>
                <a:latin typeface="Inter" pitchFamily="34" charset="0"/>
                <a:ea typeface="Inter" pitchFamily="34" charset="-122"/>
                <a:cs typeface="Inter" pitchFamily="34" charset="-120"/>
              </a:rPr>
              <a:t>Active Insulin</a:t>
            </a:r>
            <a:endParaRPr lang="en-US" sz="1040" dirty="0">
              <a:solidFill>
                <a:srgbClr val="718096"/>
              </a:solidFill>
              <a:latin typeface="Inter" pitchFamily="34" charset="0"/>
              <a:ea typeface="Inter" pitchFamily="34" charset="-122"/>
              <a:cs typeface="Inter" pitchFamily="34" charset="-120"/>
            </a:endParaRPr>
          </a:p>
        </p:txBody>
      </p:sp>
      <p:pic>
        <p:nvPicPr>
          <p:cNvPr id="22" name="Image 5" descr="preencoded.png"/>
          <p:cNvPicPr>
            <a:picLocks noChangeAspect="1"/>
          </p:cNvPicPr>
          <p:nvPr/>
        </p:nvPicPr>
        <p:blipFill>
          <a:blip r:embed="rId6"/>
          <a:stretch>
            <a:fillRect/>
          </a:stretch>
        </p:blipFill>
        <p:spPr>
          <a:xfrm>
            <a:off x="4302125" y="4676140"/>
            <a:ext cx="168275" cy="192405"/>
          </a:xfrm>
          <a:prstGeom prst="rect">
            <a:avLst/>
          </a:prstGeom>
        </p:spPr>
      </p:pic>
      <p:sp>
        <p:nvSpPr>
          <p:cNvPr id="23" name="Text 15"/>
          <p:cNvSpPr/>
          <p:nvPr/>
        </p:nvSpPr>
        <p:spPr>
          <a:xfrm>
            <a:off x="4490085" y="4669790"/>
            <a:ext cx="1266190" cy="209550"/>
          </a:xfrm>
          <a:prstGeom prst="rect">
            <a:avLst/>
          </a:prstGeom>
          <a:noFill/>
        </p:spPr>
        <p:txBody>
          <a:bodyPr wrap="none" lIns="0" tIns="0" rIns="0" bIns="0" rtlCol="0" anchor="t">
            <a:noAutofit/>
          </a:bodyPr>
          <a:lstStyle/>
          <a:p>
            <a:pPr marL="0" indent="0" algn="l">
              <a:lnSpc>
                <a:spcPts val="1200"/>
              </a:lnSpc>
              <a:buNone/>
            </a:pPr>
            <a:r>
              <a:rPr lang="en-US" sz="1040" dirty="0">
                <a:solidFill>
                  <a:srgbClr val="718096"/>
                </a:solidFill>
                <a:latin typeface="Inter" pitchFamily="34" charset="0"/>
                <a:ea typeface="Inter" pitchFamily="34" charset="-122"/>
                <a:cs typeface="Inter" pitchFamily="34" charset="-120"/>
              </a:rPr>
              <a:t>Doctor Parameters</a:t>
            </a:r>
            <a:endParaRPr lang="en-US" sz="1040" dirty="0">
              <a:solidFill>
                <a:srgbClr val="718096"/>
              </a:solidFill>
              <a:latin typeface="Inter" pitchFamily="34" charset="0"/>
              <a:ea typeface="Inter" pitchFamily="34" charset="-122"/>
              <a:cs typeface="Inter" pitchFamily="34" charset="-120"/>
            </a:endParaRPr>
          </a:p>
        </p:txBody>
      </p:sp>
      <p:pic>
        <p:nvPicPr>
          <p:cNvPr id="24" name="Image 6" descr="preencoded.png"/>
          <p:cNvPicPr>
            <a:picLocks noChangeAspect="1"/>
          </p:cNvPicPr>
          <p:nvPr/>
        </p:nvPicPr>
        <p:blipFill>
          <a:blip r:embed="rId7"/>
          <a:stretch>
            <a:fillRect/>
          </a:stretch>
        </p:blipFill>
        <p:spPr>
          <a:xfrm>
            <a:off x="6384290" y="4676140"/>
            <a:ext cx="168275" cy="192405"/>
          </a:xfrm>
          <a:prstGeom prst="rect">
            <a:avLst/>
          </a:prstGeom>
        </p:spPr>
      </p:pic>
      <p:sp>
        <p:nvSpPr>
          <p:cNvPr id="25" name="Text 16"/>
          <p:cNvSpPr/>
          <p:nvPr/>
        </p:nvSpPr>
        <p:spPr>
          <a:xfrm>
            <a:off x="6624320" y="4669790"/>
            <a:ext cx="1343025" cy="209550"/>
          </a:xfrm>
          <a:prstGeom prst="rect">
            <a:avLst/>
          </a:prstGeom>
          <a:noFill/>
        </p:spPr>
        <p:txBody>
          <a:bodyPr wrap="none" lIns="0" tIns="0" rIns="0" bIns="0" rtlCol="0" anchor="t">
            <a:noAutofit/>
          </a:bodyPr>
          <a:lstStyle/>
          <a:p>
            <a:pPr marL="0" indent="0" algn="l">
              <a:lnSpc>
                <a:spcPts val="1200"/>
              </a:lnSpc>
              <a:buNone/>
            </a:pPr>
            <a:r>
              <a:rPr lang="en-US" sz="1040" dirty="0">
                <a:solidFill>
                  <a:srgbClr val="718096"/>
                </a:solidFill>
                <a:latin typeface="Inter" pitchFamily="34" charset="0"/>
                <a:ea typeface="Inter" pitchFamily="34" charset="-122"/>
                <a:cs typeface="Inter" pitchFamily="34" charset="-120"/>
              </a:rPr>
              <a:t>Active Carbs</a:t>
            </a:r>
            <a:endParaRPr lang="en-US" sz="1040" dirty="0">
              <a:solidFill>
                <a:srgbClr val="718096"/>
              </a:solidFill>
              <a:latin typeface="Inter" pitchFamily="34" charset="0"/>
              <a:ea typeface="Inter" pitchFamily="34" charset="-122"/>
              <a:cs typeface="Inter"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925841"/>
            <a:ext cx="3429000" cy="1320115"/>
          </a:xfrm>
          <a:prstGeom prst="rect">
            <a:avLst/>
          </a:prstGeom>
          <a:noFill/>
        </p:spPr>
        <p:txBody>
          <a:bodyPr wrap="square" lIns="0" tIns="0" rIns="0" bIns="0" rtlCol="0" anchor="t">
            <a:spAutoFit/>
          </a:bodyPr>
          <a:lstStyle/>
          <a:p>
            <a:pPr marL="0" indent="0" algn="l">
              <a:lnSpc>
                <a:spcPts val="3500"/>
              </a:lnSpc>
              <a:buNone/>
            </a:pPr>
            <a:r>
              <a:rPr lang="en-US" sz="2860" b="1" dirty="0">
                <a:solidFill>
                  <a:srgbClr val="2D3748"/>
                </a:solidFill>
                <a:latin typeface="Inter" pitchFamily="34" charset="0"/>
                <a:ea typeface="Inter" pitchFamily="34" charset="-122"/>
                <a:cs typeface="Inter" pitchFamily="34" charset="-120"/>
              </a:rPr>
              <a:t>Full Control</a:t>
            </a:r>
            <a:r>
              <a:rPr lang="en-US" sz="2860" b="1" dirty="0">
                <a:solidFill>
                  <a:srgbClr val="2D3748"/>
                </a:solidFill>
                <a:latin typeface="Inter" pitchFamily="34" charset="0"/>
                <a:ea typeface="Inter" pitchFamily="34" charset="-122"/>
                <a:cs typeface="Inter" pitchFamily="34" charset="-120"/>
              </a:rPr>
              <a:t>
</a:t>
            </a:r>
            <a:r>
              <a:rPr lang="en-US" sz="2860" b="1" dirty="0">
                <a:solidFill>
                  <a:srgbClr val="2D3748"/>
                </a:solidFill>
                <a:latin typeface="Inter" pitchFamily="34" charset="0"/>
                <a:ea typeface="Inter" pitchFamily="34" charset="-122"/>
                <a:cs typeface="Inter" pitchFamily="34" charset="-120"/>
              </a:rPr>
              <a:t>for the</a:t>
            </a:r>
            <a:r>
              <a:rPr lang="en-US" sz="2860" b="1" dirty="0">
                <a:solidFill>
                  <a:srgbClr val="2D3748"/>
                </a:solidFill>
                <a:latin typeface="Inter" pitchFamily="34" charset="0"/>
                <a:ea typeface="Inter" pitchFamily="34" charset="-122"/>
                <a:cs typeface="Inter" pitchFamily="34" charset="-120"/>
              </a:rPr>
              <a:t>
</a:t>
            </a:r>
            <a:r>
              <a:rPr lang="en-US" sz="2860" b="1" dirty="0">
                <a:solidFill>
                  <a:srgbClr val="2D3748"/>
                </a:solidFill>
                <a:latin typeface="Inter" pitchFamily="34" charset="0"/>
                <a:ea typeface="Inter" pitchFamily="34" charset="-122"/>
                <a:cs typeface="Inter" pitchFamily="34" charset="-120"/>
              </a:rPr>
              <a:t>Doctor</a:t>
            </a:r>
            <a:endParaRPr lang="en-US" sz="2860" dirty="0"/>
          </a:p>
        </p:txBody>
      </p:sp>
      <p:pic>
        <p:nvPicPr>
          <p:cNvPr id="6" name="Image 1" descr="preencoded.png"/>
          <p:cNvPicPr>
            <a:picLocks noChangeAspect="1"/>
          </p:cNvPicPr>
          <p:nvPr/>
        </p:nvPicPr>
        <p:blipFill>
          <a:blip r:embed="rId2"/>
          <a:stretch>
            <a:fillRect/>
          </a:stretch>
        </p:blipFill>
        <p:spPr>
          <a:xfrm>
            <a:off x="4513064" y="1591270"/>
            <a:ext cx="175022" cy="200025"/>
          </a:xfrm>
          <a:prstGeom prst="rect">
            <a:avLst/>
          </a:prstGeom>
        </p:spPr>
      </p:pic>
      <p:sp>
        <p:nvSpPr>
          <p:cNvPr id="7" name="Text 3"/>
          <p:cNvSpPr/>
          <p:nvPr/>
        </p:nvSpPr>
        <p:spPr>
          <a:xfrm>
            <a:off x="4914900" y="1519833"/>
            <a:ext cx="3657600" cy="189309"/>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D3748"/>
                </a:solidFill>
                <a:latin typeface="Inter" pitchFamily="34" charset="0"/>
                <a:ea typeface="Inter" pitchFamily="34" charset="-122"/>
                <a:cs typeface="Inter" pitchFamily="34" charset="-120"/>
              </a:rPr>
              <a:t>Physician-Led Safety</a:t>
            </a:r>
            <a:endParaRPr lang="en-US" sz="1090" dirty="0"/>
          </a:p>
        </p:txBody>
      </p:sp>
      <p:sp>
        <p:nvSpPr>
          <p:cNvPr id="8" name="Text 4"/>
          <p:cNvSpPr/>
          <p:nvPr/>
        </p:nvSpPr>
        <p:spPr>
          <a:xfrm>
            <a:off x="4914900" y="1766292"/>
            <a:ext cx="3657600" cy="385763"/>
          </a:xfrm>
          <a:prstGeom prst="rect">
            <a:avLst/>
          </a:prstGeom>
          <a:noFill/>
        </p:spPr>
        <p:txBody>
          <a:bodyPr wrap="square" lIns="0" tIns="0" rIns="0" bIns="0" rtlCol="0" anchor="t">
            <a:spAutoFit/>
          </a:bodyPr>
          <a:lstStyle/>
          <a:p>
            <a:pPr marL="0" indent="0" algn="l">
              <a:lnSpc>
                <a:spcPts val="1500"/>
              </a:lnSpc>
              <a:buNone/>
            </a:pPr>
            <a:r>
              <a:rPr lang="en-US" sz="940" dirty="0">
                <a:solidFill>
                  <a:srgbClr val="718096"/>
                </a:solidFill>
                <a:latin typeface="Inter" pitchFamily="34" charset="0"/>
                <a:ea typeface="Inter" pitchFamily="34" charset="-122"/>
                <a:cs typeface="Inter" pitchFamily="34" charset="-120"/>
              </a:rPr>
              <a:t>Physicians maintain a clear, real-time view of patient glucose trends and insulin history — from anywhere.</a:t>
            </a:r>
            <a:endParaRPr lang="en-US" sz="940" dirty="0"/>
          </a:p>
        </p:txBody>
      </p:sp>
      <p:pic>
        <p:nvPicPr>
          <p:cNvPr id="9" name="Image 2" descr="preencoded.png"/>
          <p:cNvPicPr>
            <a:picLocks noChangeAspect="1"/>
          </p:cNvPicPr>
          <p:nvPr/>
        </p:nvPicPr>
        <p:blipFill>
          <a:blip r:embed="rId3"/>
          <a:stretch>
            <a:fillRect/>
          </a:stretch>
        </p:blipFill>
        <p:spPr>
          <a:xfrm>
            <a:off x="4513064" y="2452092"/>
            <a:ext cx="175022" cy="200025"/>
          </a:xfrm>
          <a:prstGeom prst="rect">
            <a:avLst/>
          </a:prstGeom>
        </p:spPr>
      </p:pic>
      <p:sp>
        <p:nvSpPr>
          <p:cNvPr id="10" name="Text 5"/>
          <p:cNvSpPr/>
          <p:nvPr/>
        </p:nvSpPr>
        <p:spPr>
          <a:xfrm>
            <a:off x="4914900" y="2380655"/>
            <a:ext cx="3657600" cy="189309"/>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D3748"/>
                </a:solidFill>
                <a:latin typeface="Inter" pitchFamily="34" charset="0"/>
                <a:ea typeface="Inter" pitchFamily="34" charset="-122"/>
                <a:cs typeface="Inter" pitchFamily="34" charset="-120"/>
              </a:rPr>
              <a:t>Doctor-Defined Safety Limits</a:t>
            </a:r>
            <a:endParaRPr lang="en-US" sz="1090" dirty="0"/>
          </a:p>
        </p:txBody>
      </p:sp>
      <p:sp>
        <p:nvSpPr>
          <p:cNvPr id="11" name="Text 6"/>
          <p:cNvSpPr/>
          <p:nvPr/>
        </p:nvSpPr>
        <p:spPr>
          <a:xfrm>
            <a:off x="4914900" y="2627114"/>
            <a:ext cx="3657600" cy="385763"/>
          </a:xfrm>
          <a:prstGeom prst="rect">
            <a:avLst/>
          </a:prstGeom>
          <a:noFill/>
        </p:spPr>
        <p:txBody>
          <a:bodyPr wrap="square" lIns="0" tIns="0" rIns="0" bIns="0" rtlCol="0" anchor="t">
            <a:spAutoFit/>
          </a:bodyPr>
          <a:lstStyle/>
          <a:p>
            <a:pPr marL="0" indent="0" algn="l">
              <a:lnSpc>
                <a:spcPts val="1500"/>
              </a:lnSpc>
              <a:buNone/>
            </a:pPr>
            <a:r>
              <a:rPr lang="en-US" sz="940" dirty="0">
                <a:solidFill>
                  <a:srgbClr val="718096"/>
                </a:solidFill>
                <a:latin typeface="Inter" pitchFamily="34" charset="0"/>
                <a:ea typeface="Inter" pitchFamily="34" charset="-122"/>
                <a:cs typeface="Inter" pitchFamily="34" charset="-120"/>
              </a:rPr>
              <a:t>All medical parameters are set and locked by the physician. Patients follow guided recommendations — safely within prescribed boundaries.</a:t>
            </a:r>
            <a:endParaRPr lang="en-US" sz="940" dirty="0"/>
          </a:p>
        </p:txBody>
      </p:sp>
      <p:sp>
        <p:nvSpPr>
          <p:cNvPr id="12" name="Text 7"/>
          <p:cNvSpPr/>
          <p:nvPr/>
        </p:nvSpPr>
        <p:spPr>
          <a:xfrm>
            <a:off x="4914900" y="3241477"/>
            <a:ext cx="3657600" cy="189309"/>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D3748"/>
                </a:solidFill>
                <a:latin typeface="Inter" pitchFamily="34" charset="0"/>
                <a:ea typeface="Inter" pitchFamily="34" charset="-122"/>
                <a:cs typeface="Inter" pitchFamily="34" charset="-120"/>
              </a:rPr>
              <a:t>Built for the German Market</a:t>
            </a:r>
            <a:endParaRPr lang="en-US" sz="1090" dirty="0"/>
          </a:p>
        </p:txBody>
      </p:sp>
      <p:sp>
        <p:nvSpPr>
          <p:cNvPr id="13" name="Text 8"/>
          <p:cNvSpPr/>
          <p:nvPr/>
        </p:nvSpPr>
        <p:spPr>
          <a:xfrm>
            <a:off x="4914900" y="3487936"/>
            <a:ext cx="3657600" cy="385763"/>
          </a:xfrm>
          <a:prstGeom prst="rect">
            <a:avLst/>
          </a:prstGeom>
          <a:noFill/>
        </p:spPr>
        <p:txBody>
          <a:bodyPr wrap="square" lIns="0" tIns="0" rIns="0" bIns="0" rtlCol="0" anchor="t">
            <a:spAutoFit/>
          </a:bodyPr>
          <a:lstStyle/>
          <a:p>
            <a:pPr marL="0" indent="0" algn="l">
              <a:lnSpc>
                <a:spcPts val="1500"/>
              </a:lnSpc>
              <a:buNone/>
            </a:pPr>
            <a:r>
              <a:rPr lang="en-US" sz="940" dirty="0">
                <a:solidFill>
                  <a:srgbClr val="718096"/>
                </a:solidFill>
                <a:latin typeface="Inter" pitchFamily="34" charset="0"/>
                <a:ea typeface="Inter" pitchFamily="34" charset="-122"/>
                <a:cs typeface="Inter" pitchFamily="34" charset="-120"/>
              </a:rPr>
              <a:t>Fully aligned with German S3 clinical guidelines and designed from the ground up for DiGA insurance reimbursement.</a:t>
            </a:r>
            <a:endParaRPr lang="en-US" sz="940" dirty="0"/>
          </a:p>
        </p:txBody>
      </p:sp>
      <p:sp>
        <p:nvSpPr>
          <p:cNvPr id="16" name="Shape 11"/>
          <p:cNvSpPr/>
          <p:nvPr/>
        </p:nvSpPr>
        <p:spPr>
          <a:xfrm>
            <a:off x="5932884" y="4138493"/>
            <a:ext cx="864394" cy="242888"/>
          </a:xfrm>
          <a:prstGeom prst="rect">
            <a:avLst/>
          </a:prstGeom>
          <a:solidFill>
            <a:srgbClr val="2D3748"/>
          </a:solidFill>
        </p:spPr>
      </p:sp>
      <p:sp>
        <p:nvSpPr>
          <p:cNvPr id="17" name="Text 12"/>
          <p:cNvSpPr/>
          <p:nvPr/>
        </p:nvSpPr>
        <p:spPr>
          <a:xfrm>
            <a:off x="5932884" y="4138493"/>
            <a:ext cx="864394" cy="242888"/>
          </a:xfrm>
          <a:prstGeom prst="rect">
            <a:avLst/>
          </a:prstGeom>
          <a:noFill/>
        </p:spPr>
        <p:txBody>
          <a:bodyPr wrap="square" lIns="102108" tIns="51054" rIns="102108" bIns="0" rtlCol="0" anchor="t">
            <a:spAutoFit/>
          </a:bodyPr>
          <a:lstStyle/>
          <a:p>
            <a:pPr marL="0" indent="0" algn="l">
              <a:lnSpc>
                <a:spcPts val="900"/>
              </a:lnSpc>
              <a:buNone/>
            </a:pPr>
            <a:r>
              <a:rPr lang="en-US" sz="685" b="1" kern="0" spc="1" dirty="0">
                <a:solidFill>
                  <a:srgbClr val="FAFAFA"/>
                </a:solidFill>
                <a:latin typeface="Inter" pitchFamily="34" charset="0"/>
                <a:ea typeface="Inter" pitchFamily="34" charset="-122"/>
                <a:cs typeface="Inter" pitchFamily="34" charset="-120"/>
              </a:rPr>
              <a:t>DIGA READY</a:t>
            </a:r>
            <a:endParaRPr lang="en-US" sz="685" dirty="0"/>
          </a:p>
        </p:txBody>
      </p:sp>
      <p:sp>
        <p:nvSpPr>
          <p:cNvPr id="18" name="Shape 13"/>
          <p:cNvSpPr/>
          <p:nvPr/>
        </p:nvSpPr>
        <p:spPr>
          <a:xfrm>
            <a:off x="6904434" y="4138493"/>
            <a:ext cx="478631" cy="242888"/>
          </a:xfrm>
          <a:prstGeom prst="rect">
            <a:avLst/>
          </a:prstGeom>
          <a:solidFill>
            <a:srgbClr val="2D3748"/>
          </a:solidFill>
        </p:spPr>
      </p:sp>
      <p:sp>
        <p:nvSpPr>
          <p:cNvPr id="19" name="Text 14"/>
          <p:cNvSpPr/>
          <p:nvPr/>
        </p:nvSpPr>
        <p:spPr>
          <a:xfrm>
            <a:off x="6904434" y="4138493"/>
            <a:ext cx="478631" cy="242888"/>
          </a:xfrm>
          <a:prstGeom prst="rect">
            <a:avLst/>
          </a:prstGeom>
          <a:noFill/>
        </p:spPr>
        <p:txBody>
          <a:bodyPr wrap="square" lIns="102108" tIns="51054" rIns="102108" bIns="0" rtlCol="0" anchor="t">
            <a:spAutoFit/>
          </a:bodyPr>
          <a:lstStyle/>
          <a:p>
            <a:pPr marL="0" indent="0" algn="l">
              <a:lnSpc>
                <a:spcPts val="900"/>
              </a:lnSpc>
              <a:buNone/>
            </a:pPr>
            <a:r>
              <a:rPr lang="en-US" sz="685" b="1" kern="0" spc="1" dirty="0">
                <a:solidFill>
                  <a:srgbClr val="FAFAFA"/>
                </a:solidFill>
                <a:latin typeface="Inter" pitchFamily="34" charset="0"/>
                <a:ea typeface="Inter" pitchFamily="34" charset="-122"/>
                <a:cs typeface="Inter" pitchFamily="34" charset="-120"/>
              </a:rPr>
              <a:t>GDPR</a:t>
            </a:r>
            <a:endParaRPr lang="en-US" sz="685" dirty="0"/>
          </a:p>
        </p:txBody>
      </p:sp>
      <p:pic>
        <p:nvPicPr>
          <p:cNvPr id="20" name="Picture 19"/>
          <p:cNvPicPr>
            <a:picLocks noChangeAspect="1"/>
          </p:cNvPicPr>
          <p:nvPr/>
        </p:nvPicPr>
        <p:blipFill>
          <a:blip r:embed="rId4"/>
          <a:stretch>
            <a:fillRect/>
          </a:stretch>
        </p:blipFill>
        <p:spPr>
          <a:xfrm>
            <a:off x="2027555" y="1591310"/>
            <a:ext cx="2045970" cy="33489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571500"/>
            <a:ext cx="7352665" cy="384175"/>
          </a:xfrm>
          <a:prstGeom prst="rect">
            <a:avLst/>
          </a:prstGeom>
          <a:noFill/>
        </p:spPr>
        <p:txBody>
          <a:bodyPr wrap="none" lIns="0" tIns="0" rIns="0" bIns="0" rtlCol="0" anchor="t">
            <a:spAutoFit/>
          </a:bodyPr>
          <a:lstStyle/>
          <a:p>
            <a:pPr marL="0" indent="0" algn="l">
              <a:lnSpc>
                <a:spcPts val="3000"/>
              </a:lnSpc>
              <a:buNone/>
            </a:pPr>
            <a:r>
              <a:rPr lang="en-US" sz="2400" b="1" dirty="0">
                <a:solidFill>
                  <a:srgbClr val="2D3748"/>
                </a:solidFill>
                <a:uFillTx/>
                <a:latin typeface="Inter" pitchFamily="34" charset="0"/>
                <a:ea typeface="Malgun Gothic" panose="020B0503020000020004" charset="-127"/>
                <a:cs typeface="Inter" pitchFamily="34" charset="-120"/>
              </a:rPr>
              <a:t>VALIDATED. AFFORDABLE. READY TO SCALE.</a:t>
            </a:r>
            <a:endParaRPr lang="en-US" sz="2400" b="1" dirty="0">
              <a:solidFill>
                <a:srgbClr val="2D3748"/>
              </a:solidFill>
              <a:uFillTx/>
              <a:latin typeface="Inter" pitchFamily="34" charset="0"/>
              <a:ea typeface="Malgun Gothic" panose="020B0503020000020004" charset="-127"/>
              <a:cs typeface="Inter" pitchFamily="34" charset="-120"/>
            </a:endParaRPr>
          </a:p>
        </p:txBody>
      </p:sp>
      <p:sp>
        <p:nvSpPr>
          <p:cNvPr id="4" name="Text 1"/>
          <p:cNvSpPr/>
          <p:nvPr/>
        </p:nvSpPr>
        <p:spPr>
          <a:xfrm>
            <a:off x="571500" y="1091543"/>
            <a:ext cx="8001000" cy="207169"/>
          </a:xfrm>
          <a:prstGeom prst="rect">
            <a:avLst/>
          </a:prstGeom>
          <a:noFill/>
        </p:spPr>
        <p:txBody>
          <a:bodyPr wrap="none" lIns="0" tIns="0" rIns="0" bIns="0" rtlCol="0" anchor="t">
            <a:spAutoFit/>
          </a:bodyPr>
          <a:lstStyle/>
          <a:p>
            <a:pPr marL="0" indent="0" algn="l">
              <a:lnSpc>
                <a:spcPts val="1600"/>
              </a:lnSpc>
              <a:buNone/>
            </a:pPr>
            <a:r>
              <a:rPr lang="en-US" sz="1270" dirty="0">
                <a:solidFill>
                  <a:srgbClr val="718096"/>
                </a:solidFill>
                <a:latin typeface="Inter" pitchFamily="34" charset="0"/>
                <a:ea typeface="Inter" pitchFamily="34" charset="-122"/>
                <a:cs typeface="Inter" pitchFamily="34" charset="-120"/>
              </a:rPr>
              <a:t>Precision diabetes management for the millions using insulin pens — not just expensive pumps.</a:t>
            </a:r>
            <a:endParaRPr lang="en-US" sz="1270" dirty="0"/>
          </a:p>
        </p:txBody>
      </p:sp>
      <p:sp>
        <p:nvSpPr>
          <p:cNvPr id="5" name="Text 2"/>
          <p:cNvSpPr/>
          <p:nvPr/>
        </p:nvSpPr>
        <p:spPr>
          <a:xfrm>
            <a:off x="571500" y="2113099"/>
            <a:ext cx="2476481" cy="483989"/>
          </a:xfrm>
          <a:prstGeom prst="rect">
            <a:avLst/>
          </a:prstGeom>
          <a:noFill/>
        </p:spPr>
        <p:txBody>
          <a:bodyPr wrap="none" lIns="0" tIns="0" rIns="0" bIns="0" rtlCol="0" anchor="t">
            <a:spAutoFit/>
          </a:bodyPr>
          <a:lstStyle/>
          <a:p>
            <a:pPr marL="0" indent="0" algn="l">
              <a:lnSpc>
                <a:spcPts val="3800"/>
              </a:lnSpc>
              <a:buNone/>
            </a:pPr>
            <a:r>
              <a:rPr lang="en-US" sz="2860" b="1" dirty="0">
                <a:solidFill>
                  <a:srgbClr val="2D3748"/>
                </a:solidFill>
                <a:latin typeface="Inter" pitchFamily="34" charset="0"/>
                <a:ea typeface="Inter" pitchFamily="34" charset="-122"/>
                <a:cs typeface="Inter" pitchFamily="34" charset="-120"/>
              </a:rPr>
              <a:t>1.6</a:t>
            </a:r>
            <a:endParaRPr lang="en-US" sz="2860" dirty="0"/>
          </a:p>
        </p:txBody>
      </p:sp>
      <p:sp>
        <p:nvSpPr>
          <p:cNvPr id="6" name="Text 3"/>
          <p:cNvSpPr/>
          <p:nvPr>
            <p:custDataLst>
              <p:tags r:id="rId2"/>
            </p:custDataLst>
          </p:nvPr>
        </p:nvSpPr>
        <p:spPr>
          <a:xfrm>
            <a:off x="571500" y="2668525"/>
            <a:ext cx="2476481" cy="173236"/>
          </a:xfrm>
          <a:prstGeom prst="rect">
            <a:avLst/>
          </a:prstGeom>
          <a:noFill/>
        </p:spPr>
        <p:txBody>
          <a:bodyPr wrap="none" lIns="0" tIns="0" rIns="0" bIns="0" rtlCol="0" anchor="t">
            <a:spAutoFit/>
          </a:bodyPr>
          <a:lstStyle/>
          <a:p>
            <a:pPr marL="0" indent="0" algn="l">
              <a:lnSpc>
                <a:spcPts val="1400"/>
              </a:lnSpc>
              <a:buNone/>
            </a:pPr>
            <a:r>
              <a:rPr lang="en-US" sz="985" b="1" dirty="0">
                <a:solidFill>
                  <a:srgbClr val="ED8936"/>
                </a:solidFill>
                <a:latin typeface="Inter" pitchFamily="34" charset="0"/>
                <a:ea typeface="Inter" pitchFamily="34" charset="-122"/>
                <a:cs typeface="Inter" pitchFamily="34" charset="-120"/>
              </a:rPr>
              <a:t>PATIENT TRIAL RESULT</a:t>
            </a:r>
            <a:endParaRPr lang="en-US" sz="985" dirty="0"/>
          </a:p>
        </p:txBody>
      </p:sp>
      <p:sp>
        <p:nvSpPr>
          <p:cNvPr id="7" name="Text 4"/>
          <p:cNvSpPr/>
          <p:nvPr>
            <p:custDataLst>
              <p:tags r:id="rId3"/>
            </p:custDataLst>
          </p:nvPr>
        </p:nvSpPr>
        <p:spPr>
          <a:xfrm>
            <a:off x="571500" y="2948918"/>
            <a:ext cx="2476481" cy="385763"/>
          </a:xfrm>
          <a:prstGeom prst="rect">
            <a:avLst/>
          </a:prstGeom>
          <a:noFill/>
        </p:spPr>
        <p:txBody>
          <a:bodyPr wrap="square" lIns="0" tIns="0" rIns="0" bIns="0" rtlCol="0" anchor="t">
            <a:spAutoFit/>
          </a:bodyPr>
          <a:lstStyle/>
          <a:p>
            <a:pPr marL="0" indent="0" algn="l">
              <a:lnSpc>
                <a:spcPts val="1500"/>
              </a:lnSpc>
              <a:buNone/>
            </a:pPr>
            <a:r>
              <a:rPr lang="en-US" sz="940" dirty="0">
                <a:solidFill>
                  <a:srgbClr val="718096"/>
                </a:solidFill>
                <a:latin typeface="Inter" pitchFamily="34" charset="0"/>
                <a:ea typeface="Inter" pitchFamily="34" charset="-122"/>
                <a:cs typeface="Inter" pitchFamily="34" charset="-120"/>
              </a:rPr>
              <a:t>Rated Excellent in real-world testing — patients reported feeling safer and more in control.</a:t>
            </a:r>
            <a:endParaRPr lang="en-US" sz="940" dirty="0"/>
          </a:p>
        </p:txBody>
      </p:sp>
      <p:sp>
        <p:nvSpPr>
          <p:cNvPr id="8" name="Text 5"/>
          <p:cNvSpPr/>
          <p:nvPr/>
        </p:nvSpPr>
        <p:spPr>
          <a:xfrm>
            <a:off x="3333731" y="2113099"/>
            <a:ext cx="2476509" cy="483989"/>
          </a:xfrm>
          <a:prstGeom prst="rect">
            <a:avLst/>
          </a:prstGeom>
          <a:noFill/>
        </p:spPr>
        <p:txBody>
          <a:bodyPr wrap="none" lIns="0" tIns="0" rIns="0" bIns="0" rtlCol="0" anchor="t">
            <a:spAutoFit/>
          </a:bodyPr>
          <a:lstStyle/>
          <a:p>
            <a:pPr marL="0" indent="0" algn="l">
              <a:lnSpc>
                <a:spcPts val="3800"/>
              </a:lnSpc>
              <a:buNone/>
            </a:pPr>
            <a:r>
              <a:rPr lang="en-US" sz="2860" b="1" dirty="0">
                <a:solidFill>
                  <a:srgbClr val="2D3748"/>
                </a:solidFill>
                <a:latin typeface="Inter" pitchFamily="34" charset="0"/>
                <a:ea typeface="Inter" pitchFamily="34" charset="-122"/>
                <a:cs typeface="Inter" pitchFamily="34" charset="-120"/>
              </a:rPr>
              <a:t>TRL 6-7</a:t>
            </a:r>
            <a:endParaRPr lang="en-US" sz="2860" dirty="0"/>
          </a:p>
        </p:txBody>
      </p:sp>
      <p:sp>
        <p:nvSpPr>
          <p:cNvPr id="9" name="Text 6"/>
          <p:cNvSpPr/>
          <p:nvPr>
            <p:custDataLst>
              <p:tags r:id="rId4"/>
            </p:custDataLst>
          </p:nvPr>
        </p:nvSpPr>
        <p:spPr>
          <a:xfrm>
            <a:off x="3333731" y="2668525"/>
            <a:ext cx="2476509" cy="173236"/>
          </a:xfrm>
          <a:prstGeom prst="rect">
            <a:avLst/>
          </a:prstGeom>
          <a:noFill/>
        </p:spPr>
        <p:txBody>
          <a:bodyPr wrap="none" lIns="0" tIns="0" rIns="0" bIns="0" rtlCol="0" anchor="t">
            <a:spAutoFit/>
          </a:bodyPr>
          <a:lstStyle/>
          <a:p>
            <a:pPr marL="0" indent="0" algn="l">
              <a:lnSpc>
                <a:spcPts val="1400"/>
              </a:lnSpc>
              <a:buNone/>
            </a:pPr>
            <a:r>
              <a:rPr lang="en-US" sz="985" b="1" dirty="0">
                <a:solidFill>
                  <a:srgbClr val="ED8936"/>
                </a:solidFill>
                <a:latin typeface="Inter" pitchFamily="34" charset="0"/>
                <a:ea typeface="Inter" pitchFamily="34" charset="-122"/>
                <a:cs typeface="Inter" pitchFamily="34" charset="-120"/>
              </a:rPr>
              <a:t>CLINICAL VALIDATION</a:t>
            </a:r>
            <a:endParaRPr lang="en-US" sz="985" dirty="0"/>
          </a:p>
        </p:txBody>
      </p:sp>
      <p:sp>
        <p:nvSpPr>
          <p:cNvPr id="10" name="Text 7"/>
          <p:cNvSpPr/>
          <p:nvPr>
            <p:custDataLst>
              <p:tags r:id="rId5"/>
            </p:custDataLst>
          </p:nvPr>
        </p:nvSpPr>
        <p:spPr>
          <a:xfrm>
            <a:off x="3333731" y="2948918"/>
            <a:ext cx="2476509" cy="578644"/>
          </a:xfrm>
          <a:prstGeom prst="rect">
            <a:avLst/>
          </a:prstGeom>
          <a:noFill/>
        </p:spPr>
        <p:txBody>
          <a:bodyPr wrap="square" lIns="0" tIns="0" rIns="0" bIns="0" rtlCol="0" anchor="t">
            <a:spAutoFit/>
          </a:bodyPr>
          <a:lstStyle/>
          <a:p>
            <a:pPr marL="0" indent="0" algn="l">
              <a:lnSpc>
                <a:spcPts val="1500"/>
              </a:lnSpc>
              <a:buNone/>
            </a:pPr>
            <a:r>
              <a:rPr lang="en-US" sz="940" dirty="0">
                <a:solidFill>
                  <a:srgbClr val="718096"/>
                </a:solidFill>
                <a:latin typeface="Inter" pitchFamily="34" charset="0"/>
                <a:ea typeface="Inter" pitchFamily="34" charset="-122"/>
                <a:cs typeface="Inter" pitchFamily="34" charset="-120"/>
              </a:rPr>
              <a:t>Reviewed and endorsed by certified diabetologists for clinical utility and S3 guideline compliance.</a:t>
            </a:r>
            <a:endParaRPr lang="en-US" sz="940" dirty="0"/>
          </a:p>
        </p:txBody>
      </p:sp>
      <p:sp>
        <p:nvSpPr>
          <p:cNvPr id="11" name="Text 8"/>
          <p:cNvSpPr/>
          <p:nvPr/>
        </p:nvSpPr>
        <p:spPr>
          <a:xfrm>
            <a:off x="6095991" y="2113099"/>
            <a:ext cx="748030" cy="487045"/>
          </a:xfrm>
          <a:prstGeom prst="rect">
            <a:avLst/>
          </a:prstGeom>
          <a:noFill/>
        </p:spPr>
        <p:txBody>
          <a:bodyPr wrap="none" lIns="0" tIns="0" rIns="0" bIns="0" rtlCol="0" anchor="t">
            <a:spAutoFit/>
          </a:bodyPr>
          <a:lstStyle/>
          <a:p>
            <a:pPr marL="0" indent="0" algn="l">
              <a:lnSpc>
                <a:spcPts val="3800"/>
              </a:lnSpc>
              <a:buNone/>
            </a:pPr>
            <a:r>
              <a:rPr lang="en-US" sz="2860" b="1" dirty="0">
                <a:solidFill>
                  <a:srgbClr val="2D3748"/>
                </a:solidFill>
                <a:latin typeface="Inter" pitchFamily="34" charset="0"/>
                <a:ea typeface="Inter" pitchFamily="34" charset="-122"/>
                <a:cs typeface="Inter" pitchFamily="34" charset="-120"/>
              </a:rPr>
              <a:t>€</a:t>
            </a:r>
            <a:r>
              <a:rPr lang="de-DE" altLang="en-US" sz="2860" b="1" dirty="0">
                <a:solidFill>
                  <a:srgbClr val="2D3748"/>
                </a:solidFill>
                <a:latin typeface="Calibri" panose="020F0502020204030204" charset="0"/>
                <a:ea typeface="Inter" pitchFamily="34" charset="-122"/>
                <a:cs typeface="Inter" pitchFamily="34" charset="-120"/>
              </a:rPr>
              <a:t>2</a:t>
            </a:r>
            <a:r>
              <a:rPr lang="en-US" sz="2860" b="1" dirty="0">
                <a:solidFill>
                  <a:srgbClr val="2D3748"/>
                </a:solidFill>
                <a:latin typeface="Inter" pitchFamily="34" charset="0"/>
                <a:ea typeface="Inter" pitchFamily="34" charset="-122"/>
                <a:cs typeface="Inter" pitchFamily="34" charset="-120"/>
              </a:rPr>
              <a:t>0</a:t>
            </a:r>
            <a:endParaRPr lang="en-US" sz="2860" dirty="0"/>
          </a:p>
        </p:txBody>
      </p:sp>
      <p:sp>
        <p:nvSpPr>
          <p:cNvPr id="12" name="Text 9"/>
          <p:cNvSpPr/>
          <p:nvPr>
            <p:custDataLst>
              <p:tags r:id="rId6"/>
            </p:custDataLst>
          </p:nvPr>
        </p:nvSpPr>
        <p:spPr>
          <a:xfrm>
            <a:off x="6095991" y="2668525"/>
            <a:ext cx="2476481" cy="173236"/>
          </a:xfrm>
          <a:prstGeom prst="rect">
            <a:avLst/>
          </a:prstGeom>
          <a:noFill/>
        </p:spPr>
        <p:txBody>
          <a:bodyPr wrap="none" lIns="0" tIns="0" rIns="0" bIns="0" rtlCol="0" anchor="t">
            <a:spAutoFit/>
          </a:bodyPr>
          <a:lstStyle/>
          <a:p>
            <a:pPr marL="0" indent="0" algn="l">
              <a:lnSpc>
                <a:spcPts val="1400"/>
              </a:lnSpc>
              <a:buNone/>
            </a:pPr>
            <a:r>
              <a:rPr lang="en-US" sz="985" b="1" dirty="0">
                <a:solidFill>
                  <a:srgbClr val="ED8936"/>
                </a:solidFill>
                <a:latin typeface="Inter" pitchFamily="34" charset="0"/>
                <a:ea typeface="Inter" pitchFamily="34" charset="-122"/>
                <a:cs typeface="Inter" pitchFamily="34" charset="-120"/>
              </a:rPr>
              <a:t>MONTHLY COST</a:t>
            </a:r>
            <a:endParaRPr lang="en-US" sz="985" dirty="0"/>
          </a:p>
        </p:txBody>
      </p:sp>
      <p:sp>
        <p:nvSpPr>
          <p:cNvPr id="13" name="Text 10"/>
          <p:cNvSpPr/>
          <p:nvPr>
            <p:custDataLst>
              <p:tags r:id="rId7"/>
            </p:custDataLst>
          </p:nvPr>
        </p:nvSpPr>
        <p:spPr>
          <a:xfrm>
            <a:off x="6095991" y="2948918"/>
            <a:ext cx="2476481" cy="578644"/>
          </a:xfrm>
          <a:prstGeom prst="rect">
            <a:avLst/>
          </a:prstGeom>
          <a:noFill/>
        </p:spPr>
        <p:txBody>
          <a:bodyPr wrap="square" lIns="0" tIns="0" rIns="0" bIns="0" rtlCol="0" anchor="t">
            <a:spAutoFit/>
          </a:bodyPr>
          <a:lstStyle/>
          <a:p>
            <a:pPr marL="0" indent="0" algn="l">
              <a:lnSpc>
                <a:spcPts val="1500"/>
              </a:lnSpc>
              <a:buNone/>
            </a:pPr>
            <a:r>
              <a:rPr lang="en-US" sz="940" dirty="0">
                <a:solidFill>
                  <a:srgbClr val="718096"/>
                </a:solidFill>
                <a:latin typeface="Inter" pitchFamily="34" charset="0"/>
                <a:ea typeface="Inter" pitchFamily="34" charset="-122"/>
                <a:cs typeface="Inter" pitchFamily="34" charset="-120"/>
              </a:rPr>
              <a:t>A fraction of pump system costs. DiGA-ready for full insurance reimbursement — no out-of-pocket burden.</a:t>
            </a:r>
            <a:endParaRPr lang="en-US" sz="940" dirty="0"/>
          </a:p>
        </p:txBody>
      </p:sp>
      <p:sp>
        <p:nvSpPr>
          <p:cNvPr id="14" name="Text 11"/>
          <p:cNvSpPr/>
          <p:nvPr/>
        </p:nvSpPr>
        <p:spPr>
          <a:xfrm>
            <a:off x="0" y="3956186"/>
            <a:ext cx="9144000" cy="137517"/>
          </a:xfrm>
          <a:prstGeom prst="rect">
            <a:avLst/>
          </a:prstGeom>
          <a:noFill/>
        </p:spPr>
        <p:txBody>
          <a:bodyPr wrap="none" lIns="680339" tIns="0" rIns="0" bIns="0" rtlCol="0" anchor="t">
            <a:spAutoFit/>
          </a:bodyPr>
          <a:lstStyle/>
          <a:p>
            <a:pPr marL="0" indent="0" algn="l">
              <a:lnSpc>
                <a:spcPts val="1100"/>
              </a:lnSpc>
              <a:buNone/>
            </a:pPr>
            <a:r>
              <a:rPr lang="en-US" sz="835" i="1" dirty="0">
                <a:solidFill>
                  <a:srgbClr val="718096"/>
                </a:solidFill>
                <a:latin typeface="Inter" pitchFamily="34" charset="0"/>
                <a:ea typeface="Inter" pitchFamily="34" charset="-122"/>
                <a:cs typeface="Inter" pitchFamily="34" charset="-120"/>
              </a:rPr>
              <a:t>Currently advancing to real-world clinical validation in Germany — TRL 6–7, on track for DiGA submission.</a:t>
            </a:r>
            <a:endParaRPr lang="en-US" sz="8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2045289"/>
            <a:ext cx="3857625" cy="1131503"/>
          </a:xfrm>
          <a:prstGeom prst="rect">
            <a:avLst/>
          </a:prstGeom>
          <a:noFill/>
        </p:spPr>
        <p:txBody>
          <a:bodyPr wrap="square" lIns="0" tIns="0" rIns="0" bIns="0" rtlCol="0" anchor="t">
            <a:spAutoFit/>
          </a:bodyPr>
          <a:lstStyle/>
          <a:p>
            <a:pPr marL="0" indent="0" algn="l">
              <a:lnSpc>
                <a:spcPts val="3000"/>
              </a:lnSpc>
              <a:buNone/>
            </a:pPr>
            <a:r>
              <a:rPr lang="en-US" sz="2435" b="1" dirty="0">
                <a:solidFill>
                  <a:srgbClr val="2D3748"/>
                </a:solidFill>
                <a:latin typeface="Inter" pitchFamily="34" charset="0"/>
                <a:ea typeface="Inter" pitchFamily="34" charset="-122"/>
                <a:cs typeface="Inter" pitchFamily="34" charset="-120"/>
              </a:rPr>
              <a:t>Making every day safer for people living with Type 1 Diabetes.</a:t>
            </a:r>
            <a:endParaRPr lang="en-US" sz="2435" dirty="0"/>
          </a:p>
        </p:txBody>
      </p:sp>
      <p:sp>
        <p:nvSpPr>
          <p:cNvPr id="4" name="Text 1"/>
          <p:cNvSpPr/>
          <p:nvPr/>
        </p:nvSpPr>
        <p:spPr>
          <a:xfrm>
            <a:off x="571500" y="3955302"/>
            <a:ext cx="3857625" cy="207169"/>
          </a:xfrm>
          <a:prstGeom prst="rect">
            <a:avLst/>
          </a:prstGeom>
          <a:noFill/>
        </p:spPr>
        <p:txBody>
          <a:bodyPr wrap="none" lIns="0" tIns="0" rIns="0" bIns="0" rtlCol="0" anchor="t">
            <a:spAutoFit/>
          </a:bodyPr>
          <a:lstStyle/>
          <a:p>
            <a:pPr marL="0" indent="0" algn="l">
              <a:lnSpc>
                <a:spcPts val="1600"/>
              </a:lnSpc>
              <a:buNone/>
            </a:pPr>
            <a:r>
              <a:rPr lang="en-US" sz="1195" b="1" kern="0" spc="2" dirty="0">
                <a:solidFill>
                  <a:srgbClr val="ED8936"/>
                </a:solidFill>
                <a:latin typeface="Inter" pitchFamily="34" charset="0"/>
                <a:ea typeface="Inter" pitchFamily="34" charset="-122"/>
                <a:cs typeface="Inter" pitchFamily="34" charset="-120"/>
              </a:rPr>
              <a:t>LET’S BUILD THE FUTURE OF DIABETES CARE TOGETHER</a:t>
            </a:r>
            <a:endParaRPr lang="en-US" sz="1195" dirty="0"/>
          </a:p>
        </p:txBody>
      </p:sp>
      <p:pic>
        <p:nvPicPr>
          <p:cNvPr id="5" name="Image 1" descr="preencoded.png"/>
          <p:cNvPicPr>
            <a:picLocks noChangeAspect="1"/>
          </p:cNvPicPr>
          <p:nvPr/>
        </p:nvPicPr>
        <p:blipFill>
          <a:blip r:embed="rId2"/>
          <a:stretch>
            <a:fillRect/>
          </a:stretch>
        </p:blipFill>
        <p:spPr>
          <a:xfrm>
            <a:off x="4714875" y="2443163"/>
            <a:ext cx="285750" cy="200025"/>
          </a:xfrm>
          <a:prstGeom prst="rect">
            <a:avLst/>
          </a:prstGeom>
        </p:spPr>
      </p:pic>
      <p:sp>
        <p:nvSpPr>
          <p:cNvPr id="6" name="Text 2"/>
          <p:cNvSpPr/>
          <p:nvPr/>
        </p:nvSpPr>
        <p:spPr>
          <a:xfrm>
            <a:off x="5143500" y="2439591"/>
            <a:ext cx="726877" cy="207169"/>
          </a:xfrm>
          <a:prstGeom prst="rect">
            <a:avLst/>
          </a:prstGeom>
          <a:noFill/>
        </p:spPr>
        <p:txBody>
          <a:bodyPr wrap="none" lIns="0" tIns="0" rIns="0" bIns="0" rtlCol="0" anchor="t">
            <a:spAutoFit/>
          </a:bodyPr>
          <a:lstStyle/>
          <a:p>
            <a:pPr marL="0" indent="0" algn="l">
              <a:lnSpc>
                <a:spcPts val="1600"/>
              </a:lnSpc>
              <a:buNone/>
            </a:pPr>
            <a:r>
              <a:rPr lang="en-US" sz="1270" dirty="0">
                <a:solidFill>
                  <a:srgbClr val="718096"/>
                </a:solidFill>
                <a:latin typeface="Inter" pitchFamily="34" charset="0"/>
                <a:ea typeface="Inter" pitchFamily="34" charset="-122"/>
                <a:cs typeface="Inter" pitchFamily="34" charset="-120"/>
              </a:rPr>
              <a:t>Germany</a:t>
            </a:r>
            <a:endParaRPr lang="en-US" sz="1270" dirty="0"/>
          </a:p>
        </p:txBody>
      </p:sp>
      <p:pic>
        <p:nvPicPr>
          <p:cNvPr id="7" name="Image 2" descr="preencoded.png"/>
          <p:cNvPicPr>
            <a:picLocks noChangeAspect="1"/>
          </p:cNvPicPr>
          <p:nvPr/>
        </p:nvPicPr>
        <p:blipFill>
          <a:blip r:embed="rId3"/>
          <a:stretch>
            <a:fillRect/>
          </a:stretch>
        </p:blipFill>
        <p:spPr>
          <a:xfrm>
            <a:off x="4714875" y="2864644"/>
            <a:ext cx="285750" cy="200025"/>
          </a:xfrm>
          <a:prstGeom prst="rect">
            <a:avLst/>
          </a:prstGeom>
        </p:spPr>
      </p:pic>
      <p:sp>
        <p:nvSpPr>
          <p:cNvPr id="8" name="Text 3"/>
          <p:cNvSpPr/>
          <p:nvPr/>
        </p:nvSpPr>
        <p:spPr>
          <a:xfrm>
            <a:off x="5143500" y="2861072"/>
            <a:ext cx="1316236" cy="207169"/>
          </a:xfrm>
          <a:prstGeom prst="rect">
            <a:avLst/>
          </a:prstGeom>
          <a:noFill/>
        </p:spPr>
        <p:txBody>
          <a:bodyPr wrap="none" lIns="0" tIns="0" rIns="0" bIns="0" rtlCol="0" anchor="t">
            <a:spAutoFit/>
          </a:bodyPr>
          <a:lstStyle/>
          <a:p>
            <a:pPr marL="0" indent="0" algn="l">
              <a:lnSpc>
                <a:spcPts val="1600"/>
              </a:lnSpc>
              <a:buNone/>
            </a:pPr>
            <a:r>
              <a:rPr lang="en-US" sz="1270" dirty="0">
                <a:solidFill>
                  <a:srgbClr val="718096"/>
                </a:solidFill>
                <a:latin typeface="Inter" pitchFamily="34" charset="0"/>
                <a:ea typeface="Inter" pitchFamily="34" charset="-122"/>
                <a:cs typeface="Inter" pitchFamily="34" charset="-120"/>
              </a:rPr>
              <a:t>ali.attia@gmx.de</a:t>
            </a:r>
            <a:endParaRPr lang="en-US" sz="1270" dirty="0"/>
          </a:p>
        </p:txBody>
      </p:sp>
      <p:pic>
        <p:nvPicPr>
          <p:cNvPr id="9" name="Image 3" descr="preencoded.png"/>
          <p:cNvPicPr>
            <a:picLocks noChangeAspect="1"/>
          </p:cNvPicPr>
          <p:nvPr/>
        </p:nvPicPr>
        <p:blipFill>
          <a:blip r:embed="rId4"/>
          <a:stretch>
            <a:fillRect/>
          </a:stretch>
        </p:blipFill>
        <p:spPr>
          <a:xfrm>
            <a:off x="4714875" y="3286125"/>
            <a:ext cx="285750" cy="200025"/>
          </a:xfrm>
          <a:prstGeom prst="rect">
            <a:avLst/>
          </a:prstGeom>
        </p:spPr>
      </p:pic>
      <p:sp>
        <p:nvSpPr>
          <p:cNvPr id="10" name="Text 4"/>
          <p:cNvSpPr/>
          <p:nvPr/>
        </p:nvSpPr>
        <p:spPr>
          <a:xfrm>
            <a:off x="5143500" y="3282553"/>
            <a:ext cx="1532334" cy="207169"/>
          </a:xfrm>
          <a:prstGeom prst="rect">
            <a:avLst/>
          </a:prstGeom>
          <a:noFill/>
        </p:spPr>
        <p:txBody>
          <a:bodyPr wrap="none" lIns="0" tIns="0" rIns="0" bIns="0" rtlCol="0" anchor="t">
            <a:spAutoFit/>
          </a:bodyPr>
          <a:lstStyle/>
          <a:p>
            <a:pPr marL="0" indent="0" algn="l">
              <a:lnSpc>
                <a:spcPts val="1600"/>
              </a:lnSpc>
              <a:buNone/>
            </a:pPr>
            <a:r>
              <a:rPr lang="en-US" sz="1270" dirty="0">
                <a:solidFill>
                  <a:srgbClr val="718096"/>
                </a:solidFill>
                <a:latin typeface="Inter" pitchFamily="34" charset="0"/>
                <a:ea typeface="Inter" pitchFamily="34" charset="-122"/>
                <a:cs typeface="Inter" pitchFamily="34" charset="-120"/>
              </a:rPr>
              <a:t>dia-twin.vercel.app</a:t>
            </a:r>
            <a:endParaRPr lang="en-US" sz="1270" dirty="0"/>
          </a:p>
        </p:txBody>
      </p:sp>
      <p:sp>
        <p:nvSpPr>
          <p:cNvPr id="11" name="Text Box 10"/>
          <p:cNvSpPr txBox="1"/>
          <p:nvPr/>
        </p:nvSpPr>
        <p:spPr>
          <a:xfrm>
            <a:off x="3089910" y="998855"/>
            <a:ext cx="1736090" cy="648970"/>
          </a:xfrm>
          <a:prstGeom prst="rect">
            <a:avLst/>
          </a:prstGeom>
          <a:noFill/>
        </p:spPr>
        <p:txBody>
          <a:bodyPr wrap="square" rtlCol="0">
            <a:noAutofit/>
          </a:bodyPr>
          <a:p>
            <a:r>
              <a:rPr lang="de-DE" altLang="en-GB" sz="3200">
                <a:ln w="12700">
                  <a:solidFill>
                    <a:schemeClr val="accent5"/>
                  </a:solidFill>
                  <a:prstDash val="solid"/>
                </a:ln>
                <a:solidFill>
                  <a:srgbClr val="7030A0"/>
                </a:solidFill>
                <a:effectLst/>
                <a:latin typeface="Calibri" panose="020F0502020204030204" charset="0"/>
              </a:rPr>
              <a:t>DiaTwin</a:t>
            </a:r>
            <a:endParaRPr lang="de-DE" altLang="en-GB" sz="3200">
              <a:ln w="12700">
                <a:solidFill>
                  <a:schemeClr val="accent5"/>
                </a:solidFill>
                <a:prstDash val="solid"/>
              </a:ln>
              <a:solidFill>
                <a:srgbClr val="7030A0"/>
              </a:solidFill>
              <a:effectLst/>
              <a:latin typeface="Calibri" panose="020F0502020204030204" charset="0"/>
            </a:endParaRPr>
          </a:p>
        </p:txBody>
      </p:sp>
    </p:spTree>
  </p:cSld>
  <p:clrMapOvr>
    <a:masterClrMapping/>
  </p:clrMapOvr>
</p:sld>
</file>

<file path=ppt/tags/tag1.xml><?xml version="1.0" encoding="utf-8"?>
<p:tagLst xmlns:p="http://schemas.openxmlformats.org/presentationml/2006/main">
  <p:tag name="KSO_WM_DIAGRAM_VIRTUALLY_FRAME" val="{&quot;height&quot;:155.45,&quot;left&quot;:345.65,&quot;top&quot;:218,&quot;width&quot;:329.35}"/>
</p:tagLst>
</file>

<file path=ppt/tags/tag2.xml><?xml version="1.0" encoding="utf-8"?>
<p:tagLst xmlns:p="http://schemas.openxmlformats.org/presentationml/2006/main">
  <p:tag name="KSO_WM_DIAGRAM_VIRTUALLY_FRAME" val="{&quot;height&quot;:155.45,&quot;left&quot;:345.65,&quot;top&quot;:218,&quot;width&quot;:329.35}"/>
</p:tagLst>
</file>

<file path=ppt/tags/tag3.xml><?xml version="1.0" encoding="utf-8"?>
<p:tagLst xmlns:p="http://schemas.openxmlformats.org/presentationml/2006/main">
  <p:tag name="KSO_WM_DIAGRAM_VIRTUALLY_FRAME" val="{&quot;height&quot;:155.45,&quot;left&quot;:345.65,&quot;top&quot;:218,&quot;width&quot;:329.35}"/>
</p:tagLst>
</file>

<file path=ppt/tags/tag4.xml><?xml version="1.0" encoding="utf-8"?>
<p:tagLst xmlns:p="http://schemas.openxmlformats.org/presentationml/2006/main">
  <p:tag name="KSO_WM_DIAGRAM_VIRTUALLY_FRAME" val="{&quot;height&quot;:155.45,&quot;left&quot;:345.65,&quot;top&quot;:218,&quot;width&quot;:329.35}"/>
</p:tagLst>
</file>

<file path=ppt/tags/tag5.xml><?xml version="1.0" encoding="utf-8"?>
<p:tagLst xmlns:p="http://schemas.openxmlformats.org/presentationml/2006/main">
  <p:tag name="KSO_WM_DIAGRAM_VIRTUALLY_FRAME" val="{&quot;height&quot;:155.45,&quot;left&quot;:345.65,&quot;top&quot;:218,&quot;width&quot;:329.35}"/>
</p:tagLst>
</file>

<file path=ppt/tags/tag6.xml><?xml version="1.0" encoding="utf-8"?>
<p:tagLst xmlns:p="http://schemas.openxmlformats.org/presentationml/2006/main">
  <p:tag name="KSO_WM_DIAGRAM_VIRTUALLY_FRAME" val="{&quot;height&quot;:155.45,&quot;left&quot;:345.65,&quot;top&quot;:218,&quot;width&quot;:329.35}"/>
</p:tagLst>
</file>

<file path=ppt/tags/tag7.xml><?xml version="1.0" encoding="utf-8"?>
<p:tagLst xmlns:p="http://schemas.openxmlformats.org/presentationml/2006/main">
  <p:tag name="KSO_WM_DIAGRAM_VIRTUALLY_FRAME" val="{&quot;height&quot;:159.45,&quot;left&quot;:305.35,&quot;top&quot;:191.8,&quot;width&quot;:389.05}"/>
</p:tagLst>
</file>

<file path=ppt/tags/tag8.xml><?xml version="1.0" encoding="utf-8"?>
<p:tagLst xmlns:p="http://schemas.openxmlformats.org/presentationml/2006/main">
  <p:tag name="KSO_WM_DIAGRAM_VIRTUALLY_FRAME" val="{&quot;height&quot;:159.45,&quot;left&quot;:305.35,&quot;top&quot;:191.8,&quot;width&quot;:389.05}"/>
</p:tagLst>
</file>

<file path=ppt/tags/tag9.xml><?xml version="1.0" encoding="utf-8"?>
<p:tagLst xmlns:p="http://schemas.openxmlformats.org/presentationml/2006/main">
  <p:tag name="KSO_WM_DIAGRAM_VIRTUALLY_FRAME" val="{&quot;height&quot;:159.45,&quot;left&quot;:305.35,&quot;top&quot;:191.8,&quot;width&quot;:389.05}"/>
</p:tagLst>
</file>

<file path=ppt/tags/tag10.xml><?xml version="1.0" encoding="utf-8"?>
<p:tagLst xmlns:p="http://schemas.openxmlformats.org/presentationml/2006/main">
  <p:tag name="KSO_WM_DIAGRAM_VIRTUALLY_FRAME" val="{&quot;height&quot;:159.45,&quot;left&quot;:305.35,&quot;top&quot;:191.8,&quot;width&quot;:389.05}"/>
</p:tagLst>
</file>

<file path=ppt/tags/tag11.xml><?xml version="1.0" encoding="utf-8"?>
<p:tagLst xmlns:p="http://schemas.openxmlformats.org/presentationml/2006/main">
  <p:tag name="KSO_WM_DIAGRAM_VIRTUALLY_FRAME" val="{&quot;height&quot;:159.45,&quot;left&quot;:305.35,&quot;top&quot;:191.8,&quot;width&quot;:389.05}"/>
</p:tagLst>
</file>

<file path=ppt/tags/tag12.xml><?xml version="1.0" encoding="utf-8"?>
<p:tagLst xmlns:p="http://schemas.openxmlformats.org/presentationml/2006/main">
  <p:tag name="KSO_WM_DIAGRAM_VIRTUALLY_FRAME" val="{&quot;height&quot;:159.45,&quot;left&quot;:305.35,&quot;top&quot;:191.8,&quot;width&quot;:389.05}"/>
</p:tagLst>
</file>

<file path=ppt/tags/tag13.xml><?xml version="1.0" encoding="utf-8"?>
<p:tagLst xmlns:p="http://schemas.openxmlformats.org/presentationml/2006/main">
  <p:tag name="KSO_WM_DIAGRAM_VIRTUALLY_FRAME" val="{&quot;height&quot;:159.45,&quot;left&quot;:305.35,&quot;top&quot;:191.8,&quot;width&quot;:389.05}"/>
</p:tagLst>
</file>

<file path=ppt/tags/tag14.xml><?xml version="1.0" encoding="utf-8"?>
<p:tagLst xmlns:p="http://schemas.openxmlformats.org/presentationml/2006/main">
  <p:tag name="KSO_WM_DIAGRAM_VIRTUALLY_FRAME" val="{&quot;height&quot;:159.45,&quot;left&quot;:305.35,&quot;top&quot;:191.8,&quot;width&quot;:389.05}"/>
</p:tagLst>
</file>

<file path=ppt/tags/tag15.xml><?xml version="1.0" encoding="utf-8"?>
<p:tagLst xmlns:p="http://schemas.openxmlformats.org/presentationml/2006/main">
  <p:tag name="KSO_WM_DIAGRAM_VIRTUALLY_FRAME" val="{&quot;height&quot;:159.45,&quot;left&quot;:305.35,&quot;top&quot;:191.8,&quot;width&quot;:389.05}"/>
</p:tagLst>
</file>

<file path=ppt/tags/tag16.xml><?xml version="1.0" encoding="utf-8"?>
<p:tagLst xmlns:p="http://schemas.openxmlformats.org/presentationml/2006/main">
  <p:tag name="KSO_WM_DIAGRAM_VIRTUALLY_FRAME" val="{&quot;height&quot;:159.45,&quot;left&quot;:305.35,&quot;top&quot;:191.8,&quot;width&quot;:389.05}"/>
</p:tagLst>
</file>

<file path=ppt/tags/tag17.xml><?xml version="1.0" encoding="utf-8"?>
<p:tagLst xmlns:p="http://schemas.openxmlformats.org/presentationml/2006/main">
  <p:tag name="KSO_WM_DIAGRAM_VIRTUALLY_FRAME" val="{&quot;height&quot;:159.45,&quot;left&quot;:305.35,&quot;top&quot;:191.8,&quot;width&quot;:389.05}"/>
</p:tagLst>
</file>

<file path=ppt/tags/tag18.xml><?xml version="1.0" encoding="utf-8"?>
<p:tagLst xmlns:p="http://schemas.openxmlformats.org/presentationml/2006/main">
  <p:tag name="KSO_WM_DIAGRAM_VIRTUALLY_FRAME" val="{&quot;height&quot;:159.45,&quot;left&quot;:305.35,&quot;top&quot;:191.8,&quot;width&quot;:389.05}"/>
</p:tagLst>
</file>

<file path=ppt/tags/tag19.xml><?xml version="1.0" encoding="utf-8"?>
<p:tagLst xmlns:p="http://schemas.openxmlformats.org/presentationml/2006/main">
  <p:tag name="KSO_WM_DIAGRAM_VIRTUALLY_FRAME" val="{&quot;height&quot;:67.64070866141734,&quot;left&quot;:45,&quot;top&quot;:210.12007874015748,&quot;width&quot;:629.9977952755905}"/>
</p:tagLst>
</file>

<file path=ppt/tags/tag20.xml><?xml version="1.0" encoding="utf-8"?>
<p:tagLst xmlns:p="http://schemas.openxmlformats.org/presentationml/2006/main">
  <p:tag name="KSO_WM_DIAGRAM_VIRTUALLY_FRAME" val="{&quot;height&quot;:67.64070866141734,&quot;left&quot;:45,&quot;top&quot;:210.12007874015748,&quot;width&quot;:629.9977952755905}"/>
</p:tagLst>
</file>

<file path=ppt/tags/tag21.xml><?xml version="1.0" encoding="utf-8"?>
<p:tagLst xmlns:p="http://schemas.openxmlformats.org/presentationml/2006/main">
  <p:tag name="KSO_WM_DIAGRAM_VIRTUALLY_FRAME" val="{&quot;height&quot;:67.64070866141734,&quot;left&quot;:45,&quot;top&quot;:210.12007874015748,&quot;width&quot;:629.9977952755905}"/>
</p:tagLst>
</file>

<file path=ppt/tags/tag22.xml><?xml version="1.0" encoding="utf-8"?>
<p:tagLst xmlns:p="http://schemas.openxmlformats.org/presentationml/2006/main">
  <p:tag name="KSO_WM_DIAGRAM_VIRTUALLY_FRAME" val="{&quot;height&quot;:67.64070866141734,&quot;left&quot;:45,&quot;top&quot;:210.12007874015748,&quot;width&quot;:629.9977952755905}"/>
</p:tagLst>
</file>

<file path=ppt/tags/tag23.xml><?xml version="1.0" encoding="utf-8"?>
<p:tagLst xmlns:p="http://schemas.openxmlformats.org/presentationml/2006/main">
  <p:tag name="KSO_WM_DIAGRAM_VIRTUALLY_FRAME" val="{&quot;height&quot;:67.64070866141734,&quot;left&quot;:45,&quot;top&quot;:210.12007874015748,&quot;width&quot;:629.9977952755905}"/>
</p:tagLst>
</file>

<file path=ppt/tags/tag24.xml><?xml version="1.0" encoding="utf-8"?>
<p:tagLst xmlns:p="http://schemas.openxmlformats.org/presentationml/2006/main">
  <p:tag name="KSO_WM_DIAGRAM_VIRTUALLY_FRAME" val="{&quot;height&quot;:67.64070866141734,&quot;left&quot;:45,&quot;top&quot;:210.12007874015748,&quot;width&quot;:629.99779527559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4385</Words>
  <Application>WPS Presentation</Application>
  <PresentationFormat>On-screen Show (16:9)</PresentationFormat>
  <Paragraphs>190</Paragraphs>
  <Slides>11</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Inter</vt:lpstr>
      <vt:lpstr>Segoe Print</vt:lpstr>
      <vt:lpstr>Inter</vt:lpstr>
      <vt:lpstr>Inter</vt:lpstr>
      <vt:lpstr>Calibri</vt:lpstr>
      <vt:lpstr>Malgun Gothic</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aliat</cp:lastModifiedBy>
  <cp:revision>7</cp:revision>
  <dcterms:created xsi:type="dcterms:W3CDTF">2026-04-01T03:11:00Z</dcterms:created>
  <dcterms:modified xsi:type="dcterms:W3CDTF">2026-04-01T17:18:49Z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7D35C9B11496432887946B748E887D42_12</vt:lpwstr>
  </property>
  <property fmtid="{D5CDD505-2E9C-101B-9397-08002B2CF9AE}" pid="3" name="KSOProductBuildVer">
    <vt:lpwstr>2057-12.2.0.23196</vt:lpwstr>
  </property>
</Properties>
</file>