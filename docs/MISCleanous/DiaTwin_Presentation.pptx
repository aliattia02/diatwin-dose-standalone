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731520"/>
            <a:ext cx="3200400" cy="32004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292608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00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DiaTwin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Digital Twin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pharmacodynamic platform for insulin-requiring diabetes — turning passive logging into predictive self-care.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IOB Tracking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74520" y="35661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566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Modelling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35661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566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Advisory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097280"/>
            <a:ext cx="1097280" cy="10972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03520" y="2651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8.7</a:t>
            </a:r>
            <a:pPr algn="ctr" indent="0" marL="0">
              <a:buNone/>
            </a:pPr>
            <a:r>
              <a:rPr lang="en-US" sz="1800" dirty="0">
                <a:solidFill>
                  <a:srgbClr val="B0C4D8"/>
                </a:solidFill>
              </a:rPr>
              <a:t>/10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530352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8C0"/>
                </a:solidFill>
              </a:rPr>
              <a:t>Clinical Utility Score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3232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50K+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13232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8C0"/>
                </a:solidFill>
              </a:rPr>
              <a:t>Meal-outcome pairs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8C0"/>
                </a:solidFill>
              </a:rPr>
              <a:t>validated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6070"/>
                </a:solidFill>
              </a:rPr>
              <a:t>Advisory use only — does not replace clinical judgement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T1D is a 24/7 balancing 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417320"/>
            <a:ext cx="822960" cy="822960"/>
          </a:xfrm>
          <a:prstGeom prst="ellips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527048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377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 Gap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" y="2926080"/>
            <a:ext cx="23225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Doctor-set therapy plans are complex to apply daily. Patients lack tools to translate clinical parameters into real-time decisions.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72968" y="11887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1188720"/>
            <a:ext cx="26517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87368" y="1417320"/>
            <a:ext cx="822960" cy="82296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1527048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72968" y="2377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Without Insight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37560" y="2926080"/>
            <a:ext cx="23225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and finger-prick devices show current glucose levels — but offer no guidance on how much insulin to take or when.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25896" y="11887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25896" y="118872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0296" y="1417320"/>
            <a:ext cx="822960" cy="822960"/>
          </a:xfrm>
          <a:prstGeom prst="ellipse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527048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25896" y="2377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Harm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190488" y="2926080"/>
            <a:ext cx="23225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IOB/MOB awareness, insulin stacking causes dangerous hypoglycemia. High cognitive burden leads to dosing errors.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~1.3 million insulin-pen users in Germany alone lack structured dosing guidance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B4F8A">
              <a:alpha val="18000"/>
            </a:srgbClr>
          </a:solidFill>
          <a:ln w="12700">
            <a:solidFill>
              <a:srgbClr val="0B4F8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</a:rPr>
              <a:t>WHAT IS DIATWIN?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pharmacodynamic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for T1D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</a:rPr>
              <a:t>DiaTwin builds a real-time model of each patient's glucose state — tracking how insulin and carbohydrates behave physiologically — to answer three critical questions every minute: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9125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my BG right now?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65760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9417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675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will it go in the next few hours?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416052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970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4178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to eat or dose?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0" y="822960"/>
            <a:ext cx="32918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86400" y="822960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669280" y="9326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IOB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492240" y="9326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8C0"/>
                </a:solidFill>
              </a:rPr>
              <a:t>Insulin On Board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669280" y="13441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B0"/>
                </a:solidFill>
              </a:rPr>
              <a:t>Insulin still pharmacologically active — calculated via trapezoidal integration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0" y="2194560"/>
            <a:ext cx="32918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0" y="2194560"/>
            <a:ext cx="73152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669280" y="23042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492240" y="23042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8C0"/>
                </a:solidFill>
              </a:rPr>
              <a:t>Meal On Board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669280" y="27157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B0"/>
                </a:solidFill>
              </a:rPr>
              <a:t>Carbohydrates still being absorbed — modelled via gamma-distribution kinetics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0" y="3566160"/>
            <a:ext cx="32918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0" y="3566160"/>
            <a:ext cx="73152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669280" y="36758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6492240" y="3675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8C0"/>
                </a:solidFill>
              </a:rPr>
              <a:t>Net BG Effect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669280" y="40873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B0"/>
                </a:solidFill>
              </a:rPr>
              <a:t>Meal impact minus insulin impact — positive = rising, negative = falling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607F"/>
                </a:solidFill>
              </a:rPr>
              <a:t>Advisory use only — does not replace clinical judgement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THE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Pharmacodynamics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" y="123444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Meal Absorption (MOB)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Gamma-distribution curve modelling: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4360" y="21031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Delayed gastric emptying onset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Peak absorption rise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Gradual metabolic tail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5 absorption speeds: very slow → very fast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Personalised absorption modifier per patient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1143000"/>
            <a:ext cx="40233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19472" y="12344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984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Insulin Activity (IOB)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Two curve families — S3 Clinical Guidelines: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37760" y="2148840"/>
            <a:ext cx="1737360" cy="32004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93776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Peaked Insulins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858000" y="2148840"/>
            <a:ext cx="1737360" cy="320040"/>
          </a:xfrm>
          <a:prstGeom prst="rect">
            <a:avLst/>
          </a:prstGeom>
          <a:solidFill>
            <a:srgbClr val="4A148C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85800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27B0"/>
                </a:solidFill>
              </a:rPr>
              <a:t>Peakless Insulins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956048" y="260604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66360" y="25786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Rapid, short, intermediate acting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956048" y="308152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166360" y="305409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Gamma distribution with type-specific params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956048" y="355701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166360" y="352958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Long-acting, ultra-long acting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956048" y="403250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66360" y="40050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4-phase model, capped at 75% max activity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4F8A"/>
                </a:solidFill>
              </a:rPr>
              <a:t>The same mathematical model runs identically in Python (backend) and TypeScript (frontend) — guaranteeing consistency across all platforms.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FOR PATIENTS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Predictive Self-Care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17320"/>
            <a:ext cx="438912" cy="438912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5389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Real-Time IOB &amp; MOB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4632" y="19385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See exactly how much insulin and meal carbs are still active — eliminating guesswork before a correction dose.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11887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1188720"/>
            <a:ext cx="64008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417320"/>
            <a:ext cx="438912" cy="438912"/>
          </a:xfrm>
          <a:prstGeom prst="ellips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45389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04488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Advisory Bolus Calculator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337560" y="19385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Dose suggestions accounting for current BG, active IOB, planned meal, activity level, and time-of-day resistance.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25896" y="11887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25896" y="1188720"/>
            <a:ext cx="64008" cy="16002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90488" y="1417320"/>
            <a:ext cx="438912" cy="438912"/>
          </a:xfrm>
          <a:prstGeom prst="ellipse">
            <a:avLst/>
          </a:prstGeom>
          <a:solidFill>
            <a:srgbClr val="0B4F8A">
              <a:alpha val="85000"/>
            </a:srgbClr>
          </a:solidFill>
          <a:ln w="12700">
            <a:solidFill>
              <a:srgbClr val="0B4F8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5389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57416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Pre-Bolus Timing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190488" y="19385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Recommends optimal pre-meal injection window (0–20 min) based on the glycaemic index of the logged meal.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30175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017520"/>
            <a:ext cx="64008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4632" y="3246120"/>
            <a:ext cx="438912" cy="438912"/>
          </a:xfrm>
          <a:prstGeom prst="ellips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282696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Structured Meal Logging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84632" y="37673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Extensive food database including local cuisine categories — reducing carb-counting burden and improving adherence.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72968" y="30175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72968" y="301752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37560" y="3246120"/>
            <a:ext cx="438912" cy="438912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282696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04488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BG Rise Prediction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3337560" y="37673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MOB is converted into an estimated future glucose rise — letting patients anticipate hyperglycaemia before it occurs.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025896" y="30175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25896" y="3017520"/>
            <a:ext cx="64008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190488" y="3246120"/>
            <a:ext cx="438912" cy="438912"/>
          </a:xfrm>
          <a:prstGeom prst="ellipse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3282696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57416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Activity Adjustment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190488" y="37673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Physical activity logging automatically adjusts dose suggestions — supporting safer exercise management.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FOR PHYSICIANS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Evidence-Based Remote Monitoring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17320"/>
            <a:ext cx="438912" cy="438912"/>
          </a:xfrm>
          <a:prstGeom prst="ellipse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5389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Remote Patient Monitoring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4632" y="19385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8C0"/>
                </a:solidFill>
              </a:rPr>
              <a:t>Authorised physicians access a dedicated dashboard: BG history, meal logs, insulin records, and activity data for informed pre-consultation review.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1188720"/>
            <a:ext cx="26517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118872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417320"/>
            <a:ext cx="438912" cy="438912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45389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04488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Glycaemic Response Analysis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337560" y="19385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8C0"/>
                </a:solidFill>
              </a:rPr>
              <a:t>Meal-glucose correlation charts reveal postprandial response patterns across days or weeks — objective evidence for ICR or ISF titration.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25896" y="1188720"/>
            <a:ext cx="26517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25896" y="1188720"/>
            <a:ext cx="64008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90488" y="1417320"/>
            <a:ext cx="438912" cy="438912"/>
          </a:xfrm>
          <a:prstGeom prst="ellipse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5389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57416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Clinical Parameter Review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190488" y="19385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8C0"/>
                </a:solidFill>
              </a:rPr>
              <a:t>All patient-specific constants (ICR, CF, target glucose, absorption modifiers) are visible in a structured view.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3017520"/>
            <a:ext cx="26517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017520"/>
            <a:ext cx="64008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4632" y="3246120"/>
            <a:ext cx="438912" cy="438912"/>
          </a:xfrm>
          <a:prstGeom prst="ellipse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282696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Pattern-Based Titration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84632" y="37673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8C0"/>
                </a:solidFill>
              </a:rPr>
              <a:t>Time-in-range statistics, SMBG analysis, and glycaemic variability metrics (MAGE, CV%) provide a structured evidence base for dose conversations.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72968" y="3017520"/>
            <a:ext cx="26517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72968" y="301752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37560" y="3246120"/>
            <a:ext cx="438912" cy="438912"/>
          </a:xfrm>
          <a:prstGeom prst="ellipse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282696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04488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Consent-Gated Access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3337560" y="37673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8C0"/>
                </a:solidFill>
              </a:rPr>
              <a:t>Bilateral authorisation model ensures patient data sovereignty. Physicians see only consented patients — GDPR-aligned clinical data governance.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025896" y="3017520"/>
            <a:ext cx="26517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B4F8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25896" y="3017520"/>
            <a:ext cx="64008" cy="16002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190488" y="3246120"/>
            <a:ext cx="438912" cy="438912"/>
          </a:xfrm>
          <a:prstGeom prst="ellipse">
            <a:avLst/>
          </a:prstGeom>
          <a:solidFill>
            <a:srgbClr val="0B4F8A">
              <a:alpha val="70000"/>
            </a:srgbClr>
          </a:solidFill>
          <a:ln w="12700">
            <a:solidFill>
              <a:srgbClr val="0B4F8A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3282696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57416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Multi-Patient Overview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190488" y="37673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8C0"/>
                </a:solidFill>
              </a:rPr>
              <a:t>Full panel of authorised patients, each searchable by name — enabling efficient review workflows in specialist clinics or GP settings.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THE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At-a-Glance Metabolic Control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840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ActiveEffectsDisplay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Primary home-screen widget — refreshes every 60 seconds synced to wall-clock :00 boundary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76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Last Meter Reading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Most recent fingerstick with time-since badge (e.g. '14 min ago')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70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Insulin Card (IOB)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670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✅ Already absorbed  ⏳ Further drop still to come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22783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638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Meal Card (MOB)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1638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✅ BG rise absorbed  ⏳ Hidden rise still coming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72160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Current Est. BG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Baseline + cumulative net — colour-coded green/orange/red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21538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5137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Projected Final BG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41513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Where BG will land if nothing new is added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1188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Additional Visualizations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6916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691640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EffectsVisualization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039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IOB + MOB evolution over next few hours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5146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514600"/>
            <a:ext cx="64008" cy="713232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578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BloodSugarVisualization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2862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BG history vs. model estimates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3375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337560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401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MealVisualization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685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meals, absorption rates, pending BG rise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41605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4160520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InsulinVisualization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507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Dose history, active insulin, stacking risk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Advisory use only — does not replace clinical judgement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B4F8A">
              <a:alpha val="12000"/>
            </a:srgbClr>
          </a:solidFill>
          <a:ln w="12700">
            <a:solidFill>
              <a:srgbClr val="0B4F8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Full-Stack Cross-Platform 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7432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(React Native / Expo)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iOS + Android + Web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TypeScript components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Offline-capable with sync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Libre CGM integration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7432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280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 (React Web)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JS + TS components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Real-time visualization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Doctor &amp; Patient dashboards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Import/Export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7432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B4F8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solidFill>
            <a:srgbClr val="0B4F8A">
              <a:alpha val="80000"/>
            </a:srgbClr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280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(Python / Flask)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87452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MongoDB database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Pharmacodynamics engine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JWT authentication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A8C0"/>
                </a:solidFill>
              </a:rPr>
              <a:t>REST API endpoints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63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B6D4"/>
                </a:solidFill>
              </a:rPr>
              <a:t>Single source of truth: pharmacodynamic constants shared between Python backend and TypeScript frontend — zero drift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Growing, Underserved Market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965960" cy="64008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4F8A"/>
                </a:solidFill>
              </a:rPr>
              <a:t>1.3M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Insulin-pen users in Germany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lacking structured dosing guidance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43000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371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8.7%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214884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CAGR for global diabetes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digital management market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43000"/>
            <a:ext cx="19659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371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~26K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09160" y="214884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Conservative 2% German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penetration within 3 years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143000"/>
            <a:ext cx="1965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3716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</a:rPr>
              <a:t>€100/yr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0" y="214884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DiaTwin cost vs €3–5K/yr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 CGM hardware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520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Competitive Landscape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31920"/>
          <a:ext cx="8412480" cy="105156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463040"/>
                <a:gridCol w="1463040"/>
                <a:gridCol w="1645920"/>
              </a:tblGrid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DiaTwin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CGM Only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7D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Basic Apps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7D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Insulin Pumps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7D8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Intelligent Dosing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 IOB, MOB, Projection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 Closed-loop only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Works with Insulin Pens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Annual 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~€100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€3,000–5,000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€10,000–16,000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0B4F8A">
              <a:alpha val="15000"/>
            </a:srgbClr>
          </a:solidFill>
          <a:ln w="12700">
            <a:solidFill>
              <a:srgbClr val="0B4F8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</a:rPr>
              <a:t>VALIDATION &amp;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Built on Clinical Evidence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1031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Grade 1.6 'Excellent'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Master's Thesis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B0"/>
                </a:solidFill>
              </a:rPr>
              <a:t>Core algorithms validated at DIT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21031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8.7 / 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Clinical Utility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0299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B0"/>
                </a:solidFill>
              </a:rPr>
              <a:t>Scored by certified diabetologist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21031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697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50,000+ pairs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3558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B0"/>
                </a:solidFill>
              </a:rPr>
              <a:t>Real clinical meal-outcome data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2606040"/>
            <a:ext cx="21031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2697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TRL 4–5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5176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Readiness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3558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B0"/>
                </a:solidFill>
              </a:rPr>
              <a:t>Web + mobile prototypes operational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&amp; Advisors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691640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1719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Ali Attia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1947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B0"/>
                </a:solidFill>
              </a:rPr>
              <a:t>Lead — Pharmacist, M.Sc. Digital Health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2386584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66360" y="24140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Prof. Dr. Klaus Parhofer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26426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B0"/>
                </a:solidFill>
              </a:rPr>
              <a:t>LMU Munich — Protocol Advisor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081528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6360" y="31089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Prof. Dr. Katarina Braune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337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B0"/>
                </a:solidFill>
              </a:rPr>
              <a:t>Charité/HPI — Clinical Trial Co-PI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3776472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66360" y="3803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ForTra Consultants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40325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B0"/>
                </a:solidFill>
              </a:rPr>
              <a:t>Regulatory pathway (CE IIa / DiGA)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90B0"/>
                </a:solidFill>
              </a:rPr>
              <a:t>Partnerships: Charité · LMU Network · Abbott / Dexcom (API discussions)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Path to CE IIa Certification &amp; DiGA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8046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42316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19202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TRL 4–5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920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346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Core algorithms validated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Web + mobile prototypes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Clinical utility 8.7/10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242316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143000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14300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Phase 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9192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EXIST Funding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2788920"/>
            <a:ext cx="1920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97480" y="28346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Team expansion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Full-stack dev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DiGA strategy co-founder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2423160"/>
            <a:ext cx="292608" cy="292608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143000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B4F8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43000"/>
            <a:ext cx="1920240" cy="64008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8A"/>
                </a:solidFill>
              </a:rPr>
              <a:t>Phase II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TRL 6–7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1920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4F8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8346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Clinical trial N=100, 6 months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Safety/efficacy validation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Physician workflow integration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80960" y="2423160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143000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143000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76872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Phase III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76872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Regulatory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2788920"/>
            <a:ext cx="1920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95160" y="28346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CE Class IIa certification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DiGA pathway approval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International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B4F8A">
              <a:alpha val="20000"/>
            </a:srgbClr>
          </a:solidFill>
          <a:ln w="12700">
            <a:solidFill>
              <a:srgbClr val="0B4F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DiaTwin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Diabetes Digital Twin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monitoring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predictive self-care.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0" y="356616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6896" y="359359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71800" y="35478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Pharmacodynamic precision for every patient, every dose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4005072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4032504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9867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Real-time IOB + MOB — glucose predicted, not just measured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560320" y="4443984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896" y="4471416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71800" y="44256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Physician-supervised, patient-centred, GDPR-compliant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5060"/>
                </a:solidFill>
              </a:rPr>
              <a:t>Advisory use only — does not replace clinical judgement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DiaTwin — Diabetes Digital Twin</dc:title>
  <dc:subject>PptxGenJS Presentation</dc:subject>
  <dc:creator>PptxGenJS</dc:creator>
  <cp:lastModifiedBy>PptxGenJS</cp:lastModifiedBy>
  <cp:revision>1</cp:revision>
  <dcterms:created xsi:type="dcterms:W3CDTF">2026-03-04T01:53:08Z</dcterms:created>
  <dcterms:modified xsi:type="dcterms:W3CDTF">2026-03-04T01:53:08Z</dcterms:modified>
</cp:coreProperties>
</file>