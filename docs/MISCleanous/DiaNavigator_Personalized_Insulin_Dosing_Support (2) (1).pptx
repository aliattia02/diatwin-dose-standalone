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9" r:id="rId9"/>
    <p:sldId id="263" r:id="rId10"/>
    <p:sldId id="270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67" d="100"/>
          <a:sy n="67" d="100"/>
        </p:scale>
        <p:origin x="89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56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C49D6-6783-7471-B41E-89C2D4F84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4B759-318B-0A3E-EEAC-6359DF4B0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941C09-0AFC-5AF5-B443-98AC043DF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BFEFE-BF35-0F9A-AE85-1AC95EDB6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17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2E54B-4358-E325-DB7F-2E88FDAAB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97486-1735-4144-570B-312425419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DDD21-6B4B-C83E-5FFD-03F2DF5F0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ED32F-14D0-3865-D3E9-313FC6CA1D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06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B26F4-AA63-B859-43BA-64B87FAA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AD28C-1F99-6BE2-8A1D-34E429288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FA048-A813-AD2F-65C3-D3ACAB0FD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67ED0-332A-E0B4-D909-CF3A76933B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7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4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diabetesatla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37A5787-93AC-69B9-EC89-B2735D5FB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17" y="-3871"/>
            <a:ext cx="9143999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3338" y="1780099"/>
            <a:ext cx="6858000" cy="7877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Personalized Insulin Dosing Support Through Structured Data Visualization and Pattern Analysis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13338" y="2710754"/>
            <a:ext cx="663322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Foundation for ML and RL-Assisted Pharmacotherapy in Type 1 Diabetes</a:t>
            </a:r>
            <a:endParaRPr lang="en-US" sz="1400" b="1" dirty="0"/>
          </a:p>
        </p:txBody>
      </p:sp>
      <p:sp>
        <p:nvSpPr>
          <p:cNvPr id="7" name="Text 4"/>
          <p:cNvSpPr/>
          <p:nvPr/>
        </p:nvSpPr>
        <p:spPr>
          <a:xfrm>
            <a:off x="3048119" y="994065"/>
            <a:ext cx="2481450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Master's Thesis Defense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-147714" y="73266"/>
            <a:ext cx="9144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Deggendorf Institute of Technology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-147714" y="287579"/>
            <a:ext cx="9144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Faculty European Campus Rottal-Inn</a:t>
            </a:r>
            <a:endParaRPr lang="en-US" sz="1046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C47135D-F347-C32A-F906-AB0C1D66B6B8}"/>
              </a:ext>
            </a:extLst>
          </p:cNvPr>
          <p:cNvSpPr/>
          <p:nvPr/>
        </p:nvSpPr>
        <p:spPr>
          <a:xfrm>
            <a:off x="2682837" y="3940594"/>
            <a:ext cx="3482897" cy="954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de-DE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1st Supervisor: Prof. Dr. Ge </a:t>
            </a:r>
            <a:r>
              <a:rPr lang="de-DE" sz="14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Mouzhi</a:t>
            </a:r>
            <a:br>
              <a:rPr lang="de-DE" sz="900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br>
              <a:rPr lang="de-DE" sz="900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de-DE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2nd Supervisor: Prof. Dr. </a:t>
            </a:r>
            <a:r>
              <a:rPr lang="de-DE" sz="14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Chaltikyan</a:t>
            </a:r>
            <a:br>
              <a:rPr lang="de-DE" sz="900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br>
              <a:rPr lang="de-DE" sz="900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de-DE" sz="14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External Supervisor: Prof. Dr. </a:t>
            </a:r>
            <a:r>
              <a:rPr lang="de-DE" sz="14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Parhofer</a:t>
            </a:r>
            <a:endParaRPr lang="en-US" sz="9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6E64622-98C7-A7C7-142B-052682BB4456}"/>
              </a:ext>
            </a:extLst>
          </p:cNvPr>
          <p:cNvSpPr/>
          <p:nvPr/>
        </p:nvSpPr>
        <p:spPr>
          <a:xfrm>
            <a:off x="3330523" y="3308110"/>
            <a:ext cx="2187526" cy="430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By</a:t>
            </a:r>
            <a:br>
              <a:rPr lang="en-US" sz="1400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</a:br>
            <a:r>
              <a:rPr lang="en-US" sz="1400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Ali Mohamed Attia </a:t>
            </a:r>
            <a:endParaRPr lang="en-US" sz="1400" b="1" dirty="0"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34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0008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0" y="671513"/>
            <a:ext cx="9144000" cy="28575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Context &amp; Problem Statement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28625" y="885825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 Challenges in T1D Management</a:t>
            </a:r>
            <a:endParaRPr lang="en-US" sz="1575" dirty="0"/>
          </a:p>
        </p:txBody>
      </p:sp>
      <p:sp>
        <p:nvSpPr>
          <p:cNvPr id="8" name="Text 4"/>
          <p:cNvSpPr/>
          <p:nvPr/>
        </p:nvSpPr>
        <p:spPr>
          <a:xfrm>
            <a:off x="678656" y="1249483"/>
            <a:ext cx="2507097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Complex daily insulin dosing decisions </a:t>
            </a:r>
            <a:r>
              <a:rPr lang="de-DE" sz="1050" dirty="0">
                <a:solidFill>
                  <a:schemeClr val="bg1"/>
                </a:solidFill>
              </a:rPr>
              <a:t>¹</a:t>
            </a:r>
            <a:endParaRPr lang="en-US" sz="1046" dirty="0"/>
          </a:p>
        </p:txBody>
      </p:sp>
      <p:sp>
        <p:nvSpPr>
          <p:cNvPr id="10" name="Text 5"/>
          <p:cNvSpPr/>
          <p:nvPr/>
        </p:nvSpPr>
        <p:spPr>
          <a:xfrm>
            <a:off x="678656" y="1563808"/>
            <a:ext cx="2377254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46" dirty="0">
                <a:solidFill>
                  <a:schemeClr val="bg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Static insulin-to-carbohydrate ratios </a:t>
            </a:r>
            <a:r>
              <a:rPr lang="de-DE" sz="1050" dirty="0">
                <a:solidFill>
                  <a:schemeClr val="bg1"/>
                </a:solidFill>
              </a:rPr>
              <a:t>²</a:t>
            </a:r>
            <a:endParaRPr lang="en-US" sz="1046" dirty="0">
              <a:solidFill>
                <a:schemeClr val="bg1"/>
              </a:solidFill>
            </a:endParaRPr>
          </a:p>
        </p:txBody>
      </p:sp>
      <p:sp>
        <p:nvSpPr>
          <p:cNvPr id="12" name="Text 6"/>
          <p:cNvSpPr/>
          <p:nvPr/>
        </p:nvSpPr>
        <p:spPr>
          <a:xfrm>
            <a:off x="678656" y="1858912"/>
            <a:ext cx="284737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Limited personalization in current systems</a:t>
            </a:r>
            <a:endParaRPr lang="en-US" sz="1046" dirty="0"/>
          </a:p>
        </p:txBody>
      </p:sp>
      <p:sp>
        <p:nvSpPr>
          <p:cNvPr id="14" name="Text 7"/>
          <p:cNvSpPr/>
          <p:nvPr/>
        </p:nvSpPr>
        <p:spPr>
          <a:xfrm>
            <a:off x="678656" y="2192458"/>
            <a:ext cx="2327560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46" dirty="0">
                <a:solidFill>
                  <a:schemeClr val="bg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 cost of continuous monitoring </a:t>
            </a:r>
            <a:r>
              <a:rPr lang="de-DE" sz="1050" dirty="0">
                <a:solidFill>
                  <a:schemeClr val="bg1"/>
                </a:solidFill>
              </a:rPr>
              <a:t>³</a:t>
            </a:r>
            <a:endParaRPr lang="en-US" sz="1046" dirty="0">
              <a:solidFill>
                <a:schemeClr val="bg1"/>
              </a:solidFill>
            </a:endParaRPr>
          </a:p>
        </p:txBody>
      </p:sp>
      <p:sp>
        <p:nvSpPr>
          <p:cNvPr id="16" name="Text 8"/>
          <p:cNvSpPr/>
          <p:nvPr/>
        </p:nvSpPr>
        <p:spPr>
          <a:xfrm>
            <a:off x="678656" y="2487562"/>
            <a:ext cx="20995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Fragmented data management</a:t>
            </a:r>
            <a:endParaRPr lang="en-US" sz="1046" dirty="0"/>
          </a:p>
        </p:txBody>
      </p:sp>
      <p:sp>
        <p:nvSpPr>
          <p:cNvPr id="18" name="Text 9"/>
          <p:cNvSpPr/>
          <p:nvPr/>
        </p:nvSpPr>
        <p:spPr>
          <a:xfrm>
            <a:off x="428625" y="2906014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Need for Innovation</a:t>
            </a:r>
            <a:endParaRPr lang="en-US" sz="1575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368322"/>
            <a:ext cx="107156" cy="714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42938" y="3269672"/>
            <a:ext cx="2476640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46" dirty="0">
                <a:solidFill>
                  <a:schemeClr val="bg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diabetes prevalence increasing </a:t>
            </a:r>
            <a:r>
              <a:rPr lang="de-DE" sz="1050" dirty="0">
                <a:solidFill>
                  <a:schemeClr val="bg1"/>
                </a:solidFill>
              </a:rPr>
              <a:t>⁴</a:t>
            </a:r>
            <a:endParaRPr lang="en-US" sz="1046" dirty="0">
              <a:solidFill>
                <a:schemeClr val="bg1"/>
              </a:solidFill>
            </a:endParaRPr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682647"/>
            <a:ext cx="107156" cy="7144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42938" y="3583997"/>
            <a:ext cx="2468625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r>
              <a:rPr lang="en-US" sz="1046" dirty="0">
                <a:solidFill>
                  <a:schemeClr val="bg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Economic burden: $413 billion in 2022 </a:t>
            </a:r>
            <a:r>
              <a:rPr lang="de-DE" sz="1050" dirty="0">
                <a:solidFill>
                  <a:schemeClr val="bg1"/>
                </a:solidFill>
              </a:rPr>
              <a:t>⁵</a:t>
            </a:r>
            <a:endParaRPr lang="en-US" sz="1046" dirty="0">
              <a:solidFill>
                <a:schemeClr val="bg1"/>
              </a:solidFill>
            </a:endParaRPr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996972"/>
            <a:ext cx="107156" cy="7144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642938" y="3879101"/>
            <a:ext cx="250932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Technology gaps in personalized care</a:t>
            </a:r>
            <a:endParaRPr lang="en-US" sz="1046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311297"/>
            <a:ext cx="107156" cy="7144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642938" y="4193426"/>
            <a:ext cx="242516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 empowerment through data</a:t>
            </a:r>
            <a:endParaRPr lang="en-US" sz="1046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625622"/>
            <a:ext cx="107156" cy="7144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42938" y="4507751"/>
            <a:ext cx="18688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integration opportunities</a:t>
            </a:r>
            <a:endParaRPr lang="en-US" sz="1046" dirty="0"/>
          </a:p>
        </p:txBody>
      </p:sp>
      <p:sp>
        <p:nvSpPr>
          <p:cNvPr id="30" name="Shape 15"/>
          <p:cNvSpPr/>
          <p:nvPr/>
        </p:nvSpPr>
        <p:spPr>
          <a:xfrm>
            <a:off x="0" y="4879475"/>
            <a:ext cx="9144000" cy="314325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31" name="Text 16"/>
          <p:cNvSpPr/>
          <p:nvPr/>
        </p:nvSpPr>
        <p:spPr>
          <a:xfrm>
            <a:off x="60387" y="4950913"/>
            <a:ext cx="2717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DiaNavigator: Personalized Insulin Dosing Support</a:t>
            </a:r>
            <a:endParaRPr lang="en-US" sz="837" dirty="0"/>
          </a:p>
        </p:txBody>
      </p:sp>
      <p:sp>
        <p:nvSpPr>
          <p:cNvPr id="32" name="Text 17"/>
          <p:cNvSpPr/>
          <p:nvPr/>
        </p:nvSpPr>
        <p:spPr>
          <a:xfrm>
            <a:off x="8560138" y="4950913"/>
            <a:ext cx="2981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11</a:t>
            </a:r>
            <a:endParaRPr lang="en-US" sz="837" dirty="0"/>
          </a:p>
        </p:txBody>
      </p:sp>
      <p:sp>
        <p:nvSpPr>
          <p:cNvPr id="33" name="Circle: Hollow 32">
            <a:extLst>
              <a:ext uri="{FF2B5EF4-FFF2-40B4-BE49-F238E27FC236}">
                <a16:creationId xmlns:a16="http://schemas.microsoft.com/office/drawing/2014/main" id="{EA6330CC-A779-0A3E-4626-1D92A592D966}"/>
              </a:ext>
            </a:extLst>
          </p:cNvPr>
          <p:cNvSpPr/>
          <p:nvPr/>
        </p:nvSpPr>
        <p:spPr>
          <a:xfrm>
            <a:off x="491489" y="1295507"/>
            <a:ext cx="100965" cy="105252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4" name="Circle: Hollow 33">
            <a:extLst>
              <a:ext uri="{FF2B5EF4-FFF2-40B4-BE49-F238E27FC236}">
                <a16:creationId xmlns:a16="http://schemas.microsoft.com/office/drawing/2014/main" id="{54BC1DE3-2FEA-2C67-4C93-F3C83DE13DF7}"/>
              </a:ext>
            </a:extLst>
          </p:cNvPr>
          <p:cNvSpPr/>
          <p:nvPr/>
        </p:nvSpPr>
        <p:spPr>
          <a:xfrm>
            <a:off x="491488" y="1612035"/>
            <a:ext cx="100965" cy="105252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5" name="Circle: Hollow 34">
            <a:extLst>
              <a:ext uri="{FF2B5EF4-FFF2-40B4-BE49-F238E27FC236}">
                <a16:creationId xmlns:a16="http://schemas.microsoft.com/office/drawing/2014/main" id="{EC3F06D3-E761-2033-A1BC-99F963FF9850}"/>
              </a:ext>
            </a:extLst>
          </p:cNvPr>
          <p:cNvSpPr/>
          <p:nvPr/>
        </p:nvSpPr>
        <p:spPr>
          <a:xfrm>
            <a:off x="491489" y="1911000"/>
            <a:ext cx="100965" cy="105252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6" name="Circle: Hollow 35">
            <a:extLst>
              <a:ext uri="{FF2B5EF4-FFF2-40B4-BE49-F238E27FC236}">
                <a16:creationId xmlns:a16="http://schemas.microsoft.com/office/drawing/2014/main" id="{22975543-DAE7-E334-28E8-E1F5716ED724}"/>
              </a:ext>
            </a:extLst>
          </p:cNvPr>
          <p:cNvSpPr/>
          <p:nvPr/>
        </p:nvSpPr>
        <p:spPr>
          <a:xfrm>
            <a:off x="491489" y="2216219"/>
            <a:ext cx="100965" cy="105252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7" name="Circle: Hollow 36">
            <a:extLst>
              <a:ext uri="{FF2B5EF4-FFF2-40B4-BE49-F238E27FC236}">
                <a16:creationId xmlns:a16="http://schemas.microsoft.com/office/drawing/2014/main" id="{D2B4975C-BB83-8F29-14FF-6EDFD0F7C854}"/>
              </a:ext>
            </a:extLst>
          </p:cNvPr>
          <p:cNvSpPr/>
          <p:nvPr/>
        </p:nvSpPr>
        <p:spPr>
          <a:xfrm>
            <a:off x="491489" y="2529591"/>
            <a:ext cx="100965" cy="105252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3D7FFD8-F99E-5408-00A2-60AAA67D7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2629" y="1195817"/>
            <a:ext cx="4452573" cy="356030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112A2CC-564C-0B72-0530-595A5C466B30}"/>
              </a:ext>
            </a:extLst>
          </p:cNvPr>
          <p:cNvSpPr txBox="1"/>
          <p:nvPr/>
        </p:nvSpPr>
        <p:spPr>
          <a:xfrm>
            <a:off x="7433591" y="4707776"/>
            <a:ext cx="12098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effectLst/>
                <a:latin typeface="Verdana" panose="020B060403050404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(IDF, 2013).</a:t>
            </a:r>
            <a:endParaRPr lang="de-DE" sz="12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0008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0" y="671513"/>
            <a:ext cx="9144000" cy="28575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Question &amp; Objectives</a:t>
            </a:r>
            <a:endParaRPr lang="en-US" sz="2025" dirty="0"/>
          </a:p>
        </p:txBody>
      </p:sp>
      <p:sp>
        <p:nvSpPr>
          <p:cNvPr id="6" name="Shape 3"/>
          <p:cNvSpPr/>
          <p:nvPr/>
        </p:nvSpPr>
        <p:spPr>
          <a:xfrm>
            <a:off x="285750" y="885825"/>
            <a:ext cx="8572500" cy="992981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4"/>
          <p:cNvSpPr/>
          <p:nvPr/>
        </p:nvSpPr>
        <p:spPr>
          <a:xfrm>
            <a:off x="285750" y="885825"/>
            <a:ext cx="35719" cy="992981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500063" y="968485"/>
            <a:ext cx="8143875" cy="82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38" i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How can a comprehensive digital platform, integrating personalized algorithms, advanced data visualization, and machine learning readiness, improve insulin dosing accuracy and diabetes management outcomes for individuals with Type 1 diabetes, while maintaining clinical safety and physician oversight? 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285750" y="2164556"/>
            <a:ext cx="8572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Objectives</a:t>
            </a:r>
            <a:endParaRPr lang="en-US" sz="1575" dirty="0"/>
          </a:p>
        </p:txBody>
      </p:sp>
      <p:sp>
        <p:nvSpPr>
          <p:cNvPr id="10" name="Shape 7"/>
          <p:cNvSpPr/>
          <p:nvPr/>
        </p:nvSpPr>
        <p:spPr>
          <a:xfrm>
            <a:off x="285750" y="2607469"/>
            <a:ext cx="214313" cy="214313"/>
          </a:xfrm>
          <a:prstGeom prst="ellipse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285750" y="260746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607219" y="2607469"/>
            <a:ext cx="2824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 modular, scalable digital platform</a:t>
            </a:r>
            <a:endParaRPr lang="en-US" sz="1046" dirty="0"/>
          </a:p>
        </p:txBody>
      </p:sp>
      <p:sp>
        <p:nvSpPr>
          <p:cNvPr id="13" name="Shape 10"/>
          <p:cNvSpPr/>
          <p:nvPr/>
        </p:nvSpPr>
        <p:spPr>
          <a:xfrm>
            <a:off x="4643438" y="2607469"/>
            <a:ext cx="214313" cy="214313"/>
          </a:xfrm>
          <a:prstGeom prst="ellipse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4643438" y="260746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4964906" y="2607469"/>
            <a:ext cx="301167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advanced physiological modeling</a:t>
            </a:r>
            <a:endParaRPr lang="en-US" sz="1046" dirty="0"/>
          </a:p>
        </p:txBody>
      </p:sp>
      <p:sp>
        <p:nvSpPr>
          <p:cNvPr id="16" name="Shape 13"/>
          <p:cNvSpPr/>
          <p:nvPr/>
        </p:nvSpPr>
        <p:spPr>
          <a:xfrm>
            <a:off x="285750" y="3036094"/>
            <a:ext cx="214313" cy="214313"/>
          </a:xfrm>
          <a:prstGeom prst="ellipse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285750" y="303609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607219" y="3036094"/>
            <a:ext cx="34838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explainable insulin dosing recommendations</a:t>
            </a:r>
            <a:endParaRPr lang="en-US" sz="1046" dirty="0"/>
          </a:p>
        </p:txBody>
      </p:sp>
      <p:sp>
        <p:nvSpPr>
          <p:cNvPr id="19" name="Shape 16"/>
          <p:cNvSpPr/>
          <p:nvPr/>
        </p:nvSpPr>
        <p:spPr>
          <a:xfrm>
            <a:off x="4643438" y="3036094"/>
            <a:ext cx="214313" cy="214313"/>
          </a:xfrm>
          <a:prstGeom prst="ellipse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4643438" y="303609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4964906" y="3036094"/>
            <a:ext cx="284449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Prepare architecture for ML/RL integration</a:t>
            </a:r>
            <a:endParaRPr lang="en-US" sz="1046" dirty="0"/>
          </a:p>
        </p:txBody>
      </p:sp>
      <p:sp>
        <p:nvSpPr>
          <p:cNvPr id="22" name="Shape 19"/>
          <p:cNvSpPr/>
          <p:nvPr/>
        </p:nvSpPr>
        <p:spPr>
          <a:xfrm>
            <a:off x="285750" y="3464719"/>
            <a:ext cx="214313" cy="214313"/>
          </a:xfrm>
          <a:prstGeom prst="ellipse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0"/>
          <p:cNvSpPr/>
          <p:nvPr/>
        </p:nvSpPr>
        <p:spPr>
          <a:xfrm>
            <a:off x="285750" y="346471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607219" y="3464719"/>
            <a:ext cx="30161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Ensure clinical safety and physician oversight</a:t>
            </a:r>
            <a:endParaRPr lang="en-US" sz="1046" dirty="0"/>
          </a:p>
        </p:txBody>
      </p:sp>
      <p:sp>
        <p:nvSpPr>
          <p:cNvPr id="25" name="Shape 22"/>
          <p:cNvSpPr/>
          <p:nvPr/>
        </p:nvSpPr>
        <p:spPr>
          <a:xfrm>
            <a:off x="4643438" y="3464719"/>
            <a:ext cx="214313" cy="214313"/>
          </a:xfrm>
          <a:prstGeom prst="ellipse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/>
          <p:nvPr/>
        </p:nvSpPr>
        <p:spPr>
          <a:xfrm>
            <a:off x="4643438" y="346471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4964906" y="3464719"/>
            <a:ext cx="28529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 cost-effective monitoring strategy</a:t>
            </a:r>
            <a:endParaRPr lang="en-US" sz="1046" dirty="0"/>
          </a:p>
        </p:txBody>
      </p:sp>
      <p:sp>
        <p:nvSpPr>
          <p:cNvPr id="29" name="Shape 25"/>
          <p:cNvSpPr/>
          <p:nvPr/>
        </p:nvSpPr>
        <p:spPr>
          <a:xfrm>
            <a:off x="16962" y="4790205"/>
            <a:ext cx="9108281" cy="338895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6"/>
          <p:cNvSpPr/>
          <p:nvPr/>
        </p:nvSpPr>
        <p:spPr>
          <a:xfrm>
            <a:off x="269990" y="4866799"/>
            <a:ext cx="2707217" cy="128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DiaNavigator: Personalized Insulin Dosing Support</a:t>
            </a:r>
            <a:endParaRPr lang="en-US" sz="837" dirty="0"/>
          </a:p>
        </p:txBody>
      </p:sp>
      <p:sp>
        <p:nvSpPr>
          <p:cNvPr id="31" name="Text 27"/>
          <p:cNvSpPr/>
          <p:nvPr/>
        </p:nvSpPr>
        <p:spPr>
          <a:xfrm>
            <a:off x="8534926" y="4866799"/>
            <a:ext cx="296947" cy="128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11</a:t>
            </a:r>
            <a:endParaRPr lang="en-US" sz="837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0008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0" y="671513"/>
            <a:ext cx="9144000" cy="28575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Architecture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285750" y="801417"/>
            <a:ext cx="8572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DiaNavigator's Three-Layer Architecture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392906" y="1188058"/>
            <a:ext cx="2643188" cy="1132982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392906" y="1188058"/>
            <a:ext cx="35719" cy="1132982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6"/>
          <p:cNvSpPr/>
          <p:nvPr/>
        </p:nvSpPr>
        <p:spPr>
          <a:xfrm>
            <a:off x="748308" y="1341648"/>
            <a:ext cx="149307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Presentation Layer </a:t>
            </a:r>
            <a:endParaRPr lang="en-US" sz="1238" dirty="0"/>
          </a:p>
        </p:txBody>
      </p:sp>
      <p:sp>
        <p:nvSpPr>
          <p:cNvPr id="11" name="Text 7"/>
          <p:cNvSpPr/>
          <p:nvPr/>
        </p:nvSpPr>
        <p:spPr>
          <a:xfrm>
            <a:off x="535781" y="1690676"/>
            <a:ext cx="2357438" cy="43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Patient &amp; clinician interfaces built with React, providing intuitive visualization and interaction with diabetes data 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3250406" y="1192945"/>
            <a:ext cx="2643188" cy="1132982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13" name="Shape 9"/>
          <p:cNvSpPr/>
          <p:nvPr/>
        </p:nvSpPr>
        <p:spPr>
          <a:xfrm>
            <a:off x="3250406" y="1188058"/>
            <a:ext cx="35719" cy="1132982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0"/>
          <p:cNvSpPr/>
          <p:nvPr/>
        </p:nvSpPr>
        <p:spPr>
          <a:xfrm>
            <a:off x="3621881" y="1341648"/>
            <a:ext cx="133496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Processing Layer </a:t>
            </a:r>
            <a:endParaRPr lang="en-US" sz="1238" dirty="0"/>
          </a:p>
        </p:txBody>
      </p:sp>
      <p:sp>
        <p:nvSpPr>
          <p:cNvPr id="16" name="Text 11"/>
          <p:cNvSpPr/>
          <p:nvPr/>
        </p:nvSpPr>
        <p:spPr>
          <a:xfrm>
            <a:off x="3393281" y="1690676"/>
            <a:ext cx="2357438" cy="43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Core algorithms implemented in Flask/Python, handling insulin calculations and data processing 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6107906" y="1188058"/>
            <a:ext cx="2643188" cy="1132982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18" name="Shape 13"/>
          <p:cNvSpPr/>
          <p:nvPr/>
        </p:nvSpPr>
        <p:spPr>
          <a:xfrm>
            <a:off x="6107906" y="1188058"/>
            <a:ext cx="35719" cy="1132982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4"/>
          <p:cNvSpPr/>
          <p:nvPr/>
        </p:nvSpPr>
        <p:spPr>
          <a:xfrm>
            <a:off x="6427589" y="1341648"/>
            <a:ext cx="12302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Database Layer </a:t>
            </a:r>
            <a:endParaRPr lang="en-US" sz="1238" dirty="0"/>
          </a:p>
        </p:txBody>
      </p:sp>
      <p:sp>
        <p:nvSpPr>
          <p:cNvPr id="21" name="Text 15"/>
          <p:cNvSpPr/>
          <p:nvPr/>
        </p:nvSpPr>
        <p:spPr>
          <a:xfrm>
            <a:off x="6250781" y="1690676"/>
            <a:ext cx="2357438" cy="43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MongoDB for robust data storage, ensuring efficient management of patient records 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392907" y="2642508"/>
            <a:ext cx="2643188" cy="772948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23" name="Shape 17"/>
          <p:cNvSpPr/>
          <p:nvPr/>
        </p:nvSpPr>
        <p:spPr>
          <a:xfrm flipH="1">
            <a:off x="344329" y="2642508"/>
            <a:ext cx="50006" cy="772948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18"/>
          <p:cNvSpPr/>
          <p:nvPr/>
        </p:nvSpPr>
        <p:spPr>
          <a:xfrm>
            <a:off x="535781" y="2705078"/>
            <a:ext cx="102030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 Readiness </a:t>
            </a:r>
            <a:endParaRPr lang="en-US" sz="1238" dirty="0"/>
          </a:p>
        </p:txBody>
      </p:sp>
      <p:sp>
        <p:nvSpPr>
          <p:cNvPr id="26" name="Text 19"/>
          <p:cNvSpPr/>
          <p:nvPr/>
        </p:nvSpPr>
        <p:spPr>
          <a:xfrm>
            <a:off x="482478" y="2943239"/>
            <a:ext cx="2715504" cy="4349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Architecture designed for future ML/RL integration, with structured data and pattern recognition capabilities </a:t>
            </a:r>
            <a:endParaRPr lang="en-US" sz="942" dirty="0"/>
          </a:p>
        </p:txBody>
      </p:sp>
      <p:sp>
        <p:nvSpPr>
          <p:cNvPr id="28" name="Shape 20"/>
          <p:cNvSpPr/>
          <p:nvPr/>
        </p:nvSpPr>
        <p:spPr>
          <a:xfrm>
            <a:off x="0" y="4827726"/>
            <a:ext cx="9144000" cy="314325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1"/>
          <p:cNvSpPr/>
          <p:nvPr/>
        </p:nvSpPr>
        <p:spPr>
          <a:xfrm>
            <a:off x="285750" y="4899163"/>
            <a:ext cx="2717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DiaNavigator: Personalized Insulin Dosing Support</a:t>
            </a:r>
            <a:endParaRPr lang="en-US" sz="837" dirty="0"/>
          </a:p>
        </p:txBody>
      </p:sp>
      <p:sp>
        <p:nvSpPr>
          <p:cNvPr id="30" name="Text 22"/>
          <p:cNvSpPr/>
          <p:nvPr/>
        </p:nvSpPr>
        <p:spPr>
          <a:xfrm>
            <a:off x="8560138" y="4899163"/>
            <a:ext cx="2981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11</a:t>
            </a:r>
            <a:endParaRPr lang="en-US" sz="837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054A505-0A46-4BC6-B9E9-4923AFC0C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9967" y="2371721"/>
            <a:ext cx="5481128" cy="272965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3405"/>
            <a:ext cx="9144000" cy="45412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0008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0" y="671513"/>
            <a:ext cx="9144000" cy="28575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Innovation: Advanced Insulin Calculation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28625" y="885825"/>
            <a:ext cx="40005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Beyond Traditional Carbohydrate Counting</a:t>
            </a:r>
            <a:endParaRPr lang="en-US" sz="1575" dirty="0"/>
          </a:p>
        </p:txBody>
      </p:sp>
      <p:sp>
        <p:nvSpPr>
          <p:cNvPr id="48" name="Shape 33"/>
          <p:cNvSpPr/>
          <p:nvPr/>
        </p:nvSpPr>
        <p:spPr>
          <a:xfrm>
            <a:off x="0" y="4957487"/>
            <a:ext cx="9144000" cy="243838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34"/>
          <p:cNvSpPr/>
          <p:nvPr/>
        </p:nvSpPr>
        <p:spPr>
          <a:xfrm>
            <a:off x="126816" y="4979270"/>
            <a:ext cx="2717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DiaNavigator: Personalized Insulin Dosing Support</a:t>
            </a:r>
            <a:endParaRPr lang="en-US" sz="837" dirty="0"/>
          </a:p>
        </p:txBody>
      </p:sp>
      <p:sp>
        <p:nvSpPr>
          <p:cNvPr id="50" name="Text 35"/>
          <p:cNvSpPr/>
          <p:nvPr/>
        </p:nvSpPr>
        <p:spPr>
          <a:xfrm>
            <a:off x="8436948" y="5005022"/>
            <a:ext cx="2981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11</a:t>
            </a:r>
            <a:endParaRPr lang="en-US" sz="837" dirty="0"/>
          </a:p>
        </p:txBody>
      </p:sp>
      <p:pic>
        <p:nvPicPr>
          <p:cNvPr id="72" name="Image 1" descr="preencoded.png">
            <a:extLst>
              <a:ext uri="{FF2B5EF4-FFF2-40B4-BE49-F238E27FC236}">
                <a16:creationId xmlns:a16="http://schemas.microsoft.com/office/drawing/2014/main" id="{30EBEE94-405A-23F2-2856-5BCB9E49E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39" y="3321993"/>
            <a:ext cx="125016" cy="142875"/>
          </a:xfrm>
          <a:prstGeom prst="rect">
            <a:avLst/>
          </a:prstGeom>
        </p:spPr>
      </p:pic>
      <p:sp>
        <p:nvSpPr>
          <p:cNvPr id="73" name="Text 4">
            <a:extLst>
              <a:ext uri="{FF2B5EF4-FFF2-40B4-BE49-F238E27FC236}">
                <a16:creationId xmlns:a16="http://schemas.microsoft.com/office/drawing/2014/main" id="{E3E77700-C91F-131F-6A95-AF878D5F7EE1}"/>
              </a:ext>
            </a:extLst>
          </p:cNvPr>
          <p:cNvSpPr/>
          <p:nvPr/>
        </p:nvSpPr>
        <p:spPr>
          <a:xfrm>
            <a:off x="423092" y="3280916"/>
            <a:ext cx="243230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 Macronutrient Analysis:</a:t>
            </a:r>
            <a:endParaRPr lang="en-US" sz="1046" dirty="0"/>
          </a:p>
        </p:txBody>
      </p:sp>
      <p:sp>
        <p:nvSpPr>
          <p:cNvPr id="74" name="Text 5">
            <a:extLst>
              <a:ext uri="{FF2B5EF4-FFF2-40B4-BE49-F238E27FC236}">
                <a16:creationId xmlns:a16="http://schemas.microsoft.com/office/drawing/2014/main" id="{ECB399A3-6E32-135F-2FE5-689153D57680}"/>
              </a:ext>
            </a:extLst>
          </p:cNvPr>
          <p:cNvSpPr/>
          <p:nvPr/>
        </p:nvSpPr>
        <p:spPr>
          <a:xfrm>
            <a:off x="1828382" y="3552365"/>
            <a:ext cx="1635053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Proteins, fats impact </a:t>
            </a:r>
            <a:endParaRPr lang="en-US" sz="1046" dirty="0"/>
          </a:p>
        </p:txBody>
      </p:sp>
      <p:pic>
        <p:nvPicPr>
          <p:cNvPr id="75" name="Image 4" descr="preencoded.png">
            <a:extLst>
              <a:ext uri="{FF2B5EF4-FFF2-40B4-BE49-F238E27FC236}">
                <a16:creationId xmlns:a16="http://schemas.microsoft.com/office/drawing/2014/main" id="{C6EEA841-8B83-78E7-5632-8BE344FD6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8" y="2139633"/>
            <a:ext cx="125016" cy="142875"/>
          </a:xfrm>
          <a:prstGeom prst="rect">
            <a:avLst/>
          </a:prstGeom>
        </p:spPr>
      </p:pic>
      <p:sp>
        <p:nvSpPr>
          <p:cNvPr id="76" name="Text 13">
            <a:extLst>
              <a:ext uri="{FF2B5EF4-FFF2-40B4-BE49-F238E27FC236}">
                <a16:creationId xmlns:a16="http://schemas.microsoft.com/office/drawing/2014/main" id="{0A5D35F4-314F-D3CC-A33E-728AC1CB2F16}"/>
              </a:ext>
            </a:extLst>
          </p:cNvPr>
          <p:cNvSpPr/>
          <p:nvPr/>
        </p:nvSpPr>
        <p:spPr>
          <a:xfrm>
            <a:off x="382191" y="2098556"/>
            <a:ext cx="144619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Integration:</a:t>
            </a:r>
            <a:endParaRPr lang="en-US" sz="1046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8CC2CB7-4822-292A-AEE1-BAEBFE57BF7D}"/>
              </a:ext>
            </a:extLst>
          </p:cNvPr>
          <p:cNvSpPr/>
          <p:nvPr/>
        </p:nvSpPr>
        <p:spPr>
          <a:xfrm>
            <a:off x="1844100" y="2281436"/>
            <a:ext cx="17518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Exercise impact modeling</a:t>
            </a:r>
            <a:endParaRPr lang="en-US" sz="1046" dirty="0"/>
          </a:p>
        </p:txBody>
      </p:sp>
      <p:pic>
        <p:nvPicPr>
          <p:cNvPr id="78" name="Image 5" descr="preencoded.png">
            <a:extLst>
              <a:ext uri="{FF2B5EF4-FFF2-40B4-BE49-F238E27FC236}">
                <a16:creationId xmlns:a16="http://schemas.microsoft.com/office/drawing/2014/main" id="{958FDFD4-6644-A783-2DAC-607081C8A4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024" y="2657793"/>
            <a:ext cx="160734" cy="142875"/>
          </a:xfrm>
          <a:prstGeom prst="rect">
            <a:avLst/>
          </a:prstGeom>
        </p:spPr>
      </p:pic>
      <p:sp>
        <p:nvSpPr>
          <p:cNvPr id="79" name="Text 15">
            <a:extLst>
              <a:ext uri="{FF2B5EF4-FFF2-40B4-BE49-F238E27FC236}">
                <a16:creationId xmlns:a16="http://schemas.microsoft.com/office/drawing/2014/main" id="{A3E31152-FEBA-FC62-6708-A156F86C24A7}"/>
              </a:ext>
            </a:extLst>
          </p:cNvPr>
          <p:cNvSpPr/>
          <p:nvPr/>
        </p:nvSpPr>
        <p:spPr>
          <a:xfrm>
            <a:off x="422196" y="2616716"/>
            <a:ext cx="206713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Health Context Adjustments:</a:t>
            </a:r>
            <a:endParaRPr lang="en-US" sz="1046" dirty="0"/>
          </a:p>
        </p:txBody>
      </p:sp>
      <p:sp>
        <p:nvSpPr>
          <p:cNvPr id="80" name="Text 16">
            <a:extLst>
              <a:ext uri="{FF2B5EF4-FFF2-40B4-BE49-F238E27FC236}">
                <a16:creationId xmlns:a16="http://schemas.microsoft.com/office/drawing/2014/main" id="{D8EC4D49-BA5A-CC67-DD25-CF7BFC6603FE}"/>
              </a:ext>
            </a:extLst>
          </p:cNvPr>
          <p:cNvSpPr/>
          <p:nvPr/>
        </p:nvSpPr>
        <p:spPr>
          <a:xfrm>
            <a:off x="2489335" y="2633579"/>
            <a:ext cx="65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endParaRPr lang="en-US" sz="1046" dirty="0"/>
          </a:p>
        </p:txBody>
      </p:sp>
      <p:pic>
        <p:nvPicPr>
          <p:cNvPr id="81" name="Image 2" descr="preencoded.png">
            <a:extLst>
              <a:ext uri="{FF2B5EF4-FFF2-40B4-BE49-F238E27FC236}">
                <a16:creationId xmlns:a16="http://schemas.microsoft.com/office/drawing/2014/main" id="{36D75E87-83F1-37BE-3FE1-871AA96A20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415" y="1668553"/>
            <a:ext cx="142875" cy="142875"/>
          </a:xfrm>
          <a:prstGeom prst="rect">
            <a:avLst/>
          </a:prstGeom>
        </p:spPr>
      </p:pic>
      <p:sp>
        <p:nvSpPr>
          <p:cNvPr id="82" name="Text 7">
            <a:extLst>
              <a:ext uri="{FF2B5EF4-FFF2-40B4-BE49-F238E27FC236}">
                <a16:creationId xmlns:a16="http://schemas.microsoft.com/office/drawing/2014/main" id="{CA15F387-6B8F-01C6-625D-42AFE94959F9}"/>
              </a:ext>
            </a:extLst>
          </p:cNvPr>
          <p:cNvSpPr/>
          <p:nvPr/>
        </p:nvSpPr>
        <p:spPr>
          <a:xfrm>
            <a:off x="404727" y="1627476"/>
            <a:ext cx="267262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Personalized Conversion Coefficients:</a:t>
            </a:r>
            <a:endParaRPr lang="en-US" sz="1046" dirty="0"/>
          </a:p>
        </p:txBody>
      </p:sp>
      <p:sp>
        <p:nvSpPr>
          <p:cNvPr id="83" name="Text 9">
            <a:extLst>
              <a:ext uri="{FF2B5EF4-FFF2-40B4-BE49-F238E27FC236}">
                <a16:creationId xmlns:a16="http://schemas.microsoft.com/office/drawing/2014/main" id="{A238C0FF-2F92-2A95-44BB-318DBA26C27E}"/>
              </a:ext>
            </a:extLst>
          </p:cNvPr>
          <p:cNvSpPr/>
          <p:nvPr/>
        </p:nvSpPr>
        <p:spPr>
          <a:xfrm>
            <a:off x="1833058" y="1858651"/>
            <a:ext cx="1819409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Individual metabolic responses</a:t>
            </a:r>
            <a:endParaRPr lang="en-US" sz="1046" dirty="0"/>
          </a:p>
        </p:txBody>
      </p:sp>
      <p:pic>
        <p:nvPicPr>
          <p:cNvPr id="84" name="Image 3" descr="preencoded.png">
            <a:extLst>
              <a:ext uri="{FF2B5EF4-FFF2-40B4-BE49-F238E27FC236}">
                <a16:creationId xmlns:a16="http://schemas.microsoft.com/office/drawing/2014/main" id="{C23FBD58-E4F5-9AB8-C7DC-E01E164A7F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941" y="3874453"/>
            <a:ext cx="142875" cy="142875"/>
          </a:xfrm>
          <a:prstGeom prst="rect">
            <a:avLst/>
          </a:prstGeom>
        </p:spPr>
      </p:pic>
      <p:sp>
        <p:nvSpPr>
          <p:cNvPr id="85" name="Text 10">
            <a:extLst>
              <a:ext uri="{FF2B5EF4-FFF2-40B4-BE49-F238E27FC236}">
                <a16:creationId xmlns:a16="http://schemas.microsoft.com/office/drawing/2014/main" id="{862BC295-0A1A-DA5F-D04A-0B58F3974334}"/>
              </a:ext>
            </a:extLst>
          </p:cNvPr>
          <p:cNvSpPr/>
          <p:nvPr/>
        </p:nvSpPr>
        <p:spPr>
          <a:xfrm>
            <a:off x="424253" y="3833376"/>
            <a:ext cx="202396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Temporal Insulin Sensitivity:</a:t>
            </a:r>
            <a:endParaRPr lang="en-US" sz="1046" dirty="0"/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8734BD0E-7096-0B5D-12D7-22AEADDAD1F5}"/>
              </a:ext>
            </a:extLst>
          </p:cNvPr>
          <p:cNvSpPr/>
          <p:nvPr/>
        </p:nvSpPr>
        <p:spPr>
          <a:xfrm>
            <a:off x="1830388" y="4063699"/>
            <a:ext cx="1716817" cy="160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24-hour circadian variations </a:t>
            </a:r>
            <a:endParaRPr lang="en-US" sz="1046" dirty="0"/>
          </a:p>
        </p:txBody>
      </p:sp>
      <p:pic>
        <p:nvPicPr>
          <p:cNvPr id="87" name="Image 6" descr="preencoded.png">
            <a:extLst>
              <a:ext uri="{FF2B5EF4-FFF2-40B4-BE49-F238E27FC236}">
                <a16:creationId xmlns:a16="http://schemas.microsoft.com/office/drawing/2014/main" id="{42EAC239-FE51-D12E-A30A-6BA1075A8F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415" y="4445953"/>
            <a:ext cx="142875" cy="142875"/>
          </a:xfrm>
          <a:prstGeom prst="rect">
            <a:avLst/>
          </a:prstGeom>
        </p:spPr>
      </p:pic>
      <p:sp>
        <p:nvSpPr>
          <p:cNvPr id="88" name="Text 18">
            <a:extLst>
              <a:ext uri="{FF2B5EF4-FFF2-40B4-BE49-F238E27FC236}">
                <a16:creationId xmlns:a16="http://schemas.microsoft.com/office/drawing/2014/main" id="{D79A7F6F-DE35-D559-9DD1-A56C995B10F3}"/>
              </a:ext>
            </a:extLst>
          </p:cNvPr>
          <p:cNvSpPr/>
          <p:nvPr/>
        </p:nvSpPr>
        <p:spPr>
          <a:xfrm>
            <a:off x="404727" y="4404876"/>
            <a:ext cx="147747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3498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 Recognition:</a:t>
            </a:r>
            <a:endParaRPr lang="en-US" sz="1046" dirty="0"/>
          </a:p>
        </p:txBody>
      </p:sp>
      <p:sp>
        <p:nvSpPr>
          <p:cNvPr id="89" name="Text 19">
            <a:extLst>
              <a:ext uri="{FF2B5EF4-FFF2-40B4-BE49-F238E27FC236}">
                <a16:creationId xmlns:a16="http://schemas.microsoft.com/office/drawing/2014/main" id="{8E137B21-4697-3022-DFEF-0E6AD1560C1C}"/>
              </a:ext>
            </a:extLst>
          </p:cNvPr>
          <p:cNvSpPr/>
          <p:nvPr/>
        </p:nvSpPr>
        <p:spPr>
          <a:xfrm>
            <a:off x="1844100" y="4557276"/>
            <a:ext cx="189097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Historical response analysis</a:t>
            </a:r>
            <a:endParaRPr lang="en-US" sz="1046" dirty="0"/>
          </a:p>
        </p:txBody>
      </p:sp>
      <p:sp>
        <p:nvSpPr>
          <p:cNvPr id="90" name="Text 17">
            <a:extLst>
              <a:ext uri="{FF2B5EF4-FFF2-40B4-BE49-F238E27FC236}">
                <a16:creationId xmlns:a16="http://schemas.microsoft.com/office/drawing/2014/main" id="{F7BC511D-F57A-B10A-1707-2A88A2ED88D6}"/>
              </a:ext>
            </a:extLst>
          </p:cNvPr>
          <p:cNvSpPr/>
          <p:nvPr/>
        </p:nvSpPr>
        <p:spPr>
          <a:xfrm>
            <a:off x="1811367" y="2930169"/>
            <a:ext cx="2672173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Illness, stress, medication effects</a:t>
            </a:r>
            <a:endParaRPr lang="en-US" sz="1046" dirty="0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C0BD5443-8EAD-C18E-1302-CE3CAB1699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6567" y="708196"/>
            <a:ext cx="3587934" cy="424929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519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0008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0" y="671513"/>
            <a:ext cx="9144000" cy="28575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2-Week CGM Calibration Protocol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392906" y="814388"/>
            <a:ext cx="40719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Parameter Identification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392906" y="1221581"/>
            <a:ext cx="40719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 1: Parameter Isolation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589359" y="1525191"/>
            <a:ext cx="4990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Days 1-2: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1088417" y="1525191"/>
            <a:ext cx="33407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Fasting baselines with/without activity for dawn phenomenon 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589359" y="1673758"/>
            <a:ext cx="4820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mapping</a:t>
            </a:r>
            <a:endParaRPr lang="en-US" sz="837" dirty="0"/>
          </a:p>
        </p:txBody>
      </p:sp>
      <p:sp>
        <p:nvSpPr>
          <p:cNvPr id="13" name="Text 8"/>
          <p:cNvSpPr/>
          <p:nvPr/>
        </p:nvSpPr>
        <p:spPr>
          <a:xfrm>
            <a:off x="589359" y="1908051"/>
            <a:ext cx="4990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Days 3-4: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1088417" y="1908051"/>
            <a:ext cx="30403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Controlled carb loads (15g, 30g, 45g) for natural glucose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589359" y="2056619"/>
            <a:ext cx="4540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patterns</a:t>
            </a:r>
            <a:endParaRPr lang="en-US" sz="837" dirty="0"/>
          </a:p>
        </p:txBody>
      </p:sp>
      <p:sp>
        <p:nvSpPr>
          <p:cNvPr id="17" name="Text 11"/>
          <p:cNvSpPr/>
          <p:nvPr/>
        </p:nvSpPr>
        <p:spPr>
          <a:xfrm>
            <a:off x="589359" y="2290911"/>
            <a:ext cx="4990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Days 5-7: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1088417" y="2290911"/>
            <a:ext cx="31284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Correction factor testing with exercise-adjusted sensitivity</a:t>
            </a:r>
            <a:endParaRPr lang="en-US" sz="837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2594521"/>
            <a:ext cx="4071938" cy="157162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392906" y="4202379"/>
            <a:ext cx="4071938" cy="807244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4"/>
          <p:cNvSpPr/>
          <p:nvPr/>
        </p:nvSpPr>
        <p:spPr>
          <a:xfrm>
            <a:off x="392906" y="4224064"/>
            <a:ext cx="35719" cy="807244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5"/>
          <p:cNvSpPr/>
          <p:nvPr/>
        </p:nvSpPr>
        <p:spPr>
          <a:xfrm>
            <a:off x="478631" y="4309789"/>
            <a:ext cx="39004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 Outputs for Modeling</a:t>
            </a:r>
            <a:endParaRPr lang="en-US" sz="942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" y="4584823"/>
            <a:ext cx="100013" cy="10001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1506" y="4559820"/>
            <a:ext cx="105814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Fasting glucose trends</a:t>
            </a:r>
            <a:endParaRPr lang="en-US" sz="732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875" y="4584823"/>
            <a:ext cx="100013" cy="100013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2571750" y="4559820"/>
            <a:ext cx="130828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Unopposed meal responses</a:t>
            </a:r>
            <a:endParaRPr lang="en-US" sz="732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" y="4777705"/>
            <a:ext cx="100013" cy="100013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21506" y="4752701"/>
            <a:ext cx="89913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coefficients</a:t>
            </a:r>
            <a:endParaRPr lang="en-US" sz="732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8875" y="4777705"/>
            <a:ext cx="100013" cy="100013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2571750" y="4752701"/>
            <a:ext cx="1039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 ICR/CF ratios</a:t>
            </a:r>
            <a:endParaRPr lang="en-US" sz="732" dirty="0"/>
          </a:p>
        </p:txBody>
      </p:sp>
      <p:sp>
        <p:nvSpPr>
          <p:cNvPr id="31" name="Text 20"/>
          <p:cNvSpPr/>
          <p:nvPr/>
        </p:nvSpPr>
        <p:spPr>
          <a:xfrm>
            <a:off x="4679156" y="921544"/>
            <a:ext cx="40719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 2: Validation &amp; Integration</a:t>
            </a:r>
            <a:endParaRPr lang="en-US" sz="1238" dirty="0"/>
          </a:p>
        </p:txBody>
      </p:sp>
      <p:sp>
        <p:nvSpPr>
          <p:cNvPr id="33" name="Text 21"/>
          <p:cNvSpPr/>
          <p:nvPr/>
        </p:nvSpPr>
        <p:spPr>
          <a:xfrm>
            <a:off x="4875609" y="1225153"/>
            <a:ext cx="5644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Days 8-10:</a:t>
            </a:r>
            <a:endParaRPr lang="en-US" sz="837" dirty="0"/>
          </a:p>
        </p:txBody>
      </p:sp>
      <p:sp>
        <p:nvSpPr>
          <p:cNvPr id="34" name="Text 22"/>
          <p:cNvSpPr/>
          <p:nvPr/>
        </p:nvSpPr>
        <p:spPr>
          <a:xfrm>
            <a:off x="5440049" y="1225153"/>
            <a:ext cx="30640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ICR refinement with different carb amounts and exercise </a:t>
            </a:r>
            <a:endParaRPr lang="en-US" sz="837" dirty="0"/>
          </a:p>
        </p:txBody>
      </p:sp>
      <p:sp>
        <p:nvSpPr>
          <p:cNvPr id="35" name="Text 23"/>
          <p:cNvSpPr/>
          <p:nvPr/>
        </p:nvSpPr>
        <p:spPr>
          <a:xfrm>
            <a:off x="4875609" y="1373721"/>
            <a:ext cx="3669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</a:t>
            </a:r>
            <a:endParaRPr lang="en-US" sz="837" dirty="0"/>
          </a:p>
        </p:txBody>
      </p:sp>
      <p:sp>
        <p:nvSpPr>
          <p:cNvPr id="37" name="Text 24"/>
          <p:cNvSpPr/>
          <p:nvPr/>
        </p:nvSpPr>
        <p:spPr>
          <a:xfrm>
            <a:off x="4875609" y="1608013"/>
            <a:ext cx="6297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Days 11-14:</a:t>
            </a:r>
            <a:endParaRPr lang="en-US" sz="837" dirty="0"/>
          </a:p>
        </p:txBody>
      </p:sp>
      <p:sp>
        <p:nvSpPr>
          <p:cNvPr id="38" name="Text 25"/>
          <p:cNvSpPr/>
          <p:nvPr/>
        </p:nvSpPr>
        <p:spPr>
          <a:xfrm>
            <a:off x="5505403" y="1608013"/>
            <a:ext cx="29233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Integrated testing with combined scenarios for model </a:t>
            </a:r>
            <a:endParaRPr lang="en-US" sz="837" dirty="0"/>
          </a:p>
        </p:txBody>
      </p:sp>
      <p:sp>
        <p:nvSpPr>
          <p:cNvPr id="39" name="Text 26"/>
          <p:cNvSpPr/>
          <p:nvPr/>
        </p:nvSpPr>
        <p:spPr>
          <a:xfrm>
            <a:off x="4875609" y="1756581"/>
            <a:ext cx="5261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validation</a:t>
            </a:r>
            <a:endParaRPr lang="en-US" sz="837" dirty="0"/>
          </a:p>
        </p:txBody>
      </p:sp>
      <p:sp>
        <p:nvSpPr>
          <p:cNvPr id="41" name="Text 27"/>
          <p:cNvSpPr/>
          <p:nvPr/>
        </p:nvSpPr>
        <p:spPr>
          <a:xfrm>
            <a:off x="4679156" y="3694658"/>
            <a:ext cx="40719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Calibration Benefits</a:t>
            </a:r>
            <a:endParaRPr lang="en-US" sz="1238" dirty="0"/>
          </a:p>
        </p:txBody>
      </p:sp>
      <p:sp>
        <p:nvSpPr>
          <p:cNvPr id="43" name="Text 28"/>
          <p:cNvSpPr/>
          <p:nvPr/>
        </p:nvSpPr>
        <p:spPr>
          <a:xfrm>
            <a:off x="4893469" y="4001839"/>
            <a:ext cx="385762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Cost-effective approach using short-term CGM for parameter identification</a:t>
            </a:r>
            <a:endParaRPr lang="en-US" sz="837" dirty="0"/>
          </a:p>
        </p:txBody>
      </p:sp>
      <p:sp>
        <p:nvSpPr>
          <p:cNvPr id="45" name="Text 29"/>
          <p:cNvSpPr/>
          <p:nvPr/>
        </p:nvSpPr>
        <p:spPr>
          <a:xfrm>
            <a:off x="4893469" y="4384700"/>
            <a:ext cx="385762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Transitioning to predictive modeling without continuous CGM dependency</a:t>
            </a:r>
            <a:endParaRPr lang="en-US" sz="837" dirty="0"/>
          </a:p>
        </p:txBody>
      </p:sp>
      <p:sp>
        <p:nvSpPr>
          <p:cNvPr id="47" name="Text 30"/>
          <p:cNvSpPr/>
          <p:nvPr/>
        </p:nvSpPr>
        <p:spPr>
          <a:xfrm>
            <a:off x="4893469" y="4767560"/>
            <a:ext cx="355164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Personalized parameters based on individual metabolic responses</a:t>
            </a:r>
            <a:endParaRPr lang="en-US" sz="837" dirty="0"/>
          </a:p>
        </p:txBody>
      </p:sp>
      <p:sp>
        <p:nvSpPr>
          <p:cNvPr id="48" name="Shape 31"/>
          <p:cNvSpPr/>
          <p:nvPr/>
        </p:nvSpPr>
        <p:spPr>
          <a:xfrm>
            <a:off x="0" y="4930198"/>
            <a:ext cx="9144000" cy="314325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32"/>
          <p:cNvSpPr/>
          <p:nvPr/>
        </p:nvSpPr>
        <p:spPr>
          <a:xfrm>
            <a:off x="285750" y="4980533"/>
            <a:ext cx="2717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DiaNavigator: Personalized Insulin Dosing Support</a:t>
            </a:r>
            <a:endParaRPr lang="en-US" sz="837" dirty="0"/>
          </a:p>
        </p:txBody>
      </p:sp>
      <p:sp>
        <p:nvSpPr>
          <p:cNvPr id="50" name="Text 33"/>
          <p:cNvSpPr/>
          <p:nvPr/>
        </p:nvSpPr>
        <p:spPr>
          <a:xfrm>
            <a:off x="8560138" y="4980533"/>
            <a:ext cx="2981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11</a:t>
            </a:r>
            <a:endParaRPr lang="en-US" sz="837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4D02AD94-C633-38C1-5334-7DA62B6E76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511" y="1939436"/>
            <a:ext cx="4452489" cy="1755222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  <p:bldP spid="45" grpId="0" animBg="1"/>
      <p:bldP spid="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717511"/>
            <a:ext cx="9144000" cy="445530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0" y="942975"/>
            <a:ext cx="9144000" cy="28575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Revolutionary Data Visualization: Glycemic Response Tracker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285750" y="564356"/>
            <a:ext cx="85725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Multi-Layer Visualization System</a:t>
            </a:r>
            <a:endParaRPr lang="en-US" sz="1238" dirty="0"/>
          </a:p>
        </p:txBody>
      </p:sp>
      <p:sp>
        <p:nvSpPr>
          <p:cNvPr id="7" name="Shape 4"/>
          <p:cNvSpPr/>
          <p:nvPr/>
        </p:nvSpPr>
        <p:spPr>
          <a:xfrm>
            <a:off x="285750" y="1056045"/>
            <a:ext cx="4000500" cy="717428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5"/>
          <p:cNvSpPr/>
          <p:nvPr/>
        </p:nvSpPr>
        <p:spPr>
          <a:xfrm>
            <a:off x="296545" y="1055689"/>
            <a:ext cx="45719" cy="683502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419100" y="1066483"/>
            <a:ext cx="37147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Innovation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419100" y="1408705"/>
            <a:ext cx="3714750" cy="28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Unified display of all critical diabetes management factors in a single, intuitive chart </a:t>
            </a:r>
            <a:endParaRPr lang="en-US" sz="942" b="1" dirty="0"/>
          </a:p>
        </p:txBody>
      </p:sp>
      <p:sp>
        <p:nvSpPr>
          <p:cNvPr id="11" name="Text 8"/>
          <p:cNvSpPr/>
          <p:nvPr/>
        </p:nvSpPr>
        <p:spPr>
          <a:xfrm>
            <a:off x="327025" y="1882446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Technical Features</a:t>
            </a:r>
            <a:endParaRPr lang="en-US" sz="1575" dirty="0"/>
          </a:p>
        </p:txBody>
      </p:sp>
      <p:sp>
        <p:nvSpPr>
          <p:cNvPr id="13" name="Text 9"/>
          <p:cNvSpPr/>
          <p:nvPr/>
        </p:nvSpPr>
        <p:spPr>
          <a:xfrm>
            <a:off x="381542" y="2213472"/>
            <a:ext cx="365351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 Spatial Segregation:</a:t>
            </a:r>
            <a:r>
              <a:rPr lang="en-US" sz="1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 Upward bars for glucose rise, downward for insulin</a:t>
            </a:r>
            <a:endParaRPr lang="en-US" sz="942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545" y="3154990"/>
            <a:ext cx="4000500" cy="190042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14875" y="1025208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Clinical Impact</a:t>
            </a:r>
            <a:endParaRPr lang="en-US" sz="1575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2987562"/>
            <a:ext cx="107156" cy="7144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4911328" y="3325970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with DiaNavigator</a:t>
            </a:r>
            <a:endParaRPr lang="en-US" sz="1575" dirty="0"/>
          </a:p>
        </p:txBody>
      </p:sp>
      <p:sp>
        <p:nvSpPr>
          <p:cNvPr id="56" name="Text 41"/>
          <p:cNvSpPr/>
          <p:nvPr/>
        </p:nvSpPr>
        <p:spPr>
          <a:xfrm>
            <a:off x="5000625" y="4498826"/>
            <a:ext cx="103233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ML/RL Readiness</a:t>
            </a:r>
            <a:endParaRPr lang="en-US" sz="942" dirty="0"/>
          </a:p>
        </p:txBody>
      </p:sp>
      <p:sp>
        <p:nvSpPr>
          <p:cNvPr id="60" name="Text 44"/>
          <p:cNvSpPr/>
          <p:nvPr/>
        </p:nvSpPr>
        <p:spPr>
          <a:xfrm>
            <a:off x="5003086" y="4775210"/>
            <a:ext cx="1550104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Cost-Effective Monitoring</a:t>
            </a:r>
            <a:endParaRPr lang="en-US" sz="942" dirty="0"/>
          </a:p>
        </p:txBody>
      </p:sp>
      <p:pic>
        <p:nvPicPr>
          <p:cNvPr id="66" name="Image 9" descr="preencoded.png">
            <a:extLst>
              <a:ext uri="{FF2B5EF4-FFF2-40B4-BE49-F238E27FC236}">
                <a16:creationId xmlns:a16="http://schemas.microsoft.com/office/drawing/2014/main" id="{810E21E8-DE7F-D52F-8A1A-3B2C25BB6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255" y="2501787"/>
            <a:ext cx="107156" cy="7144"/>
          </a:xfrm>
          <a:prstGeom prst="rect">
            <a:avLst/>
          </a:prstGeom>
        </p:spPr>
      </p:pic>
      <p:pic>
        <p:nvPicPr>
          <p:cNvPr id="67" name="Image 9" descr="preencoded.png">
            <a:extLst>
              <a:ext uri="{FF2B5EF4-FFF2-40B4-BE49-F238E27FC236}">
                <a16:creationId xmlns:a16="http://schemas.microsoft.com/office/drawing/2014/main" id="{1F7DC7CE-C200-D8B8-3265-3D5FC5632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495" y="2038872"/>
            <a:ext cx="107156" cy="7144"/>
          </a:xfrm>
          <a:prstGeom prst="rect">
            <a:avLst/>
          </a:prstGeom>
        </p:spPr>
      </p:pic>
      <p:pic>
        <p:nvPicPr>
          <p:cNvPr id="68" name="Image 9" descr="preencoded.png">
            <a:extLst>
              <a:ext uri="{FF2B5EF4-FFF2-40B4-BE49-F238E27FC236}">
                <a16:creationId xmlns:a16="http://schemas.microsoft.com/office/drawing/2014/main" id="{ACD46DCD-43BC-CF9A-A373-0F6DC1E0B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5830" y="1585482"/>
            <a:ext cx="107156" cy="7144"/>
          </a:xfrm>
          <a:prstGeom prst="rect">
            <a:avLst/>
          </a:prstGeom>
        </p:spPr>
      </p:pic>
      <p:sp>
        <p:nvSpPr>
          <p:cNvPr id="69" name="Text 9">
            <a:extLst>
              <a:ext uri="{FF2B5EF4-FFF2-40B4-BE49-F238E27FC236}">
                <a16:creationId xmlns:a16="http://schemas.microsoft.com/office/drawing/2014/main" id="{83CAEAEC-841D-6F11-E8F0-4CAE7464D63A}"/>
              </a:ext>
            </a:extLst>
          </p:cNvPr>
          <p:cNvSpPr/>
          <p:nvPr/>
        </p:nvSpPr>
        <p:spPr>
          <a:xfrm>
            <a:off x="381542" y="2594915"/>
            <a:ext cx="3653514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 Multi-Axis Architecture:</a:t>
            </a:r>
            <a:r>
              <a:rPr lang="en-US" sz="1000" b="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 5 dedicated axes prevent interference</a:t>
            </a:r>
            <a:endParaRPr lang="en-US" sz="942" dirty="0"/>
          </a:p>
        </p:txBody>
      </p:sp>
      <p:sp>
        <p:nvSpPr>
          <p:cNvPr id="70" name="Text 9">
            <a:extLst>
              <a:ext uri="{FF2B5EF4-FFF2-40B4-BE49-F238E27FC236}">
                <a16:creationId xmlns:a16="http://schemas.microsoft.com/office/drawing/2014/main" id="{1CBAD01F-E948-A82B-A542-53A2676C1120}"/>
              </a:ext>
            </a:extLst>
          </p:cNvPr>
          <p:cNvSpPr/>
          <p:nvPr/>
        </p:nvSpPr>
        <p:spPr>
          <a:xfrm>
            <a:off x="381542" y="2847213"/>
            <a:ext cx="365351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 Real-Time Predictive Modeling: </a:t>
            </a:r>
            <a:r>
              <a:rPr lang="en-US" sz="100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Shows current status + projected effects</a:t>
            </a:r>
            <a:endParaRPr lang="en-US" sz="942" dirty="0"/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B3DE2D8B-741E-0BD0-4449-9211EE838BB3}"/>
              </a:ext>
            </a:extLst>
          </p:cNvPr>
          <p:cNvSpPr/>
          <p:nvPr/>
        </p:nvSpPr>
        <p:spPr>
          <a:xfrm>
            <a:off x="4982766" y="1493348"/>
            <a:ext cx="365351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sz="1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Eliminates Data Fragmentation</a:t>
            </a:r>
            <a:r>
              <a:rPr lang="en-US" sz="100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: All factors visible in one comprehensive view</a:t>
            </a:r>
            <a:endParaRPr lang="en-US" sz="942" dirty="0"/>
          </a:p>
        </p:txBody>
      </p:sp>
      <p:sp>
        <p:nvSpPr>
          <p:cNvPr id="74" name="Text 9">
            <a:extLst>
              <a:ext uri="{FF2B5EF4-FFF2-40B4-BE49-F238E27FC236}">
                <a16:creationId xmlns:a16="http://schemas.microsoft.com/office/drawing/2014/main" id="{092A771E-2E6E-487F-8E1E-F91023EAA6CE}"/>
              </a:ext>
            </a:extLst>
          </p:cNvPr>
          <p:cNvSpPr/>
          <p:nvPr/>
        </p:nvSpPr>
        <p:spPr>
          <a:xfrm>
            <a:off x="4952286" y="1920068"/>
            <a:ext cx="365351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sz="1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Enables Pattern Recognition</a:t>
            </a:r>
            <a:r>
              <a:rPr lang="en-US" sz="100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: Historical trends + predictive insights</a:t>
            </a:r>
            <a:endParaRPr lang="en-US" sz="942" dirty="0"/>
          </a:p>
        </p:txBody>
      </p:sp>
      <p:sp>
        <p:nvSpPr>
          <p:cNvPr id="75" name="Text 9">
            <a:extLst>
              <a:ext uri="{FF2B5EF4-FFF2-40B4-BE49-F238E27FC236}">
                <a16:creationId xmlns:a16="http://schemas.microsoft.com/office/drawing/2014/main" id="{762AFAAE-C305-D2EE-9AC2-B561FF709B15}"/>
              </a:ext>
            </a:extLst>
          </p:cNvPr>
          <p:cNvSpPr/>
          <p:nvPr/>
        </p:nvSpPr>
        <p:spPr>
          <a:xfrm>
            <a:off x="4982766" y="2280004"/>
            <a:ext cx="3653514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sz="1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Parameter Validation: </a:t>
            </a:r>
            <a:r>
              <a:rPr lang="en-US" sz="100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Historical data comparison of predicted net effects vs. actual blood sugar readings to verify and adjust patient parameters</a:t>
            </a:r>
            <a:endParaRPr lang="en-US" sz="942" dirty="0"/>
          </a:p>
        </p:txBody>
      </p:sp>
      <p:sp>
        <p:nvSpPr>
          <p:cNvPr id="76" name="Text 9">
            <a:extLst>
              <a:ext uri="{FF2B5EF4-FFF2-40B4-BE49-F238E27FC236}">
                <a16:creationId xmlns:a16="http://schemas.microsoft.com/office/drawing/2014/main" id="{A0CFE830-4D85-CFB6-61A6-44B30D2CA6D4}"/>
              </a:ext>
            </a:extLst>
          </p:cNvPr>
          <p:cNvSpPr/>
          <p:nvPr/>
        </p:nvSpPr>
        <p:spPr>
          <a:xfrm>
            <a:off x="4992926" y="2905588"/>
            <a:ext cx="365351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sz="1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Supports Decision Making: </a:t>
            </a:r>
            <a:r>
              <a:rPr lang="en-US" sz="100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Visual estimation of net effects and intervention timing</a:t>
            </a:r>
            <a:endParaRPr lang="en-US" sz="942" dirty="0"/>
          </a:p>
        </p:txBody>
      </p:sp>
      <p:pic>
        <p:nvPicPr>
          <p:cNvPr id="77" name="Image 9" descr="preencoded.png">
            <a:extLst>
              <a:ext uri="{FF2B5EF4-FFF2-40B4-BE49-F238E27FC236}">
                <a16:creationId xmlns:a16="http://schemas.microsoft.com/office/drawing/2014/main" id="{83561456-1149-7555-CDDC-04325CDB1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691" y="3769882"/>
            <a:ext cx="107156" cy="7144"/>
          </a:xfrm>
          <a:prstGeom prst="rect">
            <a:avLst/>
          </a:prstGeom>
        </p:spPr>
      </p:pic>
      <p:sp>
        <p:nvSpPr>
          <p:cNvPr id="78" name="Text 9">
            <a:extLst>
              <a:ext uri="{FF2B5EF4-FFF2-40B4-BE49-F238E27FC236}">
                <a16:creationId xmlns:a16="http://schemas.microsoft.com/office/drawing/2014/main" id="{864FDA0F-8A6D-2F5A-C457-1F2DE1984A3E}"/>
              </a:ext>
            </a:extLst>
          </p:cNvPr>
          <p:cNvSpPr/>
          <p:nvPr/>
        </p:nvSpPr>
        <p:spPr>
          <a:xfrm>
            <a:off x="4972606" y="3687908"/>
            <a:ext cx="365351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sz="1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Enhanced Patient Education: </a:t>
            </a:r>
            <a:r>
              <a:rPr lang="en-US" sz="100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Clear visual representation of management decisions</a:t>
            </a:r>
            <a:endParaRPr lang="en-US" sz="942" dirty="0"/>
          </a:p>
        </p:txBody>
      </p:sp>
      <p:pic>
        <p:nvPicPr>
          <p:cNvPr id="79" name="Image 9" descr="preencoded.png">
            <a:extLst>
              <a:ext uri="{FF2B5EF4-FFF2-40B4-BE49-F238E27FC236}">
                <a16:creationId xmlns:a16="http://schemas.microsoft.com/office/drawing/2014/main" id="{2AEBA4A9-941C-B382-478E-1A59911E6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035" y="4176282"/>
            <a:ext cx="107156" cy="7144"/>
          </a:xfrm>
          <a:prstGeom prst="rect">
            <a:avLst/>
          </a:prstGeom>
        </p:spPr>
      </p:pic>
      <p:sp>
        <p:nvSpPr>
          <p:cNvPr id="80" name="Text 9">
            <a:extLst>
              <a:ext uri="{FF2B5EF4-FFF2-40B4-BE49-F238E27FC236}">
                <a16:creationId xmlns:a16="http://schemas.microsoft.com/office/drawing/2014/main" id="{8B47E653-664A-0A04-570C-47628A9F6BA8}"/>
              </a:ext>
            </a:extLst>
          </p:cNvPr>
          <p:cNvSpPr/>
          <p:nvPr/>
        </p:nvSpPr>
        <p:spPr>
          <a:xfrm>
            <a:off x="5003086" y="4094308"/>
            <a:ext cx="3653514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/>
            <a:r>
              <a:rPr lang="en-US" sz="1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Clinical Decision Support: </a:t>
            </a:r>
            <a:r>
              <a:rPr lang="en-US" sz="1000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Evidence-based recommendations through transparent data display</a:t>
            </a:r>
            <a:endParaRPr lang="en-US" sz="942" dirty="0"/>
          </a:p>
        </p:txBody>
      </p:sp>
      <p:pic>
        <p:nvPicPr>
          <p:cNvPr id="81" name="Image 9" descr="preencoded.png">
            <a:extLst>
              <a:ext uri="{FF2B5EF4-FFF2-40B4-BE49-F238E27FC236}">
                <a16:creationId xmlns:a16="http://schemas.microsoft.com/office/drawing/2014/main" id="{A995319A-38E6-19B0-3297-F332E7C3D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208" y="4570787"/>
            <a:ext cx="107156" cy="7144"/>
          </a:xfrm>
          <a:prstGeom prst="rect">
            <a:avLst/>
          </a:prstGeom>
        </p:spPr>
      </p:pic>
      <p:pic>
        <p:nvPicPr>
          <p:cNvPr id="82" name="Image 9" descr="preencoded.png">
            <a:extLst>
              <a:ext uri="{FF2B5EF4-FFF2-40B4-BE49-F238E27FC236}">
                <a16:creationId xmlns:a16="http://schemas.microsoft.com/office/drawing/2014/main" id="{CD42F035-5279-5A4F-29C2-F5AD627C4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065" y="4851944"/>
            <a:ext cx="107156" cy="7144"/>
          </a:xfrm>
          <a:prstGeom prst="rect">
            <a:avLst/>
          </a:prstGeom>
        </p:spPr>
      </p:pic>
      <p:sp>
        <p:nvSpPr>
          <p:cNvPr id="84" name="Shape 31">
            <a:extLst>
              <a:ext uri="{FF2B5EF4-FFF2-40B4-BE49-F238E27FC236}">
                <a16:creationId xmlns:a16="http://schemas.microsoft.com/office/drawing/2014/main" id="{062B4090-BA0D-DD81-03F5-C41802429310}"/>
              </a:ext>
            </a:extLst>
          </p:cNvPr>
          <p:cNvSpPr/>
          <p:nvPr/>
        </p:nvSpPr>
        <p:spPr>
          <a:xfrm>
            <a:off x="0" y="4926059"/>
            <a:ext cx="9144000" cy="253402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85" name="Text 32">
            <a:extLst>
              <a:ext uri="{FF2B5EF4-FFF2-40B4-BE49-F238E27FC236}">
                <a16:creationId xmlns:a16="http://schemas.microsoft.com/office/drawing/2014/main" id="{3EACE6FE-817E-E406-EDC4-E5C4D03CBD47}"/>
              </a:ext>
            </a:extLst>
          </p:cNvPr>
          <p:cNvSpPr/>
          <p:nvPr/>
        </p:nvSpPr>
        <p:spPr>
          <a:xfrm>
            <a:off x="285750" y="4936573"/>
            <a:ext cx="2717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DiaNavigator: Personalized Insulin Dosing Support</a:t>
            </a:r>
            <a:endParaRPr lang="en-US" sz="837" dirty="0"/>
          </a:p>
        </p:txBody>
      </p:sp>
      <p:sp>
        <p:nvSpPr>
          <p:cNvPr id="86" name="Text 33">
            <a:extLst>
              <a:ext uri="{FF2B5EF4-FFF2-40B4-BE49-F238E27FC236}">
                <a16:creationId xmlns:a16="http://schemas.microsoft.com/office/drawing/2014/main" id="{3D23A1C7-49C6-3053-BCDA-E864741A7B72}"/>
              </a:ext>
            </a:extLst>
          </p:cNvPr>
          <p:cNvSpPr/>
          <p:nvPr/>
        </p:nvSpPr>
        <p:spPr>
          <a:xfrm>
            <a:off x="8560138" y="4957889"/>
            <a:ext cx="278923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11</a:t>
            </a:r>
            <a:endParaRPr lang="en-US" sz="837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6" grpId="0" animBg="1"/>
      <p:bldP spid="56" grpId="0" animBg="1"/>
      <p:bldP spid="60" grpId="0" animBg="1"/>
      <p:bldP spid="73" grpId="0" animBg="1"/>
      <p:bldP spid="74" grpId="0" animBg="1"/>
      <p:bldP spid="75" grpId="0" animBg="1"/>
      <p:bldP spid="76" grpId="0" animBg="1"/>
      <p:bldP spid="78" grpId="0" animBg="1"/>
      <p:bldP spid="8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361EB-F57C-34F6-2A61-30EAB7031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1B10371-1501-EF60-7E6A-6C741CBB2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717511"/>
            <a:ext cx="9144000" cy="4455306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7B8B7958-0EF8-F272-2EBB-61211A73AF1D}"/>
              </a:ext>
            </a:extLst>
          </p:cNvPr>
          <p:cNvSpPr/>
          <p:nvPr/>
        </p:nvSpPr>
        <p:spPr>
          <a:xfrm>
            <a:off x="0" y="0"/>
            <a:ext cx="9144000" cy="97155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D7820B3-256A-6CD3-7679-0DAB65C1FBEB}"/>
              </a:ext>
            </a:extLst>
          </p:cNvPr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Revolutionary Data Visualization: Glycemic Response Tracker</a:t>
            </a:r>
            <a:endParaRPr lang="en-US" sz="2025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0B7919F-F363-A89F-86E8-895A7C2FEDC7}"/>
              </a:ext>
            </a:extLst>
          </p:cNvPr>
          <p:cNvSpPr/>
          <p:nvPr/>
        </p:nvSpPr>
        <p:spPr>
          <a:xfrm>
            <a:off x="285750" y="564356"/>
            <a:ext cx="85725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Multi-Layer Visualization System</a:t>
            </a:r>
            <a:endParaRPr lang="en-US" sz="1238" dirty="0"/>
          </a:p>
        </p:txBody>
      </p:sp>
      <p:sp>
        <p:nvSpPr>
          <p:cNvPr id="85" name="Text 32">
            <a:extLst>
              <a:ext uri="{FF2B5EF4-FFF2-40B4-BE49-F238E27FC236}">
                <a16:creationId xmlns:a16="http://schemas.microsoft.com/office/drawing/2014/main" id="{D4A2706E-6B8E-40B1-1452-01082845FADB}"/>
              </a:ext>
            </a:extLst>
          </p:cNvPr>
          <p:cNvSpPr/>
          <p:nvPr/>
        </p:nvSpPr>
        <p:spPr>
          <a:xfrm>
            <a:off x="285750" y="4936573"/>
            <a:ext cx="2717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DiaNavigator: Personalized Insulin Dosing Support</a:t>
            </a:r>
            <a:endParaRPr lang="en-US" sz="837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472BED-0A72-57BE-A89F-A221EEB84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657" y="1246149"/>
            <a:ext cx="7005856" cy="27780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D615980-A0D6-8C57-2C2D-860EC3AB30DC}"/>
              </a:ext>
            </a:extLst>
          </p:cNvPr>
          <p:cNvSpPr txBox="1"/>
          <p:nvPr/>
        </p:nvSpPr>
        <p:spPr>
          <a:xfrm>
            <a:off x="1828801" y="4177366"/>
            <a:ext cx="5114495" cy="48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CA" sz="900" b="1" i="1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[Screenshot showing training phase visualization with CGM data points, meal/insulin effect overlays, with predicted glucose trajectories]</a:t>
            </a:r>
            <a:endParaRPr lang="de-DE" sz="12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9483697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" y="-18100"/>
            <a:ext cx="9144000" cy="51526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0008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0" y="671513"/>
            <a:ext cx="9144000" cy="28575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 Strategy</a:t>
            </a:r>
            <a:endParaRPr lang="en-US" sz="2025" dirty="0"/>
          </a:p>
        </p:txBody>
      </p:sp>
      <p:sp>
        <p:nvSpPr>
          <p:cNvPr id="18" name="Text 14"/>
          <p:cNvSpPr/>
          <p:nvPr/>
        </p:nvSpPr>
        <p:spPr>
          <a:xfrm>
            <a:off x="37383" y="906924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 Principles</a:t>
            </a:r>
            <a:endParaRPr lang="en-US" sz="1575" dirty="0"/>
          </a:p>
        </p:txBody>
      </p:sp>
      <p:sp>
        <p:nvSpPr>
          <p:cNvPr id="20" name="Text 15"/>
          <p:cNvSpPr/>
          <p:nvPr/>
        </p:nvSpPr>
        <p:spPr>
          <a:xfrm>
            <a:off x="291207" y="1363316"/>
            <a:ext cx="37326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Modularity</a:t>
            </a:r>
            <a:endParaRPr lang="en-US" sz="1046" dirty="0"/>
          </a:p>
        </p:txBody>
      </p:sp>
      <p:sp>
        <p:nvSpPr>
          <p:cNvPr id="21" name="Text 16"/>
          <p:cNvSpPr/>
          <p:nvPr/>
        </p:nvSpPr>
        <p:spPr>
          <a:xfrm>
            <a:off x="684113" y="1463777"/>
            <a:ext cx="373260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Incremental improvements through independent components</a:t>
            </a:r>
            <a:endParaRPr lang="en-US" sz="942" dirty="0"/>
          </a:p>
        </p:txBody>
      </p:sp>
      <p:sp>
        <p:nvSpPr>
          <p:cNvPr id="23" name="Text 17"/>
          <p:cNvSpPr/>
          <p:nvPr/>
        </p:nvSpPr>
        <p:spPr>
          <a:xfrm>
            <a:off x="255488" y="1760497"/>
            <a:ext cx="376832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Scalability</a:t>
            </a:r>
            <a:endParaRPr lang="en-US" sz="1046" dirty="0"/>
          </a:p>
        </p:txBody>
      </p:sp>
      <p:sp>
        <p:nvSpPr>
          <p:cNvPr id="24" name="Text 18"/>
          <p:cNvSpPr/>
          <p:nvPr/>
        </p:nvSpPr>
        <p:spPr>
          <a:xfrm>
            <a:off x="684113" y="1965149"/>
            <a:ext cx="376832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Enterprise-ready architecture for growing user base</a:t>
            </a:r>
            <a:endParaRPr lang="en-US" sz="942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6" y="2293653"/>
            <a:ext cx="107156" cy="71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37629" y="2175781"/>
            <a:ext cx="37861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Interoperability</a:t>
            </a:r>
            <a:endParaRPr lang="en-US" sz="1046" dirty="0"/>
          </a:p>
        </p:txBody>
      </p:sp>
      <p:sp>
        <p:nvSpPr>
          <p:cNvPr id="27" name="Text 20"/>
          <p:cNvSpPr/>
          <p:nvPr/>
        </p:nvSpPr>
        <p:spPr>
          <a:xfrm>
            <a:off x="684113" y="2418193"/>
            <a:ext cx="378618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Healthcare system integration with standard protocols</a:t>
            </a:r>
            <a:endParaRPr lang="en-US" sz="942" dirty="0"/>
          </a:p>
        </p:txBody>
      </p:sp>
      <p:sp>
        <p:nvSpPr>
          <p:cNvPr id="29" name="Text 21"/>
          <p:cNvSpPr/>
          <p:nvPr/>
        </p:nvSpPr>
        <p:spPr>
          <a:xfrm>
            <a:off x="301446" y="2606306"/>
            <a:ext cx="37147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Experience</a:t>
            </a:r>
            <a:endParaRPr lang="en-US" sz="1046" dirty="0"/>
          </a:p>
        </p:txBody>
      </p:sp>
      <p:sp>
        <p:nvSpPr>
          <p:cNvPr id="30" name="Text 22"/>
          <p:cNvSpPr/>
          <p:nvPr/>
        </p:nvSpPr>
        <p:spPr>
          <a:xfrm>
            <a:off x="684113" y="2856337"/>
            <a:ext cx="3714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Intuitive interfaces designed for diverse users</a:t>
            </a:r>
            <a:endParaRPr lang="en-US" sz="942" dirty="0"/>
          </a:p>
        </p:txBody>
      </p:sp>
      <p:sp>
        <p:nvSpPr>
          <p:cNvPr id="32" name="Text 23"/>
          <p:cNvSpPr/>
          <p:nvPr/>
        </p:nvSpPr>
        <p:spPr>
          <a:xfrm>
            <a:off x="265727" y="3044450"/>
            <a:ext cx="37504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85C1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Clinical Safety</a:t>
            </a:r>
            <a:endParaRPr lang="en-US" sz="1046" dirty="0"/>
          </a:p>
        </p:txBody>
      </p:sp>
      <p:sp>
        <p:nvSpPr>
          <p:cNvPr id="33" name="Text 24"/>
          <p:cNvSpPr/>
          <p:nvPr/>
        </p:nvSpPr>
        <p:spPr>
          <a:xfrm>
            <a:off x="666253" y="3263530"/>
            <a:ext cx="375046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Fail-safe mechanisms and validation protocols</a:t>
            </a:r>
            <a:endParaRPr lang="en-US" sz="942" dirty="0"/>
          </a:p>
        </p:txBody>
      </p:sp>
      <p:sp>
        <p:nvSpPr>
          <p:cNvPr id="34" name="Shape 25"/>
          <p:cNvSpPr/>
          <p:nvPr/>
        </p:nvSpPr>
        <p:spPr>
          <a:xfrm>
            <a:off x="0" y="4820238"/>
            <a:ext cx="9144000" cy="314325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26"/>
          <p:cNvSpPr/>
          <p:nvPr/>
        </p:nvSpPr>
        <p:spPr>
          <a:xfrm>
            <a:off x="100273" y="4861182"/>
            <a:ext cx="2771444" cy="128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DiaNavigator: Personalized Insulin Dosing Support</a:t>
            </a:r>
            <a:endParaRPr lang="en-US" sz="837" dirty="0"/>
          </a:p>
        </p:txBody>
      </p:sp>
      <p:sp>
        <p:nvSpPr>
          <p:cNvPr id="36" name="Text 27"/>
          <p:cNvSpPr/>
          <p:nvPr/>
        </p:nvSpPr>
        <p:spPr>
          <a:xfrm>
            <a:off x="8509676" y="4931457"/>
            <a:ext cx="25167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8/ 11</a:t>
            </a:r>
            <a:endParaRPr lang="en-US" sz="837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6F5BBDC5-E8F4-3F86-8D8D-DF75D7D8DED3}"/>
              </a:ext>
            </a:extLst>
          </p:cNvPr>
          <p:cNvSpPr/>
          <p:nvPr/>
        </p:nvSpPr>
        <p:spPr>
          <a:xfrm>
            <a:off x="4641885" y="3169474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Metrics</a:t>
            </a:r>
            <a:endParaRPr lang="en-US" sz="1575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276814A3-2451-E23F-A112-17B5F053120D}"/>
              </a:ext>
            </a:extLst>
          </p:cNvPr>
          <p:cNvSpPr/>
          <p:nvPr/>
        </p:nvSpPr>
        <p:spPr>
          <a:xfrm>
            <a:off x="4950852" y="3481418"/>
            <a:ext cx="17660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Database Processing Time </a:t>
            </a:r>
            <a:endParaRPr lang="en-US" sz="1046" dirty="0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67EF4AEA-A37F-0F9A-FC97-F623C2565A80}"/>
              </a:ext>
            </a:extLst>
          </p:cNvPr>
          <p:cNvSpPr/>
          <p:nvPr/>
        </p:nvSpPr>
        <p:spPr>
          <a:xfrm>
            <a:off x="6931262" y="3459987"/>
            <a:ext cx="106282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0.88 seconds</a:t>
            </a:r>
            <a:endParaRPr lang="en-US" sz="135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9151661F-6402-78AF-D5AB-9E65101F7B5E}"/>
              </a:ext>
            </a:extLst>
          </p:cNvPr>
          <p:cNvSpPr/>
          <p:nvPr/>
        </p:nvSpPr>
        <p:spPr>
          <a:xfrm>
            <a:off x="4641885" y="3788599"/>
            <a:ext cx="4000500" cy="71438"/>
          </a:xfrm>
          <a:prstGeom prst="roundRect">
            <a:avLst/>
          </a:prstGeom>
          <a:solidFill>
            <a:srgbClr val="ECF0F1">
              <a:alpha val="2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547B9055-1791-918D-1689-C5E94F9332E2}"/>
              </a:ext>
            </a:extLst>
          </p:cNvPr>
          <p:cNvSpPr/>
          <p:nvPr/>
        </p:nvSpPr>
        <p:spPr>
          <a:xfrm>
            <a:off x="4641885" y="3788599"/>
            <a:ext cx="3520418" cy="71438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3" name="Image 2" descr="preencoded.png">
            <a:extLst>
              <a:ext uri="{FF2B5EF4-FFF2-40B4-BE49-F238E27FC236}">
                <a16:creationId xmlns:a16="http://schemas.microsoft.com/office/drawing/2014/main" id="{5340B178-93F1-784F-CCBE-EABBBCCBD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885" y="4046072"/>
            <a:ext cx="157163" cy="8930"/>
          </a:xfrm>
          <a:prstGeom prst="rect">
            <a:avLst/>
          </a:prstGeom>
        </p:spPr>
      </p:pic>
      <p:sp>
        <p:nvSpPr>
          <p:cNvPr id="44" name="Text 8">
            <a:extLst>
              <a:ext uri="{FF2B5EF4-FFF2-40B4-BE49-F238E27FC236}">
                <a16:creationId xmlns:a16="http://schemas.microsoft.com/office/drawing/2014/main" id="{190E9D52-326C-E844-B2DA-E551A7C6E6F5}"/>
              </a:ext>
            </a:extLst>
          </p:cNvPr>
          <p:cNvSpPr/>
          <p:nvPr/>
        </p:nvSpPr>
        <p:spPr>
          <a:xfrm>
            <a:off x="4906204" y="3943380"/>
            <a:ext cx="14920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Data Points Processed </a:t>
            </a:r>
            <a:endParaRPr lang="en-US" sz="1046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4301D79C-EF0C-2AB8-4DE4-0E9B2DB2AFB4}"/>
              </a:ext>
            </a:extLst>
          </p:cNvPr>
          <p:cNvSpPr/>
          <p:nvPr/>
        </p:nvSpPr>
        <p:spPr>
          <a:xfrm>
            <a:off x="6931262" y="3921949"/>
            <a:ext cx="44425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350" dirty="0"/>
          </a:p>
        </p:txBody>
      </p:sp>
      <p:sp>
        <p:nvSpPr>
          <p:cNvPr id="46" name="Shape 10">
            <a:extLst>
              <a:ext uri="{FF2B5EF4-FFF2-40B4-BE49-F238E27FC236}">
                <a16:creationId xmlns:a16="http://schemas.microsoft.com/office/drawing/2014/main" id="{8BDF2FE7-FE53-86CF-7FBF-6A7D0FB16638}"/>
              </a:ext>
            </a:extLst>
          </p:cNvPr>
          <p:cNvSpPr/>
          <p:nvPr/>
        </p:nvSpPr>
        <p:spPr>
          <a:xfrm>
            <a:off x="4641885" y="4250562"/>
            <a:ext cx="4000500" cy="71438"/>
          </a:xfrm>
          <a:prstGeom prst="roundRect">
            <a:avLst/>
          </a:prstGeom>
          <a:solidFill>
            <a:srgbClr val="ECF0F1">
              <a:alpha val="2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7" name="Shape 11">
            <a:extLst>
              <a:ext uri="{FF2B5EF4-FFF2-40B4-BE49-F238E27FC236}">
                <a16:creationId xmlns:a16="http://schemas.microsoft.com/office/drawing/2014/main" id="{76EE29F3-CF57-3707-8D16-05DBE7709E29}"/>
              </a:ext>
            </a:extLst>
          </p:cNvPr>
          <p:cNvSpPr/>
          <p:nvPr/>
        </p:nvSpPr>
        <p:spPr>
          <a:xfrm>
            <a:off x="4641885" y="4250562"/>
            <a:ext cx="4000500" cy="71438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BEDD4204-0635-CECB-B967-398616293590}"/>
              </a:ext>
            </a:extLst>
          </p:cNvPr>
          <p:cNvSpPr/>
          <p:nvPr/>
        </p:nvSpPr>
        <p:spPr>
          <a:xfrm>
            <a:off x="4927635" y="4313903"/>
            <a:ext cx="10175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System Uptime </a:t>
            </a:r>
            <a:endParaRPr lang="en-US" sz="1046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7F5E1A2A-B960-73CF-07C6-6AB585C5410F}"/>
              </a:ext>
            </a:extLst>
          </p:cNvPr>
          <p:cNvSpPr/>
          <p:nvPr/>
        </p:nvSpPr>
        <p:spPr>
          <a:xfrm>
            <a:off x="6931262" y="4352829"/>
            <a:ext cx="49208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99.9%</a:t>
            </a:r>
            <a:endParaRPr lang="en-US" sz="1350" dirty="0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0A8637E9-CE14-8E0C-FFA2-9713F81585ED}"/>
              </a:ext>
            </a:extLst>
          </p:cNvPr>
          <p:cNvSpPr/>
          <p:nvPr/>
        </p:nvSpPr>
        <p:spPr>
          <a:xfrm>
            <a:off x="4641885" y="4621084"/>
            <a:ext cx="4000500" cy="71438"/>
          </a:xfrm>
          <a:prstGeom prst="roundRect">
            <a:avLst/>
          </a:prstGeom>
          <a:solidFill>
            <a:srgbClr val="ECF0F1">
              <a:alpha val="2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C09E597F-68B5-F03E-593A-5DBA902EEB37}"/>
              </a:ext>
            </a:extLst>
          </p:cNvPr>
          <p:cNvSpPr/>
          <p:nvPr/>
        </p:nvSpPr>
        <p:spPr>
          <a:xfrm>
            <a:off x="4641885" y="4621084"/>
            <a:ext cx="3996482" cy="71438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0EC2F11A-5D29-DF4C-EE90-298E80BF6D21}"/>
              </a:ext>
            </a:extLst>
          </p:cNvPr>
          <p:cNvSpPr/>
          <p:nvPr/>
        </p:nvSpPr>
        <p:spPr>
          <a:xfrm>
            <a:off x="4714875" y="867068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Clinical Expert Validation</a:t>
            </a:r>
            <a:endParaRPr lang="en-US" sz="1575" dirty="0"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82F798B1-F285-3B6E-B617-5ED80DBA21EC}"/>
              </a:ext>
            </a:extLst>
          </p:cNvPr>
          <p:cNvSpPr/>
          <p:nvPr/>
        </p:nvSpPr>
        <p:spPr>
          <a:xfrm>
            <a:off x="4964906" y="1309981"/>
            <a:ext cx="238760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Board-certified diabetologist review</a:t>
            </a:r>
            <a:endParaRPr lang="en-US" sz="1046" dirty="0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395749DE-714D-75AB-F231-AB4EF2598F7F}"/>
              </a:ext>
            </a:extLst>
          </p:cNvPr>
          <p:cNvSpPr/>
          <p:nvPr/>
        </p:nvSpPr>
        <p:spPr>
          <a:xfrm>
            <a:off x="4964906" y="1660024"/>
            <a:ext cx="350587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Confirmed clinical need for integrated data platform</a:t>
            </a:r>
            <a:endParaRPr lang="en-US" sz="1046" dirty="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E2BEF17B-4842-61D8-20F8-DB02D3BFA07A}"/>
              </a:ext>
            </a:extLst>
          </p:cNvPr>
          <p:cNvSpPr/>
          <p:nvPr/>
        </p:nvSpPr>
        <p:spPr>
          <a:xfrm>
            <a:off x="4964906" y="2010068"/>
            <a:ext cx="252233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Validated system learning capabilities</a:t>
            </a:r>
            <a:endParaRPr lang="en-US" sz="1046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163CC9D7-F9FC-5594-885B-8ABF95C475C7}"/>
              </a:ext>
            </a:extLst>
          </p:cNvPr>
          <p:cNvSpPr/>
          <p:nvPr/>
        </p:nvSpPr>
        <p:spPr>
          <a:xfrm>
            <a:off x="4964906" y="2360112"/>
            <a:ext cx="30629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Approved physician decision support features</a:t>
            </a:r>
            <a:endParaRPr lang="en-US" sz="1046" dirty="0"/>
          </a:p>
        </p:txBody>
      </p:sp>
      <p:sp>
        <p:nvSpPr>
          <p:cNvPr id="62" name="Text 2">
            <a:extLst>
              <a:ext uri="{FF2B5EF4-FFF2-40B4-BE49-F238E27FC236}">
                <a16:creationId xmlns:a16="http://schemas.microsoft.com/office/drawing/2014/main" id="{3E04E0F2-53E1-1AF8-5207-9CD27A6AB79F}"/>
              </a:ext>
            </a:extLst>
          </p:cNvPr>
          <p:cNvSpPr/>
          <p:nvPr/>
        </p:nvSpPr>
        <p:spPr>
          <a:xfrm>
            <a:off x="4575912" y="2810587"/>
            <a:ext cx="3889308" cy="311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Testing &amp; Validation</a:t>
            </a:r>
            <a:endParaRPr lang="en-US" sz="2025" dirty="0"/>
          </a:p>
        </p:txBody>
      </p:sp>
      <p:pic>
        <p:nvPicPr>
          <p:cNvPr id="63" name="Image 4" descr="preencoded.png">
            <a:extLst>
              <a:ext uri="{FF2B5EF4-FFF2-40B4-BE49-F238E27FC236}">
                <a16:creationId xmlns:a16="http://schemas.microsoft.com/office/drawing/2014/main" id="{42E7B052-5121-5904-6BA9-5665E8DCA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1" y="2712753"/>
            <a:ext cx="107156" cy="7144"/>
          </a:xfrm>
          <a:prstGeom prst="rect">
            <a:avLst/>
          </a:prstGeom>
        </p:spPr>
      </p:pic>
      <p:pic>
        <p:nvPicPr>
          <p:cNvPr id="64" name="Image 4" descr="preencoded.png">
            <a:extLst>
              <a:ext uri="{FF2B5EF4-FFF2-40B4-BE49-F238E27FC236}">
                <a16:creationId xmlns:a16="http://schemas.microsoft.com/office/drawing/2014/main" id="{A81EF9E8-E011-1B5E-0733-953DD836F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6" y="1863123"/>
            <a:ext cx="107156" cy="7144"/>
          </a:xfrm>
          <a:prstGeom prst="rect">
            <a:avLst/>
          </a:prstGeom>
        </p:spPr>
      </p:pic>
      <p:pic>
        <p:nvPicPr>
          <p:cNvPr id="65" name="Image 4" descr="preencoded.png">
            <a:extLst>
              <a:ext uri="{FF2B5EF4-FFF2-40B4-BE49-F238E27FC236}">
                <a16:creationId xmlns:a16="http://schemas.microsoft.com/office/drawing/2014/main" id="{5D9E7619-8199-D6AF-BF9C-348A38C47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1" y="1470693"/>
            <a:ext cx="107156" cy="7144"/>
          </a:xfrm>
          <a:prstGeom prst="rect">
            <a:avLst/>
          </a:prstGeom>
        </p:spPr>
      </p:pic>
      <p:pic>
        <p:nvPicPr>
          <p:cNvPr id="66" name="Image 4" descr="preencoded.png">
            <a:extLst>
              <a:ext uri="{FF2B5EF4-FFF2-40B4-BE49-F238E27FC236}">
                <a16:creationId xmlns:a16="http://schemas.microsoft.com/office/drawing/2014/main" id="{34D5B7F4-2C58-1841-32E4-F9E1E9410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21" y="3150903"/>
            <a:ext cx="107156" cy="7144"/>
          </a:xfrm>
          <a:prstGeom prst="rect">
            <a:avLst/>
          </a:prstGeom>
        </p:spPr>
      </p:pic>
      <p:pic>
        <p:nvPicPr>
          <p:cNvPr id="67" name="Image 2" descr="preencoded.png">
            <a:extLst>
              <a:ext uri="{FF2B5EF4-FFF2-40B4-BE49-F238E27FC236}">
                <a16:creationId xmlns:a16="http://schemas.microsoft.com/office/drawing/2014/main" id="{F85706DC-14DA-2C56-250B-EDFC4C384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265" y="3596492"/>
            <a:ext cx="157163" cy="8930"/>
          </a:xfrm>
          <a:prstGeom prst="rect">
            <a:avLst/>
          </a:prstGeom>
        </p:spPr>
      </p:pic>
      <p:pic>
        <p:nvPicPr>
          <p:cNvPr id="68" name="Image 2" descr="preencoded.png">
            <a:extLst>
              <a:ext uri="{FF2B5EF4-FFF2-40B4-BE49-F238E27FC236}">
                <a16:creationId xmlns:a16="http://schemas.microsoft.com/office/drawing/2014/main" id="{2D6BCE07-A53E-C5E7-6959-3F7474EEE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3315" y="4442312"/>
            <a:ext cx="157163" cy="8930"/>
          </a:xfrm>
          <a:prstGeom prst="rect">
            <a:avLst/>
          </a:prstGeom>
        </p:spPr>
      </p:pic>
      <p:pic>
        <p:nvPicPr>
          <p:cNvPr id="72" name="Image 2" descr="preencoded.png">
            <a:extLst>
              <a:ext uri="{FF2B5EF4-FFF2-40B4-BE49-F238E27FC236}">
                <a16:creationId xmlns:a16="http://schemas.microsoft.com/office/drawing/2014/main" id="{33240ECE-1219-1E8A-B062-EE38D3564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130" y="2466827"/>
            <a:ext cx="157163" cy="8930"/>
          </a:xfrm>
          <a:prstGeom prst="rect">
            <a:avLst/>
          </a:prstGeom>
        </p:spPr>
      </p:pic>
      <p:pic>
        <p:nvPicPr>
          <p:cNvPr id="73" name="Image 2" descr="preencoded.png">
            <a:extLst>
              <a:ext uri="{FF2B5EF4-FFF2-40B4-BE49-F238E27FC236}">
                <a16:creationId xmlns:a16="http://schemas.microsoft.com/office/drawing/2014/main" id="{6B7587E0-51B5-599A-2427-D95DD9B0B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940" y="2116307"/>
            <a:ext cx="157163" cy="8930"/>
          </a:xfrm>
          <a:prstGeom prst="rect">
            <a:avLst/>
          </a:prstGeom>
        </p:spPr>
      </p:pic>
      <p:pic>
        <p:nvPicPr>
          <p:cNvPr id="74" name="Image 2" descr="preencoded.png">
            <a:extLst>
              <a:ext uri="{FF2B5EF4-FFF2-40B4-BE49-F238E27FC236}">
                <a16:creationId xmlns:a16="http://schemas.microsoft.com/office/drawing/2014/main" id="{904543D9-0F0D-B2D2-10FE-CBB5968576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655" y="1756262"/>
            <a:ext cx="157163" cy="8930"/>
          </a:xfrm>
          <a:prstGeom prst="rect">
            <a:avLst/>
          </a:prstGeom>
        </p:spPr>
      </p:pic>
      <p:pic>
        <p:nvPicPr>
          <p:cNvPr id="75" name="Image 2" descr="preencoded.png">
            <a:extLst>
              <a:ext uri="{FF2B5EF4-FFF2-40B4-BE49-F238E27FC236}">
                <a16:creationId xmlns:a16="http://schemas.microsoft.com/office/drawing/2014/main" id="{C8D56F04-ED2E-BDA3-19E3-529B18C2A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750" y="1422887"/>
            <a:ext cx="157163" cy="893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6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64BA1-E8D2-98D9-F836-F8D2E3EAF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36F34C1-1F94-9C92-AAAD-9BC95DD37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" y="-18100"/>
            <a:ext cx="9144000" cy="5152663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DE0551A-9ED8-D77E-8400-983DE00B4582}"/>
              </a:ext>
            </a:extLst>
          </p:cNvPr>
          <p:cNvSpPr/>
          <p:nvPr/>
        </p:nvSpPr>
        <p:spPr>
          <a:xfrm>
            <a:off x="45153" y="0"/>
            <a:ext cx="9144000" cy="462993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125A467-66EE-1E11-3E34-7FF4D67F137C}"/>
              </a:ext>
            </a:extLst>
          </p:cNvPr>
          <p:cNvSpPr/>
          <p:nvPr/>
        </p:nvSpPr>
        <p:spPr>
          <a:xfrm flipV="1">
            <a:off x="-3912" y="467072"/>
            <a:ext cx="9144000" cy="48992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691A4BD-BDCE-06B1-52EE-A1265622E06C}"/>
              </a:ext>
            </a:extLst>
          </p:cNvPr>
          <p:cNvSpPr/>
          <p:nvPr/>
        </p:nvSpPr>
        <p:spPr>
          <a:xfrm>
            <a:off x="236513" y="119887"/>
            <a:ext cx="761427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</a:t>
            </a:r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183DA295-B521-C474-51C5-EF44B7FA0A33}"/>
              </a:ext>
            </a:extLst>
          </p:cNvPr>
          <p:cNvSpPr/>
          <p:nvPr/>
        </p:nvSpPr>
        <p:spPr>
          <a:xfrm>
            <a:off x="0" y="4820238"/>
            <a:ext cx="9144000" cy="314325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EC944198-2BC0-3A86-B37F-EB202A66A8BE}"/>
              </a:ext>
            </a:extLst>
          </p:cNvPr>
          <p:cNvSpPr/>
          <p:nvPr/>
        </p:nvSpPr>
        <p:spPr>
          <a:xfrm>
            <a:off x="100273" y="4861182"/>
            <a:ext cx="2771444" cy="1288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DiaNavigator: Personalized Insulin Dosing Support</a:t>
            </a:r>
            <a:endParaRPr lang="en-US" sz="837" dirty="0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CF11E448-3DEC-16E8-4BC2-29350E11AEF7}"/>
              </a:ext>
            </a:extLst>
          </p:cNvPr>
          <p:cNvSpPr/>
          <p:nvPr/>
        </p:nvSpPr>
        <p:spPr>
          <a:xfrm>
            <a:off x="8509676" y="4931457"/>
            <a:ext cx="251672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8/ 11</a:t>
            </a:r>
            <a:endParaRPr lang="en-US" sz="837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FDC89C-6A14-B365-E625-07CCC6052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2" y="516064"/>
            <a:ext cx="2303068" cy="2520414"/>
          </a:xfrm>
          <a:prstGeom prst="rect">
            <a:avLst/>
          </a:prstGeom>
        </p:spPr>
      </p:pic>
      <p:pic>
        <p:nvPicPr>
          <p:cNvPr id="7" name="Picture 6" descr="A screenshot of a menu&#10;&#10;AI-generated content may be incorrect.">
            <a:extLst>
              <a:ext uri="{FF2B5EF4-FFF2-40B4-BE49-F238E27FC236}">
                <a16:creationId xmlns:a16="http://schemas.microsoft.com/office/drawing/2014/main" id="{D1B505E7-CFC1-BA5A-609F-F59492A77D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" y="671512"/>
            <a:ext cx="2303068" cy="23649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F8A3AE-14F0-2470-84A8-CBD6BD6227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576" y="511701"/>
            <a:ext cx="2159512" cy="2524777"/>
          </a:xfrm>
          <a:prstGeom prst="rect">
            <a:avLst/>
          </a:prstGeom>
          <a:noFill/>
        </p:spPr>
      </p:pic>
      <p:pic>
        <p:nvPicPr>
          <p:cNvPr id="9" name="Picture 8" descr="A screenshot of a medical record&#10;&#10;AI-generated content may be incorrect.">
            <a:extLst>
              <a:ext uri="{FF2B5EF4-FFF2-40B4-BE49-F238E27FC236}">
                <a16:creationId xmlns:a16="http://schemas.microsoft.com/office/drawing/2014/main" id="{A88D8407-8D88-2B8C-3F82-944D07AEB9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1644" y="516065"/>
            <a:ext cx="2303069" cy="2520414"/>
          </a:xfrm>
          <a:prstGeom prst="rect">
            <a:avLst/>
          </a:prstGeom>
        </p:spPr>
      </p:pic>
      <p:pic>
        <p:nvPicPr>
          <p:cNvPr id="10" name="Picture 9" descr="A screenshot of a medical dashboard&#10;&#10;AI-generated content may be incorrect.">
            <a:extLst>
              <a:ext uri="{FF2B5EF4-FFF2-40B4-BE49-F238E27FC236}">
                <a16:creationId xmlns:a16="http://schemas.microsoft.com/office/drawing/2014/main" id="{433ECAD1-7DEC-6484-EA80-D7DA00567B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912" y="3121031"/>
            <a:ext cx="2258025" cy="1699206"/>
          </a:xfrm>
          <a:prstGeom prst="rect">
            <a:avLst/>
          </a:prstGeom>
        </p:spPr>
      </p:pic>
      <p:pic>
        <p:nvPicPr>
          <p:cNvPr id="11" name="Picture 10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E8194F6E-567C-3195-20C2-CF93C19E1A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8576" y="3161976"/>
            <a:ext cx="2159512" cy="16992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B2836E-ECBD-9F24-F667-27225564FD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1374" y="511701"/>
            <a:ext cx="2028220" cy="25204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9213A68-0500-56E8-00FD-655CC2536E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8753" y="3396284"/>
            <a:ext cx="3442595" cy="115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5738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0008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0" y="671513"/>
            <a:ext cx="9144000" cy="28575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Clinical Impact &amp; Benefits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28625" y="885825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Benefits</a:t>
            </a:r>
            <a:endParaRPr lang="en-US" sz="1575" dirty="0"/>
          </a:p>
        </p:txBody>
      </p:sp>
      <p:sp>
        <p:nvSpPr>
          <p:cNvPr id="8" name="Text 4"/>
          <p:cNvSpPr/>
          <p:nvPr/>
        </p:nvSpPr>
        <p:spPr>
          <a:xfrm>
            <a:off x="714375" y="1328738"/>
            <a:ext cx="37147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 Empowerment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714375" y="1600200"/>
            <a:ext cx="37147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Enhanced understanding of diabetes management through clear visualizations and personalized insights</a:t>
            </a:r>
            <a:endParaRPr lang="en-US" sz="942" dirty="0"/>
          </a:p>
        </p:txBody>
      </p:sp>
      <p:sp>
        <p:nvSpPr>
          <p:cNvPr id="11" name="Text 6"/>
          <p:cNvSpPr/>
          <p:nvPr/>
        </p:nvSpPr>
        <p:spPr>
          <a:xfrm>
            <a:off x="696516" y="2103109"/>
            <a:ext cx="373260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Clinical Decision Support</a:t>
            </a:r>
            <a:endParaRPr lang="en-US" sz="1238" dirty="0"/>
          </a:p>
        </p:txBody>
      </p:sp>
      <p:sp>
        <p:nvSpPr>
          <p:cNvPr id="12" name="Text 7"/>
          <p:cNvSpPr/>
          <p:nvPr/>
        </p:nvSpPr>
        <p:spPr>
          <a:xfrm>
            <a:off x="696516" y="2374571"/>
            <a:ext cx="373260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Evidence-based recommendations with transparent reasoning for healthcare providers</a:t>
            </a:r>
            <a:endParaRPr lang="en-US" sz="942" dirty="0"/>
          </a:p>
        </p:txBody>
      </p:sp>
      <p:sp>
        <p:nvSpPr>
          <p:cNvPr id="14" name="Text 8"/>
          <p:cNvSpPr/>
          <p:nvPr/>
        </p:nvSpPr>
        <p:spPr>
          <a:xfrm>
            <a:off x="681350" y="2877480"/>
            <a:ext cx="380404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 Effectiveness</a:t>
            </a:r>
            <a:endParaRPr lang="en-US" sz="1238" dirty="0"/>
          </a:p>
        </p:txBody>
      </p:sp>
      <p:sp>
        <p:nvSpPr>
          <p:cNvPr id="15" name="Text 9"/>
          <p:cNvSpPr/>
          <p:nvPr/>
        </p:nvSpPr>
        <p:spPr>
          <a:xfrm>
            <a:off x="660248" y="3148943"/>
            <a:ext cx="380404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Reduced dependency on expensive continuous monitoring through smart calibration strategy</a:t>
            </a:r>
            <a:endParaRPr lang="en-US" sz="942" dirty="0"/>
          </a:p>
        </p:txBody>
      </p:sp>
      <p:sp>
        <p:nvSpPr>
          <p:cNvPr id="17" name="Text 10"/>
          <p:cNvSpPr/>
          <p:nvPr/>
        </p:nvSpPr>
        <p:spPr>
          <a:xfrm>
            <a:off x="678656" y="3651852"/>
            <a:ext cx="37504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Personalized Care</a:t>
            </a:r>
            <a:endParaRPr lang="en-US" sz="1238" dirty="0"/>
          </a:p>
        </p:txBody>
      </p:sp>
      <p:sp>
        <p:nvSpPr>
          <p:cNvPr id="18" name="Text 11"/>
          <p:cNvSpPr/>
          <p:nvPr/>
        </p:nvSpPr>
        <p:spPr>
          <a:xfrm>
            <a:off x="678656" y="3923314"/>
            <a:ext cx="37504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Individual metabolic pattern recognition and adaptation for optimized treatment</a:t>
            </a:r>
            <a:endParaRPr lang="en-US" sz="942" dirty="0"/>
          </a:p>
        </p:txBody>
      </p:sp>
      <p:sp>
        <p:nvSpPr>
          <p:cNvPr id="20" name="Text 12"/>
          <p:cNvSpPr/>
          <p:nvPr/>
        </p:nvSpPr>
        <p:spPr>
          <a:xfrm>
            <a:off x="4714875" y="885825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Expected Outcomes</a:t>
            </a:r>
            <a:endParaRPr lang="en-US" sz="1575" dirty="0"/>
          </a:p>
        </p:txBody>
      </p:sp>
      <p:sp>
        <p:nvSpPr>
          <p:cNvPr id="22" name="Text 13"/>
          <p:cNvSpPr/>
          <p:nvPr/>
        </p:nvSpPr>
        <p:spPr>
          <a:xfrm>
            <a:off x="4986008" y="1328738"/>
            <a:ext cx="363332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Improved glycemic control and reduced complications</a:t>
            </a:r>
            <a:endParaRPr lang="en-US" sz="1046" dirty="0"/>
          </a:p>
        </p:txBody>
      </p:sp>
      <p:sp>
        <p:nvSpPr>
          <p:cNvPr id="24" name="Text 14"/>
          <p:cNvSpPr/>
          <p:nvPr/>
        </p:nvSpPr>
        <p:spPr>
          <a:xfrm>
            <a:off x="5000625" y="1643063"/>
            <a:ext cx="35884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Enhanced patient engagement and self-management</a:t>
            </a:r>
            <a:endParaRPr lang="en-US" sz="1046" dirty="0"/>
          </a:p>
        </p:txBody>
      </p:sp>
      <p:sp>
        <p:nvSpPr>
          <p:cNvPr id="26" name="Text 15"/>
          <p:cNvSpPr/>
          <p:nvPr/>
        </p:nvSpPr>
        <p:spPr>
          <a:xfrm>
            <a:off x="5000625" y="1957388"/>
            <a:ext cx="367289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Streamlined clinical workflows for healthcare providers</a:t>
            </a:r>
            <a:endParaRPr lang="en-US" sz="1046" dirty="0"/>
          </a:p>
        </p:txBody>
      </p:sp>
      <p:sp>
        <p:nvSpPr>
          <p:cNvPr id="28" name="Text 16"/>
          <p:cNvSpPr/>
          <p:nvPr/>
        </p:nvSpPr>
        <p:spPr>
          <a:xfrm>
            <a:off x="4982766" y="2271713"/>
            <a:ext cx="305925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Reduced healthcare costs through prevention</a:t>
            </a:r>
            <a:endParaRPr lang="en-US" sz="1046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482" y="2602878"/>
            <a:ext cx="4000500" cy="2143125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0" y="4833966"/>
            <a:ext cx="9144000" cy="314325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18"/>
          <p:cNvSpPr/>
          <p:nvPr/>
        </p:nvSpPr>
        <p:spPr>
          <a:xfrm>
            <a:off x="285750" y="4905404"/>
            <a:ext cx="2717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DiaNavigator: Personalized Insulin Dosing Support</a:t>
            </a:r>
            <a:endParaRPr lang="en-US" sz="837" dirty="0"/>
          </a:p>
        </p:txBody>
      </p:sp>
      <p:sp>
        <p:nvSpPr>
          <p:cNvPr id="32" name="Text 19"/>
          <p:cNvSpPr/>
          <p:nvPr/>
        </p:nvSpPr>
        <p:spPr>
          <a:xfrm>
            <a:off x="8560138" y="4926720"/>
            <a:ext cx="306174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 / 11</a:t>
            </a:r>
            <a:endParaRPr lang="en-US" sz="837" dirty="0"/>
          </a:p>
        </p:txBody>
      </p:sp>
      <p:sp>
        <p:nvSpPr>
          <p:cNvPr id="33" name="Circle: Hollow 32">
            <a:extLst>
              <a:ext uri="{FF2B5EF4-FFF2-40B4-BE49-F238E27FC236}">
                <a16:creationId xmlns:a16="http://schemas.microsoft.com/office/drawing/2014/main" id="{FD71B5B5-6B6D-AC64-550B-A27168856456}"/>
              </a:ext>
            </a:extLst>
          </p:cNvPr>
          <p:cNvSpPr/>
          <p:nvPr/>
        </p:nvSpPr>
        <p:spPr>
          <a:xfrm>
            <a:off x="456980" y="1447895"/>
            <a:ext cx="100965" cy="105252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4" name="Circle: Hollow 33">
            <a:extLst>
              <a:ext uri="{FF2B5EF4-FFF2-40B4-BE49-F238E27FC236}">
                <a16:creationId xmlns:a16="http://schemas.microsoft.com/office/drawing/2014/main" id="{7CE418EB-7FD8-7809-7973-5D5E2A765190}"/>
              </a:ext>
            </a:extLst>
          </p:cNvPr>
          <p:cNvSpPr/>
          <p:nvPr/>
        </p:nvSpPr>
        <p:spPr>
          <a:xfrm>
            <a:off x="456979" y="2172393"/>
            <a:ext cx="100965" cy="105252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5" name="Circle: Hollow 34">
            <a:extLst>
              <a:ext uri="{FF2B5EF4-FFF2-40B4-BE49-F238E27FC236}">
                <a16:creationId xmlns:a16="http://schemas.microsoft.com/office/drawing/2014/main" id="{61D7646A-C76C-120B-BE04-428978008163}"/>
              </a:ext>
            </a:extLst>
          </p:cNvPr>
          <p:cNvSpPr/>
          <p:nvPr/>
        </p:nvSpPr>
        <p:spPr>
          <a:xfrm>
            <a:off x="456980" y="2945465"/>
            <a:ext cx="100965" cy="105252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6" name="Circle: Hollow 35">
            <a:extLst>
              <a:ext uri="{FF2B5EF4-FFF2-40B4-BE49-F238E27FC236}">
                <a16:creationId xmlns:a16="http://schemas.microsoft.com/office/drawing/2014/main" id="{63635379-9386-C4B2-76C9-D3CE4F503237}"/>
              </a:ext>
            </a:extLst>
          </p:cNvPr>
          <p:cNvSpPr/>
          <p:nvPr/>
        </p:nvSpPr>
        <p:spPr>
          <a:xfrm>
            <a:off x="456980" y="3734888"/>
            <a:ext cx="100965" cy="105252"/>
          </a:xfrm>
          <a:prstGeom prst="donut">
            <a:avLst>
              <a:gd name="adj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4" grpId="0" animBg="1"/>
      <p:bldP spid="26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4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0008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0" y="671513"/>
            <a:ext cx="9144000" cy="28575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 Research Directions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28625" y="885825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Immediate Next Steps</a:t>
            </a:r>
            <a:endParaRPr lang="en-US" sz="1575" dirty="0"/>
          </a:p>
        </p:txBody>
      </p:sp>
      <p:sp>
        <p:nvSpPr>
          <p:cNvPr id="8" name="Text 4"/>
          <p:cNvSpPr/>
          <p:nvPr/>
        </p:nvSpPr>
        <p:spPr>
          <a:xfrm>
            <a:off x="660797" y="1328738"/>
            <a:ext cx="16219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Large-scale clinical trials</a:t>
            </a:r>
            <a:endParaRPr lang="en-US" sz="1046" dirty="0"/>
          </a:p>
        </p:txBody>
      </p:sp>
      <p:sp>
        <p:nvSpPr>
          <p:cNvPr id="10" name="Text 5"/>
          <p:cNvSpPr/>
          <p:nvPr/>
        </p:nvSpPr>
        <p:spPr>
          <a:xfrm>
            <a:off x="642938" y="1643063"/>
            <a:ext cx="224428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physiological modeling</a:t>
            </a:r>
            <a:endParaRPr lang="en-US" sz="1046" dirty="0"/>
          </a:p>
        </p:txBody>
      </p:sp>
      <p:sp>
        <p:nvSpPr>
          <p:cNvPr id="12" name="Text 6"/>
          <p:cNvSpPr/>
          <p:nvPr/>
        </p:nvSpPr>
        <p:spPr>
          <a:xfrm>
            <a:off x="642938" y="1957388"/>
            <a:ext cx="20125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ML algorithm implementation</a:t>
            </a:r>
            <a:endParaRPr lang="en-US" sz="1046" dirty="0"/>
          </a:p>
        </p:txBody>
      </p:sp>
      <p:sp>
        <p:nvSpPr>
          <p:cNvPr id="14" name="Text 7"/>
          <p:cNvSpPr/>
          <p:nvPr/>
        </p:nvSpPr>
        <p:spPr>
          <a:xfrm>
            <a:off x="642938" y="2271713"/>
            <a:ext cx="16723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app development</a:t>
            </a:r>
            <a:endParaRPr lang="en-US" sz="1046" dirty="0"/>
          </a:p>
        </p:txBody>
      </p:sp>
      <p:sp>
        <p:nvSpPr>
          <p:cNvPr id="16" name="Text 8"/>
          <p:cNvSpPr/>
          <p:nvPr/>
        </p:nvSpPr>
        <p:spPr>
          <a:xfrm>
            <a:off x="642938" y="2586038"/>
            <a:ext cx="156863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EHR system integration</a:t>
            </a:r>
            <a:endParaRPr lang="en-US" sz="1046" dirty="0"/>
          </a:p>
        </p:txBody>
      </p:sp>
      <p:sp>
        <p:nvSpPr>
          <p:cNvPr id="18" name="Shape 9"/>
          <p:cNvSpPr/>
          <p:nvPr/>
        </p:nvSpPr>
        <p:spPr>
          <a:xfrm>
            <a:off x="2050618" y="2974970"/>
            <a:ext cx="4000500" cy="1312999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0"/>
          <p:cNvSpPr/>
          <p:nvPr/>
        </p:nvSpPr>
        <p:spPr>
          <a:xfrm>
            <a:off x="2055206" y="2992688"/>
            <a:ext cx="35719" cy="1312999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1"/>
          <p:cNvSpPr/>
          <p:nvPr/>
        </p:nvSpPr>
        <p:spPr>
          <a:xfrm>
            <a:off x="2198081" y="3135563"/>
            <a:ext cx="37147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Research Collaboration Opportunities</a:t>
            </a:r>
            <a:endParaRPr lang="en-US" sz="1238" dirty="0"/>
          </a:p>
        </p:txBody>
      </p:sp>
      <p:sp>
        <p:nvSpPr>
          <p:cNvPr id="21" name="Text 12"/>
          <p:cNvSpPr/>
          <p:nvPr/>
        </p:nvSpPr>
        <p:spPr>
          <a:xfrm>
            <a:off x="2198081" y="3442745"/>
            <a:ext cx="371475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Partnerships with medical institutions, technology companies, and patient advocacy groups to accelerate development and deployment of DiaNavigator across diverse healthcare settings. </a:t>
            </a:r>
            <a:endParaRPr lang="en-US" sz="942" dirty="0"/>
          </a:p>
        </p:txBody>
      </p:sp>
      <p:sp>
        <p:nvSpPr>
          <p:cNvPr id="22" name="Text 13"/>
          <p:cNvSpPr/>
          <p:nvPr/>
        </p:nvSpPr>
        <p:spPr>
          <a:xfrm>
            <a:off x="4714875" y="885825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Long-term Vision</a:t>
            </a:r>
            <a:endParaRPr lang="en-US" sz="1575" dirty="0"/>
          </a:p>
        </p:txBody>
      </p:sp>
      <p:sp>
        <p:nvSpPr>
          <p:cNvPr id="24" name="Text 14"/>
          <p:cNvSpPr/>
          <p:nvPr/>
        </p:nvSpPr>
        <p:spPr>
          <a:xfrm>
            <a:off x="5000625" y="1328738"/>
            <a:ext cx="21781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Fully autonomous insulin dosing</a:t>
            </a:r>
            <a:endParaRPr lang="en-US" sz="1046" dirty="0"/>
          </a:p>
        </p:txBody>
      </p:sp>
      <p:sp>
        <p:nvSpPr>
          <p:cNvPr id="26" name="Text 15"/>
          <p:cNvSpPr/>
          <p:nvPr/>
        </p:nvSpPr>
        <p:spPr>
          <a:xfrm>
            <a:off x="4964906" y="1643063"/>
            <a:ext cx="232088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Predictive complication prevention</a:t>
            </a:r>
            <a:endParaRPr lang="en-US" sz="1046" dirty="0"/>
          </a:p>
        </p:txBody>
      </p:sp>
      <p:sp>
        <p:nvSpPr>
          <p:cNvPr id="28" name="Text 16"/>
          <p:cNvSpPr/>
          <p:nvPr/>
        </p:nvSpPr>
        <p:spPr>
          <a:xfrm>
            <a:off x="4982766" y="1957388"/>
            <a:ext cx="181308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Population health analytics</a:t>
            </a:r>
            <a:endParaRPr lang="en-US" sz="1046" dirty="0"/>
          </a:p>
        </p:txBody>
      </p:sp>
      <p:sp>
        <p:nvSpPr>
          <p:cNvPr id="30" name="Text 17"/>
          <p:cNvSpPr/>
          <p:nvPr/>
        </p:nvSpPr>
        <p:spPr>
          <a:xfrm>
            <a:off x="4964906" y="2271713"/>
            <a:ext cx="20214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Global healthcare deployment</a:t>
            </a:r>
            <a:endParaRPr lang="en-US" sz="1046" dirty="0"/>
          </a:p>
        </p:txBody>
      </p:sp>
      <p:sp>
        <p:nvSpPr>
          <p:cNvPr id="32" name="Text 18"/>
          <p:cNvSpPr/>
          <p:nvPr/>
        </p:nvSpPr>
        <p:spPr>
          <a:xfrm>
            <a:off x="4947047" y="2586038"/>
            <a:ext cx="204085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Precision medicine integration</a:t>
            </a:r>
            <a:endParaRPr lang="en-US" sz="1046" dirty="0"/>
          </a:p>
        </p:txBody>
      </p:sp>
      <p:sp>
        <p:nvSpPr>
          <p:cNvPr id="34" name="Shape 19"/>
          <p:cNvSpPr/>
          <p:nvPr/>
        </p:nvSpPr>
        <p:spPr>
          <a:xfrm>
            <a:off x="-17587" y="4828278"/>
            <a:ext cx="9144000" cy="314325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20"/>
          <p:cNvSpPr/>
          <p:nvPr/>
        </p:nvSpPr>
        <p:spPr>
          <a:xfrm>
            <a:off x="268163" y="4899715"/>
            <a:ext cx="2717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DiaNavigator: Personalized Insulin Dosing Support</a:t>
            </a:r>
            <a:endParaRPr lang="en-US" sz="837" dirty="0"/>
          </a:p>
        </p:txBody>
      </p:sp>
      <p:sp>
        <p:nvSpPr>
          <p:cNvPr id="36" name="Text 21"/>
          <p:cNvSpPr/>
          <p:nvPr/>
        </p:nvSpPr>
        <p:spPr>
          <a:xfrm>
            <a:off x="8477169" y="4921031"/>
            <a:ext cx="338234" cy="128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11</a:t>
            </a:r>
            <a:endParaRPr lang="en-US" sz="837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350AAD4-F4B7-7DD8-C86D-04E87022B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705" y="2971031"/>
            <a:ext cx="1298398" cy="131299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0008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0" y="671513"/>
            <a:ext cx="9144000" cy="28575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Conclusion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28625" y="885825"/>
            <a:ext cx="40005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Achievements</a:t>
            </a:r>
            <a:endParaRPr lang="en-US" sz="1575" dirty="0"/>
          </a:p>
        </p:txBody>
      </p:sp>
      <p:sp>
        <p:nvSpPr>
          <p:cNvPr id="8" name="Text 4"/>
          <p:cNvSpPr/>
          <p:nvPr/>
        </p:nvSpPr>
        <p:spPr>
          <a:xfrm>
            <a:off x="678656" y="1328738"/>
            <a:ext cx="37504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Successfully developed comprehensive diabetes management platform</a:t>
            </a:r>
            <a:endParaRPr lang="en-US" sz="1046" dirty="0"/>
          </a:p>
        </p:txBody>
      </p:sp>
      <p:sp>
        <p:nvSpPr>
          <p:cNvPr id="10" name="Text 5"/>
          <p:cNvSpPr/>
          <p:nvPr/>
        </p:nvSpPr>
        <p:spPr>
          <a:xfrm>
            <a:off x="678656" y="1835944"/>
            <a:ext cx="37440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Demonstrated technical feasibility and clinical relevance</a:t>
            </a:r>
            <a:endParaRPr lang="en-US" sz="1046" dirty="0"/>
          </a:p>
        </p:txBody>
      </p:sp>
      <p:sp>
        <p:nvSpPr>
          <p:cNvPr id="12" name="Text 6"/>
          <p:cNvSpPr/>
          <p:nvPr/>
        </p:nvSpPr>
        <p:spPr>
          <a:xfrm>
            <a:off x="678656" y="2150269"/>
            <a:ext cx="335870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Created foundation for AI-enhanced diabetes care</a:t>
            </a:r>
            <a:endParaRPr lang="en-US" sz="1046" dirty="0"/>
          </a:p>
        </p:txBody>
      </p:sp>
      <p:sp>
        <p:nvSpPr>
          <p:cNvPr id="14" name="Text 7"/>
          <p:cNvSpPr/>
          <p:nvPr/>
        </p:nvSpPr>
        <p:spPr>
          <a:xfrm>
            <a:off x="678656" y="2464594"/>
            <a:ext cx="30729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Established cost-effective monitoring strategy</a:t>
            </a:r>
            <a:endParaRPr lang="en-US" sz="1046" dirty="0"/>
          </a:p>
        </p:txBody>
      </p:sp>
      <p:sp>
        <p:nvSpPr>
          <p:cNvPr id="16" name="Text 8"/>
          <p:cNvSpPr/>
          <p:nvPr/>
        </p:nvSpPr>
        <p:spPr>
          <a:xfrm>
            <a:off x="678656" y="2778919"/>
            <a:ext cx="23964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Maintained clinical safety standards</a:t>
            </a:r>
            <a:endParaRPr lang="en-US" sz="1046" dirty="0"/>
          </a:p>
        </p:txBody>
      </p:sp>
      <p:sp>
        <p:nvSpPr>
          <p:cNvPr id="18" name="Text 9"/>
          <p:cNvSpPr/>
          <p:nvPr/>
        </p:nvSpPr>
        <p:spPr>
          <a:xfrm>
            <a:off x="678656" y="3093244"/>
            <a:ext cx="357846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Developed modular architecture for future expansion</a:t>
            </a:r>
            <a:endParaRPr lang="en-US" sz="1046" dirty="0"/>
          </a:p>
        </p:txBody>
      </p:sp>
      <p:sp>
        <p:nvSpPr>
          <p:cNvPr id="20" name="Shape 10"/>
          <p:cNvSpPr/>
          <p:nvPr/>
        </p:nvSpPr>
        <p:spPr>
          <a:xfrm>
            <a:off x="4714875" y="1100138"/>
            <a:ext cx="4000500" cy="1771650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1"/>
          <p:cNvSpPr/>
          <p:nvPr/>
        </p:nvSpPr>
        <p:spPr>
          <a:xfrm>
            <a:off x="4714875" y="1100138"/>
            <a:ext cx="35719" cy="1771650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2"/>
          <p:cNvSpPr/>
          <p:nvPr/>
        </p:nvSpPr>
        <p:spPr>
          <a:xfrm>
            <a:off x="4893469" y="1278731"/>
            <a:ext cx="364331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 Statement</a:t>
            </a:r>
            <a:endParaRPr lang="en-US" sz="1238" dirty="0"/>
          </a:p>
        </p:txBody>
      </p:sp>
      <p:sp>
        <p:nvSpPr>
          <p:cNvPr id="23" name="Text 13"/>
          <p:cNvSpPr/>
          <p:nvPr/>
        </p:nvSpPr>
        <p:spPr>
          <a:xfrm>
            <a:off x="4893469" y="1566449"/>
            <a:ext cx="3643313" cy="118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46" i="1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DiaNavigator represents a significant step toward personalized, accessible, and AI-enhanced diabetes management, bridging the gap between advanced technology and practical clinical application while maintaining affordability and safety. </a:t>
            </a:r>
            <a:endParaRPr lang="en-US" sz="1046" dirty="0"/>
          </a:p>
        </p:txBody>
      </p:sp>
      <p:sp>
        <p:nvSpPr>
          <p:cNvPr id="24" name="Text 14"/>
          <p:cNvSpPr/>
          <p:nvPr/>
        </p:nvSpPr>
        <p:spPr>
          <a:xfrm>
            <a:off x="4714875" y="3157538"/>
            <a:ext cx="4000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5" name="Text 15"/>
          <p:cNvSpPr/>
          <p:nvPr/>
        </p:nvSpPr>
        <p:spPr>
          <a:xfrm>
            <a:off x="4714875" y="3607594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Questions &amp; Discussion</a:t>
            </a:r>
            <a:endParaRPr lang="en-US" sz="1350" dirty="0"/>
          </a:p>
        </p:txBody>
      </p:sp>
      <p:sp>
        <p:nvSpPr>
          <p:cNvPr id="27" name="Shape 16"/>
          <p:cNvSpPr/>
          <p:nvPr/>
        </p:nvSpPr>
        <p:spPr>
          <a:xfrm>
            <a:off x="0" y="4837421"/>
            <a:ext cx="9144000" cy="314325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17"/>
          <p:cNvSpPr/>
          <p:nvPr/>
        </p:nvSpPr>
        <p:spPr>
          <a:xfrm>
            <a:off x="285750" y="4908859"/>
            <a:ext cx="2717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DiaNavigator: Personalized Insulin Dosing Support</a:t>
            </a:r>
            <a:endParaRPr lang="en-US" sz="837" dirty="0"/>
          </a:p>
        </p:txBody>
      </p:sp>
      <p:sp>
        <p:nvSpPr>
          <p:cNvPr id="29" name="Text 18"/>
          <p:cNvSpPr/>
          <p:nvPr/>
        </p:nvSpPr>
        <p:spPr>
          <a:xfrm>
            <a:off x="8494756" y="4908859"/>
            <a:ext cx="3634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11</a:t>
            </a:r>
            <a:endParaRPr lang="en-US" sz="837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A17FF-F023-409A-DB26-C65C56BFD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19CF41A-50D4-0D71-D8B3-79BDADE2C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8416EF1-A078-FEF5-10FF-176E1C12A685}"/>
              </a:ext>
            </a:extLst>
          </p:cNvPr>
          <p:cNvSpPr/>
          <p:nvPr/>
        </p:nvSpPr>
        <p:spPr>
          <a:xfrm>
            <a:off x="0" y="0"/>
            <a:ext cx="9144000" cy="700088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EFBB456-672E-E12D-E9D4-8D96928BC1E1}"/>
              </a:ext>
            </a:extLst>
          </p:cNvPr>
          <p:cNvSpPr/>
          <p:nvPr/>
        </p:nvSpPr>
        <p:spPr>
          <a:xfrm>
            <a:off x="0" y="671513"/>
            <a:ext cx="9144000" cy="28575"/>
          </a:xfrm>
          <a:prstGeom prst="rect">
            <a:avLst/>
          </a:prstGeom>
          <a:solidFill>
            <a:srgbClr val="45B39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D369CF5-806C-B87F-80AA-58A4A3B68253}"/>
              </a:ext>
            </a:extLst>
          </p:cNvPr>
          <p:cNvSpPr/>
          <p:nvPr/>
        </p:nvSpPr>
        <p:spPr>
          <a:xfrm>
            <a:off x="285750" y="179944"/>
            <a:ext cx="1439497" cy="3116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References</a:t>
            </a:r>
            <a:endParaRPr lang="en-US" sz="2025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44C747AA-BCB7-9230-C311-03E0067DE978}"/>
              </a:ext>
            </a:extLst>
          </p:cNvPr>
          <p:cNvSpPr/>
          <p:nvPr/>
        </p:nvSpPr>
        <p:spPr>
          <a:xfrm>
            <a:off x="5474531" y="4296033"/>
            <a:ext cx="4000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5B39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84092D54-8CC0-F086-9AE0-B0D48DF26E66}"/>
              </a:ext>
            </a:extLst>
          </p:cNvPr>
          <p:cNvSpPr/>
          <p:nvPr/>
        </p:nvSpPr>
        <p:spPr>
          <a:xfrm>
            <a:off x="5622241" y="4580246"/>
            <a:ext cx="400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Questions &amp; Discussion</a:t>
            </a:r>
            <a:endParaRPr lang="en-US" sz="1350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795F9171-D991-5032-D2EB-12A6330192AC}"/>
              </a:ext>
            </a:extLst>
          </p:cNvPr>
          <p:cNvSpPr/>
          <p:nvPr/>
        </p:nvSpPr>
        <p:spPr>
          <a:xfrm>
            <a:off x="0" y="4837421"/>
            <a:ext cx="9144000" cy="314325"/>
          </a:xfrm>
          <a:prstGeom prst="rect">
            <a:avLst/>
          </a:prstGeom>
          <a:solidFill>
            <a:srgbClr val="2C3E50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30710419-3239-8795-A877-D5E6770B6FA1}"/>
              </a:ext>
            </a:extLst>
          </p:cNvPr>
          <p:cNvSpPr/>
          <p:nvPr/>
        </p:nvSpPr>
        <p:spPr>
          <a:xfrm>
            <a:off x="285750" y="4908859"/>
            <a:ext cx="2717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DiaNavigator: Personalized Insulin Dosing Support</a:t>
            </a:r>
            <a:endParaRPr lang="en-US" sz="837" dirty="0"/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E2426C29-8CCA-8FE7-76C4-FAA705052575}"/>
              </a:ext>
            </a:extLst>
          </p:cNvPr>
          <p:cNvSpPr/>
          <p:nvPr/>
        </p:nvSpPr>
        <p:spPr>
          <a:xfrm>
            <a:off x="8494756" y="4908859"/>
            <a:ext cx="3634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ECF0F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11</a:t>
            </a:r>
            <a:endParaRPr lang="en-US" sz="83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5419DE-0992-11E0-9721-E2C870B44D17}"/>
              </a:ext>
            </a:extLst>
          </p:cNvPr>
          <p:cNvSpPr txBox="1"/>
          <p:nvPr/>
        </p:nvSpPr>
        <p:spPr>
          <a:xfrm>
            <a:off x="553476" y="840877"/>
            <a:ext cx="7174523" cy="311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200" dirty="0">
                <a:solidFill>
                  <a:schemeClr val="bg1"/>
                </a:solidFill>
              </a:rPr>
              <a:t>Fisher L, Hessler DM, </a:t>
            </a:r>
            <a:r>
              <a:rPr lang="de-DE" sz="1200" dirty="0" err="1">
                <a:solidFill>
                  <a:schemeClr val="bg1"/>
                </a:solidFill>
              </a:rPr>
              <a:t>Polonsky</a:t>
            </a:r>
            <a:r>
              <a:rPr lang="de-DE" sz="1200" dirty="0">
                <a:solidFill>
                  <a:schemeClr val="bg1"/>
                </a:solidFill>
              </a:rPr>
              <a:t> WH, et al. </a:t>
            </a:r>
            <a:r>
              <a:rPr lang="de-DE" sz="1200" dirty="0" err="1">
                <a:solidFill>
                  <a:schemeClr val="bg1"/>
                </a:solidFill>
              </a:rPr>
              <a:t>Prevalence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of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depression</a:t>
            </a:r>
            <a:r>
              <a:rPr lang="de-DE" sz="1200" dirty="0">
                <a:solidFill>
                  <a:schemeClr val="bg1"/>
                </a:solidFill>
              </a:rPr>
              <a:t> in Type 1 </a:t>
            </a:r>
            <a:r>
              <a:rPr lang="de-DE" sz="1200" dirty="0" err="1">
                <a:solidFill>
                  <a:schemeClr val="bg1"/>
                </a:solidFill>
              </a:rPr>
              <a:t>diabetes</a:t>
            </a:r>
            <a:r>
              <a:rPr lang="de-DE" sz="1200" dirty="0">
                <a:solidFill>
                  <a:schemeClr val="bg1"/>
                </a:solidFill>
              </a:rPr>
              <a:t> and </a:t>
            </a:r>
            <a:r>
              <a:rPr lang="de-DE" sz="1200" dirty="0" err="1">
                <a:solidFill>
                  <a:schemeClr val="bg1"/>
                </a:solidFill>
              </a:rPr>
              <a:t>the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problem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of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over-diagnosis</a:t>
            </a:r>
            <a:r>
              <a:rPr lang="de-DE" sz="1200" dirty="0">
                <a:solidFill>
                  <a:schemeClr val="bg1"/>
                </a:solidFill>
              </a:rPr>
              <a:t>. </a:t>
            </a:r>
            <a:r>
              <a:rPr lang="de-DE" sz="1200" i="1" dirty="0" err="1">
                <a:solidFill>
                  <a:schemeClr val="bg1"/>
                </a:solidFill>
              </a:rPr>
              <a:t>Diabet</a:t>
            </a:r>
            <a:r>
              <a:rPr lang="de-DE" sz="1200" i="1" dirty="0">
                <a:solidFill>
                  <a:schemeClr val="bg1"/>
                </a:solidFill>
              </a:rPr>
              <a:t> Med</a:t>
            </a:r>
            <a:r>
              <a:rPr lang="de-DE" sz="1200" dirty="0">
                <a:solidFill>
                  <a:schemeClr val="bg1"/>
                </a:solidFill>
              </a:rPr>
              <a:t>. 2016;33(11):1590–1597. doi:10.1111/dme.12973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200" dirty="0">
                <a:solidFill>
                  <a:schemeClr val="bg1"/>
                </a:solidFill>
              </a:rPr>
              <a:t>Bell KJ, King BR, </a:t>
            </a:r>
            <a:r>
              <a:rPr lang="de-DE" sz="1200" dirty="0" err="1">
                <a:solidFill>
                  <a:schemeClr val="bg1"/>
                </a:solidFill>
              </a:rPr>
              <a:t>Shafat</a:t>
            </a:r>
            <a:r>
              <a:rPr lang="de-DE" sz="1200" dirty="0">
                <a:solidFill>
                  <a:schemeClr val="bg1"/>
                </a:solidFill>
              </a:rPr>
              <a:t> A, Smart CE. The </a:t>
            </a:r>
            <a:r>
              <a:rPr lang="de-DE" sz="1200" dirty="0" err="1">
                <a:solidFill>
                  <a:schemeClr val="bg1"/>
                </a:solidFill>
              </a:rPr>
              <a:t>relationship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between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carbohydrate</a:t>
            </a:r>
            <a:r>
              <a:rPr lang="de-DE" sz="1200" dirty="0">
                <a:solidFill>
                  <a:schemeClr val="bg1"/>
                </a:solidFill>
              </a:rPr>
              <a:t> and </a:t>
            </a:r>
            <a:r>
              <a:rPr lang="de-DE" sz="1200" dirty="0" err="1">
                <a:solidFill>
                  <a:schemeClr val="bg1"/>
                </a:solidFill>
              </a:rPr>
              <a:t>the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mealtime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insulin</a:t>
            </a:r>
            <a:r>
              <a:rPr lang="de-DE" sz="1200" dirty="0">
                <a:solidFill>
                  <a:schemeClr val="bg1"/>
                </a:solidFill>
              </a:rPr>
              <a:t> dose in type 1 </a:t>
            </a:r>
            <a:r>
              <a:rPr lang="de-DE" sz="1200" dirty="0" err="1">
                <a:solidFill>
                  <a:schemeClr val="bg1"/>
                </a:solidFill>
              </a:rPr>
              <a:t>diabetes</a:t>
            </a:r>
            <a:r>
              <a:rPr lang="de-DE" sz="1200" dirty="0">
                <a:solidFill>
                  <a:schemeClr val="bg1"/>
                </a:solidFill>
              </a:rPr>
              <a:t>. </a:t>
            </a:r>
            <a:r>
              <a:rPr lang="de-DE" sz="1200" i="1" dirty="0">
                <a:solidFill>
                  <a:schemeClr val="bg1"/>
                </a:solidFill>
              </a:rPr>
              <a:t>J Diabetes </a:t>
            </a:r>
            <a:r>
              <a:rPr lang="de-DE" sz="1200" i="1" dirty="0" err="1">
                <a:solidFill>
                  <a:schemeClr val="bg1"/>
                </a:solidFill>
              </a:rPr>
              <a:t>Complications</a:t>
            </a:r>
            <a:r>
              <a:rPr lang="de-DE" sz="1200" dirty="0">
                <a:solidFill>
                  <a:schemeClr val="bg1"/>
                </a:solidFill>
              </a:rPr>
              <a:t>. 2015;29(8):1323-1329. doi:10.1016/j.jdiacomp.2015.08.014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200" dirty="0" err="1">
                <a:solidFill>
                  <a:schemeClr val="bg1"/>
                </a:solidFill>
              </a:rPr>
              <a:t>Battelino</a:t>
            </a:r>
            <a:r>
              <a:rPr lang="de-DE" sz="1200" dirty="0">
                <a:solidFill>
                  <a:schemeClr val="bg1"/>
                </a:solidFill>
              </a:rPr>
              <a:t> T, Danne T, </a:t>
            </a:r>
            <a:r>
              <a:rPr lang="de-DE" sz="1200" dirty="0" err="1">
                <a:solidFill>
                  <a:schemeClr val="bg1"/>
                </a:solidFill>
              </a:rPr>
              <a:t>Bergenstal</a:t>
            </a:r>
            <a:r>
              <a:rPr lang="de-DE" sz="1200" dirty="0">
                <a:solidFill>
                  <a:schemeClr val="bg1"/>
                </a:solidFill>
              </a:rPr>
              <a:t> RM, et al. Clinical </a:t>
            </a:r>
            <a:r>
              <a:rPr lang="de-DE" sz="1200" dirty="0" err="1">
                <a:solidFill>
                  <a:schemeClr val="bg1"/>
                </a:solidFill>
              </a:rPr>
              <a:t>targets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for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continuous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glucose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monitoring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data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interpretation</a:t>
            </a:r>
            <a:r>
              <a:rPr lang="de-DE" sz="1200" dirty="0">
                <a:solidFill>
                  <a:schemeClr val="bg1"/>
                </a:solidFill>
              </a:rPr>
              <a:t>: </a:t>
            </a:r>
            <a:r>
              <a:rPr lang="de-DE" sz="1200" dirty="0" err="1">
                <a:solidFill>
                  <a:schemeClr val="bg1"/>
                </a:solidFill>
              </a:rPr>
              <a:t>Recommendations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from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the</a:t>
            </a:r>
            <a:r>
              <a:rPr lang="de-DE" sz="1200" dirty="0">
                <a:solidFill>
                  <a:schemeClr val="bg1"/>
                </a:solidFill>
              </a:rPr>
              <a:t> International Consensus on Time in Range. </a:t>
            </a:r>
            <a:r>
              <a:rPr lang="de-DE" sz="1200" i="1" dirty="0">
                <a:solidFill>
                  <a:schemeClr val="bg1"/>
                </a:solidFill>
              </a:rPr>
              <a:t>Diabetes Care</a:t>
            </a:r>
            <a:r>
              <a:rPr lang="de-DE" sz="1200" dirty="0">
                <a:solidFill>
                  <a:schemeClr val="bg1"/>
                </a:solidFill>
              </a:rPr>
              <a:t>. 2019;42(8):1593–1603. doi:10.2337/dci19-0028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200" dirty="0">
                <a:solidFill>
                  <a:schemeClr val="bg1"/>
                </a:solidFill>
              </a:rPr>
              <a:t>International Diabetes </a:t>
            </a:r>
            <a:r>
              <a:rPr lang="de-DE" sz="1200" dirty="0" err="1">
                <a:solidFill>
                  <a:schemeClr val="bg1"/>
                </a:solidFill>
              </a:rPr>
              <a:t>Federation</a:t>
            </a:r>
            <a:r>
              <a:rPr lang="de-DE" sz="1200" dirty="0">
                <a:solidFill>
                  <a:schemeClr val="bg1"/>
                </a:solidFill>
              </a:rPr>
              <a:t>. </a:t>
            </a:r>
            <a:r>
              <a:rPr lang="de-DE" sz="1200" i="1" dirty="0">
                <a:solidFill>
                  <a:schemeClr val="bg1"/>
                </a:solidFill>
              </a:rPr>
              <a:t>IDF Diabetes Atlas</a:t>
            </a:r>
            <a:r>
              <a:rPr lang="de-DE" sz="1200" dirty="0">
                <a:solidFill>
                  <a:schemeClr val="bg1"/>
                </a:solidFill>
              </a:rPr>
              <a:t>. 10th </a:t>
            </a:r>
            <a:r>
              <a:rPr lang="de-DE" sz="1200" dirty="0" err="1">
                <a:solidFill>
                  <a:schemeClr val="bg1"/>
                </a:solidFill>
              </a:rPr>
              <a:t>ed</a:t>
            </a:r>
            <a:r>
              <a:rPr lang="de-DE" sz="1200" dirty="0">
                <a:solidFill>
                  <a:schemeClr val="bg1"/>
                </a:solidFill>
              </a:rPr>
              <a:t>. International Diabetes </a:t>
            </a:r>
            <a:r>
              <a:rPr lang="de-DE" sz="1200" dirty="0" err="1">
                <a:solidFill>
                  <a:schemeClr val="bg1"/>
                </a:solidFill>
              </a:rPr>
              <a:t>Federation</a:t>
            </a:r>
            <a:r>
              <a:rPr lang="de-DE" sz="1200" dirty="0">
                <a:solidFill>
                  <a:schemeClr val="bg1"/>
                </a:solidFill>
              </a:rPr>
              <a:t>; 2021. </a:t>
            </a:r>
            <a:r>
              <a:rPr lang="de-DE" sz="1200" dirty="0" err="1">
                <a:solidFill>
                  <a:schemeClr val="bg1"/>
                </a:solidFill>
              </a:rPr>
              <a:t>Accessed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July</a:t>
            </a:r>
            <a:r>
              <a:rPr lang="de-DE" sz="1200" dirty="0">
                <a:solidFill>
                  <a:schemeClr val="bg1"/>
                </a:solidFill>
              </a:rPr>
              <a:t> 11, 2025. </a:t>
            </a:r>
            <a:r>
              <a:rPr lang="de-DE" sz="12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https://www.diabetesatlas.org</a:t>
            </a:r>
            <a:endParaRPr lang="de-DE" sz="12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200" dirty="0">
                <a:solidFill>
                  <a:schemeClr val="bg1"/>
                </a:solidFill>
              </a:rPr>
              <a:t>Parker ED, Lin J, Mahoney T, et al. </a:t>
            </a:r>
            <a:r>
              <a:rPr lang="de-DE" sz="1200" dirty="0" err="1">
                <a:solidFill>
                  <a:schemeClr val="bg1"/>
                </a:solidFill>
              </a:rPr>
              <a:t>Economic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costs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of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diabetes</a:t>
            </a:r>
            <a:r>
              <a:rPr lang="de-DE" sz="1200" dirty="0">
                <a:solidFill>
                  <a:schemeClr val="bg1"/>
                </a:solidFill>
              </a:rPr>
              <a:t> in </a:t>
            </a:r>
            <a:r>
              <a:rPr lang="de-DE" sz="1200" dirty="0" err="1">
                <a:solidFill>
                  <a:schemeClr val="bg1"/>
                </a:solidFill>
              </a:rPr>
              <a:t>the</a:t>
            </a:r>
            <a:r>
              <a:rPr lang="de-DE" sz="1200" dirty="0">
                <a:solidFill>
                  <a:schemeClr val="bg1"/>
                </a:solidFill>
              </a:rPr>
              <a:t> U.S. in 2022. </a:t>
            </a:r>
            <a:r>
              <a:rPr lang="de-DE" sz="1200" i="1" dirty="0">
                <a:solidFill>
                  <a:schemeClr val="bg1"/>
                </a:solidFill>
              </a:rPr>
              <a:t>Diabetes Care</a:t>
            </a:r>
            <a:r>
              <a:rPr lang="de-DE" sz="1200" dirty="0">
                <a:solidFill>
                  <a:schemeClr val="bg1"/>
                </a:solidFill>
              </a:rPr>
              <a:t>. 2024;47(1):26–43. doi:10.2337/dci23-0085</a:t>
            </a:r>
          </a:p>
        </p:txBody>
      </p:sp>
    </p:spTree>
    <p:extLst>
      <p:ext uri="{BB962C8B-B14F-4D97-AF65-F5344CB8AC3E}">
        <p14:creationId xmlns:p14="http://schemas.microsoft.com/office/powerpoint/2010/main" val="1031682028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1299</Words>
  <Application>Microsoft Office PowerPoint</Application>
  <PresentationFormat>On-screen Show (16:9)</PresentationFormat>
  <Paragraphs>223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Noto Sans</vt:lpstr>
      <vt:lpstr>Segoe UI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Attia</cp:lastModifiedBy>
  <cp:revision>5</cp:revision>
  <dcterms:created xsi:type="dcterms:W3CDTF">2025-07-10T22:53:02Z</dcterms:created>
  <dcterms:modified xsi:type="dcterms:W3CDTF">2025-07-12T10:10:13Z</dcterms:modified>
</cp:coreProperties>
</file>